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B6D133F-7F5F-438F-8D31-2798A87E29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038E3D-7A69-4ACC-B1CF-19612D9311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070EBA3-E6D5-4B27-B615-C1AA8E10FF8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AF0DA8-B78D-46E4-97D0-AB400B976A4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150D6C-7E55-4629-96BD-E09F0AD3C57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609120" y="273600"/>
            <a:ext cx="1096956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7368112-CF43-4EA4-BAF1-315D9F98C5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730FA4A-E82F-49DD-A8DE-2E6F97ADBCA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CF21388-B800-49EF-BD63-344F378ED36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661226-6ED9-422C-B432-82749CB999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44F955B-8963-42C2-B2A5-EDEDB385614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CF39D25-DE4A-4849-8CEE-E6E1EDD383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9B0BA9-DDD4-4EEB-B4FA-CC3E3A5A545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0" y="6400800"/>
            <a:ext cx="12187800" cy="456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" name="Rectangle 8" hidden="1"/>
          <p:cNvSpPr/>
          <p:nvPr/>
        </p:nvSpPr>
        <p:spPr>
          <a:xfrm>
            <a:off x="0" y="6334200"/>
            <a:ext cx="12187800" cy="65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2" name="Straight Connector 9"/>
          <p:cNvSpPr/>
          <p:nvPr/>
        </p:nvSpPr>
        <p:spPr>
          <a:xfrm>
            <a:off x="1193040" y="1737720"/>
            <a:ext cx="9964440" cy="360"/>
          </a:xfrm>
          <a:prstGeom prst="line">
            <a:avLst/>
          </a:prstGeom>
          <a:ln w="6350">
            <a:solidFill>
              <a:srgbClr val="80808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" name="Rectangle 4"/>
          <p:cNvSpPr/>
          <p:nvPr/>
        </p:nvSpPr>
        <p:spPr>
          <a:xfrm>
            <a:off x="3240" y="6400800"/>
            <a:ext cx="12184560" cy="456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" name="Rectangle 5"/>
          <p:cNvSpPr/>
          <p:nvPr/>
        </p:nvSpPr>
        <p:spPr>
          <a:xfrm>
            <a:off x="0" y="6334200"/>
            <a:ext cx="12184560" cy="6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ftr" idx="1"/>
          </p:nvPr>
        </p:nvSpPr>
        <p:spPr>
          <a:xfrm>
            <a:off x="3685320" y="6459840"/>
            <a:ext cx="482040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ldNum" idx="2"/>
          </p:nvPr>
        </p:nvSpPr>
        <p:spPr>
          <a:xfrm>
            <a:off x="9897840" y="6459840"/>
            <a:ext cx="131076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ru-RU" sz="105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5AD735-CBDE-4692-A1F9-51A8F677CEA4}" type="slidenum">
              <a:rPr b="0" lang="ru-RU" sz="1050" spc="-1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50" spc="-1" strike="noStrike"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3"/>
          </p:nvPr>
        </p:nvSpPr>
        <p:spPr>
          <a:xfrm>
            <a:off x="1096920" y="6459840"/>
            <a:ext cx="247068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56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4"/>
          <p:cNvSpPr/>
          <p:nvPr/>
        </p:nvSpPr>
        <p:spPr>
          <a:xfrm>
            <a:off x="477720" y="980640"/>
            <a:ext cx="11232000" cy="557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Алгоритм оптимизации (иногда также называют </a:t>
            </a:r>
            <a:r>
              <a:rPr b="0" i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оптимизатор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или </a:t>
            </a:r>
            <a:r>
              <a:rPr b="0" i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солвер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), далее сокращенно АО, в общем случае численно ищут решение системы алебраических уравнений, коэффициенты которых в нашем случае можно представить как параметры модели. Итеративные методы вычисляют поправку, на основе 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частной производной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по параметрам модели от функции ошибки (</a:t>
            </a:r>
            <a:r>
              <a:rPr b="0" i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целевой функции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) и предыдущих шагов оптимизации. 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АО, применяющиеся в глубоком обучении, стохастические,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по той причине, что вычисляют поправку для параметров модели для случайной подвыборки из всей обучающей </a:t>
            </a:r>
            <a:r>
              <a:rPr b="1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выборки итеративно, данный процесс называют 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батчированием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, от англ. </a:t>
            </a:r>
            <a:r>
              <a:rPr b="0" i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batching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), это вызвано тем, что наборы данных, использующиеся для обучения алгоритмов, очень большие, как и существующие модели, которые нередко имеют довольно сложную архитектуру, из-за этого сильно возрастает сложность задачи, что накладывает серьезные технические ограничения, тем самым сильно сужается число доступных алгоритмов.  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АО разделяются на алгоритмы </a:t>
            </a:r>
            <a:r>
              <a:rPr b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первого и второго порядка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, в зависимости от того, какой порядок производной необходим для его работы. Некоторые также выделяют промежуточные </a:t>
            </a:r>
            <a:r>
              <a:rPr b="0" i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квази-ньютоновские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методы, суть которых оценить вторую производную, а не считать её явно, так как это многократно сложнее вычислительно и следовательно сильно дольше. Наибольшее практическое применение в </a:t>
            </a:r>
            <a:r>
              <a:rPr b="0" i="1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задачах цифрового зрения</a:t>
            </a:r>
            <a:r>
              <a:rPr b="0" i="1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нашли стохастические АО первого порядка. :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" name="TextBox 5"/>
          <p:cNvSpPr/>
          <p:nvPr/>
        </p:nvSpPr>
        <p:spPr>
          <a:xfrm>
            <a:off x="2926080" y="116640"/>
            <a:ext cx="6091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Алгоритмы оптимизации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xmlns:a14="http://schemas.microsoft.com/office/drawing/2010/main" Requires="a14">
          <p:sp>
            <p:nvSpPr>
              <p:cNvPr id="48" name="TextBox 1"/>
              <p:cNvSpPr txBox="1"/>
              <p:nvPr/>
            </p:nvSpPr>
            <p:spPr>
              <a:xfrm>
                <a:off x="1197720" y="2511000"/>
                <a:ext cx="8352000" cy="591480"/>
              </a:xfrm>
              <a:prstGeom prst="rect">
                <a:avLst/>
              </a:prstGeom>
            </p:spPr>
            <p:txBody>
              <a:bodyPr/>
              <a:p>
                <a14:m>
                  <m:oMath xmlns:m="http://schemas.openxmlformats.org/officeDocument/2006/math">
                    <m:sSub>
                      <m:e>
                        <m:r>
                          <m:t xml:space="preserve">𝜽</m:t>
                        </m:r>
                      </m:e>
                      <m:sub>
                        <m:r>
                          <m:t xml:space="preserve">𝒕</m:t>
                        </m:r>
                        <m:r>
                          <m:t xml:space="preserve">−</m:t>
                        </m:r>
                        <m:r>
                          <m:t xml:space="preserve">𝟏</m:t>
                        </m:r>
                      </m:sub>
                    </m:sSub>
                    <m:r>
                      <m:t xml:space="preserve">=</m:t>
                    </m:r>
                    <m:sSub>
                      <m:e>
                        <m:r>
                          <m:t xml:space="preserve">𝜽</m:t>
                        </m:r>
                      </m:e>
                      <m:sub>
                        <m:r>
                          <m:t xml:space="preserve">𝒕</m:t>
                        </m:r>
                      </m:sub>
                    </m:sSub>
                    <m:r>
                      <m:t xml:space="preserve">−</m:t>
                    </m:r>
                    <m:sSub>
                      <m:e>
                        <m:r>
                          <m:t xml:space="preserve">𝜇</m:t>
                        </m:r>
                      </m:e>
                      <m:sub>
                        <m:r>
                          <m:t xml:space="preserve">𝑡</m:t>
                        </m:r>
                      </m:sub>
                    </m:sSub>
                    <m:r>
                      <m:t xml:space="preserve">∗</m:t>
                    </m:r>
                    <m:acc>
                      <m:accPr>
                        <m:chr m:val="^"/>
                      </m:accPr>
                      <m:e>
                        <m:sSub>
                          <m:e>
                            <m:r>
                              <m:t xml:space="preserve">𝐹</m:t>
                            </m:r>
                          </m:e>
                          <m:sub>
                            <m:r>
                              <m:t xml:space="preserve">𝑜𝑝𝑡</m:t>
                            </m:r>
                          </m:sub>
                        </m:sSub>
                      </m:e>
                    </m:acc>
                    <m:d>
                      <m:dPr>
                        <m:begChr m:val="("/>
                        <m:endChr m:val=")"/>
                      </m:dPr>
                      <m:e>
                        <m:sSub>
                          <m:e>
                            <m:r>
                              <m:t xml:space="preserve">∇</m:t>
                            </m:r>
                          </m:e>
                          <m:sub>
                            <m:sSub>
                              <m:e>
                                <m:r>
                                  <m:t xml:space="preserve">𝜽</m:t>
                                </m:r>
                              </m:e>
                              <m:sub>
                                <m:r>
                                  <m:t xml:space="preserve">𝒕</m:t>
                                </m:r>
                              </m:sub>
                            </m:sSub>
                          </m:sub>
                        </m:sSub>
                        <m:r>
                          <m:t xml:space="preserve">𝐿</m:t>
                        </m:r>
                        <m:d>
                          <m:dPr>
                            <m:begChr m:val="("/>
                            <m:endChr m:val=")"/>
                          </m:dPr>
                          <m:e>
                            <m:sSup>
                              <m:e>
                                <m:r>
                                  <m:t xml:space="preserve">𝑫</m:t>
                                </m:r>
                              </m:e>
                              <m:sup>
                                <m:r>
                                  <m:t xml:space="preserve">′</m:t>
                                </m:r>
                              </m:sup>
                            </m:sSup>
                            <m:r>
                              <m:t xml:space="preserve">,</m:t>
                            </m:r>
                            <m:r>
                              <m:t xml:space="preserve">𝒀</m:t>
                            </m:r>
                            <m:r>
                              <m:t xml:space="preserve">′</m:t>
                            </m:r>
                          </m:e>
                        </m:d>
                        <m:r>
                          <m:t xml:space="preserve">,</m:t>
                        </m:r>
                        <m:r>
                          <m:t xml:space="preserve">𝑡</m:t>
                        </m:r>
                        <m:r>
                          <m:t xml:space="preserve">,</m:t>
                        </m:r>
                        <m:r>
                          <m:t xml:space="preserve">𝑡</m:t>
                        </m:r>
                        <m:r>
                          <m:t xml:space="preserve">−</m:t>
                        </m:r>
                        <m:r>
                          <m:t xml:space="preserve">1</m:t>
                        </m:r>
                        <m:r>
                          <m:t xml:space="preserve">,</m:t>
                        </m:r>
                        <m:r>
                          <m:t xml:space="preserve">…</m:t>
                        </m:r>
                      </m:e>
                    </m:d>
                  </m:oMath>
                </a14:m>
              </a:p>
            </p:txBody>
          </p:sp>
        </mc:Choice>
        <mc:Fallback/>
      </mc:AlternateContent>
      <p:sp>
        <p:nvSpPr>
          <p:cNvPr id="49" name="TextBox 3"/>
          <p:cNvSpPr/>
          <p:nvPr/>
        </p:nvSpPr>
        <p:spPr>
          <a:xfrm>
            <a:off x="3047760" y="385560"/>
            <a:ext cx="60919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Алгоритмы оптимизации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50" name="TextBox 5"/>
          <p:cNvSpPr/>
          <p:nvPr/>
        </p:nvSpPr>
        <p:spPr>
          <a:xfrm>
            <a:off x="981720" y="3213000"/>
            <a:ext cx="914400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Где - обучаемые параметры модели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на шаге </a:t>
            </a:r>
            <a:r>
              <a:rPr b="0" i="1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t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;   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 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- некоторый оператор, зависящий от конкретного алг.оптимизации;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 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- функция или совокупность функций ошибки;   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 </a:t>
            </a:r>
            <a:r>
              <a:rPr b="1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-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некоторое искусственное множество всех возможных подвыборок, 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не редко аугментированных из множества всех данных входных данных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,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полученное в результате батчирования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и\или фолдирования, и\или аугментаций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,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т.е. входные данные;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–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множество ответов сети, полученных сетью при входах  ответы сети.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-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локальная скорость обучения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(lr, </a:t>
            </a:r>
            <a:r>
              <a:rPr b="0" i="1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learning rate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)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на шаге </a:t>
            </a:r>
            <a:r>
              <a:rPr b="0" i="1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t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.</a:t>
            </a:r>
            <a:r>
              <a:rPr b="0" lang="en-US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onsolas"/>
                <a:ea typeface="DejaVu Sans"/>
              </a:rPr>
              <a:t> 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" name="TextBox 6"/>
          <p:cNvSpPr/>
          <p:nvPr/>
        </p:nvSpPr>
        <p:spPr>
          <a:xfrm>
            <a:off x="411120" y="1700640"/>
            <a:ext cx="8596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Приближенно один шаг оптимизации алгоритма можно описать так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: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2"/>
          <p:cNvSpPr/>
          <p:nvPr/>
        </p:nvSpPr>
        <p:spPr>
          <a:xfrm>
            <a:off x="837720" y="1196640"/>
            <a:ext cx="9526680" cy="447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Стохастический градиентный спуск (англ. Stochastic gradient descent, SGD) — это итерационный метод для оптимизации целевой функции с подходящими свойствами гладкости (например, дифференцируемость или субдифференцируемость). Его можно расценивать как стохастическую аппроксимацию оптимизации методом градиентного спуска, поскольку он заменяет реальный градиент (вычисленный из полного набора данных , его оценкой  (вычисленной из случайно выбранного подмножества данных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) </a:t>
            </a: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Особенно в приложениях обработки больших данных  это сокращает вычислительные ресурсы и помогает достичь более быстрых итераций и меньшее потребление памяти, в обмен на более низкую скорость </a:t>
            </a:r>
            <a:r>
              <a:rPr b="1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сходимости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.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Условие: использование батчирования.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Данные для формирования батча выбираются 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случайно из всех данных,  В ином случае получается обычный градиентный спуск.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Формула без использования импульса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(</a:t>
            </a: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множитель импульса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равен 0) для одного шага выглядит так: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16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3" name="TextBox 13"/>
          <p:cNvSpPr/>
          <p:nvPr/>
        </p:nvSpPr>
        <p:spPr>
          <a:xfrm>
            <a:off x="2699280" y="87840"/>
            <a:ext cx="609192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Алгоритмы оптимизации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Стохастический градиентный спуск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1"/>
          <p:cNvSpPr/>
          <p:nvPr/>
        </p:nvSpPr>
        <p:spPr>
          <a:xfrm>
            <a:off x="2699280" y="87840"/>
            <a:ext cx="6091920" cy="112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Алгоритмы оптимизации</a:t>
            </a:r>
            <a:endParaRPr b="0" lang="en-US" sz="2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Стохастический градиентный спуск</a:t>
            </a:r>
            <a:endParaRPr b="0" lang="en-US" sz="20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Момент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, </a:t>
            </a:r>
            <a:r>
              <a:rPr b="0" lang="ru-RU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Метод Нестерова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909720" y="1367640"/>
            <a:ext cx="503964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56" name="Рисунок 7" descr=""/>
          <p:cNvPicPr/>
          <p:nvPr/>
        </p:nvPicPr>
        <p:blipFill>
          <a:blip r:embed="rId1"/>
          <a:stretch/>
        </p:blipFill>
        <p:spPr>
          <a:xfrm>
            <a:off x="6094440" y="1400040"/>
            <a:ext cx="5266080" cy="4332240"/>
          </a:xfrm>
          <a:prstGeom prst="rect">
            <a:avLst/>
          </a:prstGeom>
          <a:ln w="0">
            <a:noFill/>
          </a:ln>
        </p:spPr>
      </p:pic>
      <p:sp>
        <p:nvSpPr>
          <p:cNvPr id="57" name="TextBox 8"/>
          <p:cNvSpPr/>
          <p:nvPr/>
        </p:nvSpPr>
        <p:spPr>
          <a:xfrm>
            <a:off x="405720" y="2469600"/>
            <a:ext cx="4751280" cy="228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Если само обучение можно представить как некий путь в пространстве весов, то момент является скоростью, и вводит инерцию.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Обычно, момент вычисляют экспоненциальным скользящим средним, как в пункте 2.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8" name="TextBox 9"/>
          <p:cNvSpPr/>
          <p:nvPr/>
        </p:nvSpPr>
        <p:spPr>
          <a:xfrm>
            <a:off x="405720" y="4149000"/>
            <a:ext cx="47512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Момент нестерова: переставляем местами пункт 1 и 2.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grpSp>
        <p:nvGrpSpPr>
          <p:cNvPr id="59" name="Группа 14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2"/>
          <p:cNvSpPr/>
          <p:nvPr/>
        </p:nvSpPr>
        <p:spPr>
          <a:xfrm>
            <a:off x="3046320" y="116640"/>
            <a:ext cx="609480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ru-RU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Алгоритмы оптимизации</a:t>
            </a:r>
            <a:endParaRPr b="0" lang="en-US" sz="24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Затухание весов,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Weight Decay, L2-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регуляризация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4"/>
          <p:cNvSpPr/>
          <p:nvPr/>
        </p:nvSpPr>
        <p:spPr>
          <a:xfrm>
            <a:off x="333720" y="1052640"/>
            <a:ext cx="9864000" cy="9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2800" spc="-1" strike="noStrike">
                <a:solidFill>
                  <a:srgbClr val="000000"/>
                </a:solidFill>
                <a:latin typeface="Calibri"/>
                <a:ea typeface="DejaVu Sans"/>
              </a:rPr>
              <a:t>  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62" name="TextBox 5"/>
          <p:cNvSpPr/>
          <p:nvPr/>
        </p:nvSpPr>
        <p:spPr>
          <a:xfrm>
            <a:off x="-788760" y="2781000"/>
            <a:ext cx="14400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В качестве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Weight Decay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чаще всего используется так называемая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L2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регуляризация, представляющая собой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квадрат от весов.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Её можно использовать и как ФО, но вычислительно проще подставить в алгоритм оптимизации,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таким вот образом. Встроено в большинство современных АО.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false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1360476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2011-12-12T13:37:00+00:00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2035-01-01T08:00:00+00:00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TP102801058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706496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REDMOND\v-soujap</DisplayName>
        <AccountId>1954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14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4ED80E12-3BE9-4746-820E-FFB249F467F2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3ED4759-CFDD-43F0-817C-11D9197192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003AC8-209A-4321-A17C-1B7A2064339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</TotalTime>
  <Application>LibreOffice/7.3.7.2$Linux_X86_64 LibreOffice_project/30$Build-2</Application>
  <AppVersion>15.0000</AppVersion>
  <Words>1388</Words>
  <Paragraphs>200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2021-09-06T17:40:32Z</dcterms:created>
  <dc:creator>Борис Вишняков</dc:creator>
  <dc:description/>
  <dc:language>en-US</dc:language>
  <cp:lastModifiedBy/>
  <dcterms:modified xsi:type="dcterms:W3CDTF">2026-01-08T09:29:59Z</dcterms:modified>
  <cp:revision>140</cp:revision>
  <dc:subject/>
  <dc:title>Методы интеллектуальной обработки данных и машинного обучения с использованием глубоких нейронных сетей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mpaign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InternalTags">
    <vt:lpwstr/>
  </property>
  <property fmtid="{D5CDD505-2E9C-101B-9397-08002B2CF9AE}" pid="6" name="LocalizationTags">
    <vt:lpwstr/>
  </property>
  <property fmtid="{D5CDD505-2E9C-101B-9397-08002B2CF9AE}" pid="7" name="MMClips">
    <vt:i4>2</vt:i4>
  </property>
  <property fmtid="{D5CDD505-2E9C-101B-9397-08002B2CF9AE}" pid="8" name="Notes">
    <vt:i4>9</vt:i4>
  </property>
  <property fmtid="{D5CDD505-2E9C-101B-9397-08002B2CF9AE}" pid="9" name="PresentationFormat">
    <vt:lpwstr>Произвольный</vt:lpwstr>
  </property>
  <property fmtid="{D5CDD505-2E9C-101B-9397-08002B2CF9AE}" pid="10" name="ScenarioTags">
    <vt:lpwstr/>
  </property>
  <property fmtid="{D5CDD505-2E9C-101B-9397-08002B2CF9AE}" pid="11" name="Slides">
    <vt:i4>29</vt:i4>
  </property>
</Properties>
</file>