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notesMasterIdLst>
    <p:notesMasterId r:id="rId37"/>
  </p:notesMasterIdLst>
  <p:handoutMasterIdLst>
    <p:handoutMasterId r:id="rId38"/>
  </p:handoutMasterIdLst>
  <p:sldIdLst>
    <p:sldId id="267" r:id="rId5"/>
    <p:sldId id="320" r:id="rId6"/>
    <p:sldId id="324" r:id="rId7"/>
    <p:sldId id="336" r:id="rId8"/>
    <p:sldId id="325" r:id="rId9"/>
    <p:sldId id="326" r:id="rId10"/>
    <p:sldId id="327" r:id="rId11"/>
    <p:sldId id="328" r:id="rId12"/>
    <p:sldId id="329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62" r:id="rId22"/>
    <p:sldId id="353" r:id="rId23"/>
    <p:sldId id="347" r:id="rId24"/>
    <p:sldId id="357" r:id="rId25"/>
    <p:sldId id="365" r:id="rId26"/>
    <p:sldId id="356" r:id="rId27"/>
    <p:sldId id="348" r:id="rId28"/>
    <p:sldId id="349" r:id="rId29"/>
    <p:sldId id="354" r:id="rId30"/>
    <p:sldId id="350" r:id="rId31"/>
    <p:sldId id="351" r:id="rId32"/>
    <p:sldId id="364" r:id="rId33"/>
    <p:sldId id="359" r:id="rId34"/>
    <p:sldId id="360" r:id="rId35"/>
    <p:sldId id="361" r:id="rId3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 Learning Schoo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FF00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4" autoAdjust="0"/>
  </p:normalViewPr>
  <p:slideViewPr>
    <p:cSldViewPr>
      <p:cViewPr varScale="1">
        <p:scale>
          <a:sx n="114" d="100"/>
          <a:sy n="114" d="100"/>
        </p:scale>
        <p:origin x="414" y="114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01114579-D02A-4B51-B5DF-8EC449F77AC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Заполнитель заме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Щелкните, чтобы изменить стили текста образца слайда</a:t>
            </a:r>
          </a:p>
          <a:p>
            <a:pPr lvl="1" rtl="0"/>
            <a:r>
              <a:t>Второй уровень</a:t>
            </a:r>
          </a:p>
          <a:p>
            <a:pPr lvl="2" rtl="0"/>
            <a:r>
              <a:t>Третий уровень</a:t>
            </a:r>
          </a:p>
          <a:p>
            <a:pPr lvl="3" rtl="0"/>
            <a:r>
              <a:t>Четвертый уровень</a:t>
            </a:r>
          </a:p>
          <a:p>
            <a:pPr lvl="4" rtl="0"/>
            <a:r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C6074690-7256-4BB9-AC0F-97AEAE8CDEC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95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54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56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85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861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896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066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282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45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806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971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890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182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319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buFont typeface="+mj-lt"/>
              <a:buNone/>
            </a:pPr>
            <a:endParaRPr lang="ru-RU" sz="1200" i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074690-7256-4BB9-AC0F-97AEAE8CDEC2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9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1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02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6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04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2" y="1845734"/>
            <a:ext cx="4936474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53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45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27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90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95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5" y="5074920"/>
            <a:ext cx="10111011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4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48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42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2302"/>
            <a:ext cx="262821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2302"/>
            <a:ext cx="7732286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8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1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DF28FB93-0A08-4E7D-8E63-9EFA29F1E093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2526032"/>
          </a:xfrm>
        </p:spPr>
        <p:txBody>
          <a:bodyPr rtlCol="0">
            <a:noAutofit/>
          </a:bodyPr>
          <a:lstStyle/>
          <a:p>
            <a:pPr algn="ctr" rtl="0"/>
            <a:r>
              <a:rPr lang="en-US" sz="5400" dirty="0" err="1">
                <a:latin typeface="Segoe UI" panose="020B0502040204020203" pitchFamily="34" charset="0"/>
                <a:cs typeface="Segoe UI" panose="020B0502040204020203" pitchFamily="34" charset="0"/>
              </a:rPr>
              <a:t>PyTorch</a:t>
            </a:r>
            <a:endParaRPr lang="ru" sz="5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000A6-124C-493E-8536-A83FBB64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14" y="1638894"/>
            <a:ext cx="10846940" cy="329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CA75A1-1D5E-433D-929A-0BBF42F633EA}"/>
              </a:ext>
            </a:extLst>
          </p:cNvPr>
          <p:cNvSpPr txBox="1"/>
          <p:nvPr/>
        </p:nvSpPr>
        <p:spPr>
          <a:xfrm>
            <a:off x="189756" y="188640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Краткая история</a:t>
            </a:r>
            <a:r>
              <a:rPr lang="en-US" sz="3200" dirty="0"/>
              <a:t> </a:t>
            </a:r>
            <a:r>
              <a:rPr lang="en-US" sz="3200" dirty="0" err="1"/>
              <a:t>PyTorch</a:t>
            </a:r>
            <a:r>
              <a:rPr lang="ru-RU" sz="3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9F11B-7CDD-4390-BD95-6948FA173B2C}"/>
              </a:ext>
            </a:extLst>
          </p:cNvPr>
          <p:cNvSpPr txBox="1"/>
          <p:nvPr/>
        </p:nvSpPr>
        <p:spPr>
          <a:xfrm>
            <a:off x="477788" y="1268760"/>
            <a:ext cx="1080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PyTorch</a:t>
            </a:r>
            <a:r>
              <a:rPr lang="ru-RU" sz="2400" dirty="0"/>
              <a:t> это открытый </a:t>
            </a:r>
            <a:r>
              <a:rPr lang="ru-RU" sz="2400" dirty="0" err="1"/>
              <a:t>фрймворк</a:t>
            </a:r>
            <a:r>
              <a:rPr lang="ru-RU" sz="2400" dirty="0"/>
              <a:t> глубокого обучения основанный на библиотеке </a:t>
            </a:r>
            <a:r>
              <a:rPr lang="en-US" sz="2400" b="1" dirty="0"/>
              <a:t>Torch</a:t>
            </a:r>
            <a:r>
              <a:rPr lang="ru-RU" sz="2400" dirty="0"/>
              <a:t> (создан </a:t>
            </a:r>
            <a:r>
              <a:rPr lang="en-US" sz="2400" dirty="0"/>
              <a:t>Ronan </a:t>
            </a:r>
            <a:r>
              <a:rPr lang="en-US" sz="2400" dirty="0" err="1"/>
              <a:t>Collobert</a:t>
            </a:r>
            <a:r>
              <a:rPr lang="ru-RU" sz="2400" dirty="0"/>
              <a:t>, </a:t>
            </a:r>
            <a:r>
              <a:rPr lang="en-US" sz="2400" dirty="0" err="1"/>
              <a:t>Koray</a:t>
            </a:r>
            <a:r>
              <a:rPr lang="en-US" sz="2400" dirty="0"/>
              <a:t> </a:t>
            </a:r>
            <a:r>
              <a:rPr lang="en-US" sz="2400" dirty="0" err="1"/>
              <a:t>Kavukcuglou</a:t>
            </a:r>
            <a:r>
              <a:rPr lang="en-US" sz="2400" dirty="0"/>
              <a:t>, Clement </a:t>
            </a:r>
            <a:r>
              <a:rPr lang="en-US" sz="2400" dirty="0" err="1"/>
              <a:t>Farabet</a:t>
            </a:r>
            <a:r>
              <a:rPr lang="en-US" sz="2400" dirty="0"/>
              <a:t> </a:t>
            </a:r>
            <a:r>
              <a:rPr lang="ru-RU" sz="2400" dirty="0"/>
              <a:t>в 2002 году) и библиотеке </a:t>
            </a:r>
            <a:r>
              <a:rPr lang="en-US" sz="2400" b="1" dirty="0"/>
              <a:t>Caffe2</a:t>
            </a:r>
            <a:r>
              <a:rPr lang="en-US" sz="2400" dirty="0"/>
              <a:t> </a:t>
            </a:r>
            <a:r>
              <a:rPr lang="ru-RU" sz="2400" dirty="0"/>
              <a:t>(разработана </a:t>
            </a:r>
            <a:r>
              <a:rPr lang="en-US" sz="2400" dirty="0"/>
              <a:t>Facebook</a:t>
            </a:r>
            <a:r>
              <a:rPr lang="ru-RU" sz="2400" dirty="0"/>
              <a:t>)</a:t>
            </a:r>
            <a:r>
              <a:rPr lang="en-US" sz="2400" dirty="0"/>
              <a:t>.</a:t>
            </a:r>
            <a:r>
              <a:rPr lang="ru-RU" sz="2400" dirty="0"/>
              <a:t>  </a:t>
            </a:r>
          </a:p>
          <a:p>
            <a:endParaRPr lang="ru-RU" sz="2400" dirty="0"/>
          </a:p>
          <a:p>
            <a:r>
              <a:rPr lang="ru-RU" sz="2400" dirty="0"/>
              <a:t> - Первый официальный</a:t>
            </a:r>
            <a:r>
              <a:rPr lang="en-US" sz="2400" dirty="0"/>
              <a:t> </a:t>
            </a:r>
            <a:r>
              <a:rPr lang="ru-RU" sz="2400" dirty="0"/>
              <a:t>релиз </a:t>
            </a:r>
            <a:r>
              <a:rPr lang="en-US" sz="2400" b="1" dirty="0" err="1"/>
              <a:t>PyTorch</a:t>
            </a:r>
            <a:r>
              <a:rPr lang="ru-RU" sz="2400" dirty="0"/>
              <a:t> был представлен исследовательской лабораторией </a:t>
            </a:r>
            <a:r>
              <a:rPr lang="en-US" sz="2400" dirty="0"/>
              <a:t>Facebook</a:t>
            </a:r>
            <a:r>
              <a:rPr lang="ru-RU" sz="2400" dirty="0"/>
              <a:t> </a:t>
            </a:r>
            <a:r>
              <a:rPr lang="en-US" sz="2400" dirty="0"/>
              <a:t>(FAIR)</a:t>
            </a:r>
          </a:p>
          <a:p>
            <a:endParaRPr lang="en-US" sz="2400" dirty="0"/>
          </a:p>
          <a:p>
            <a:pPr marL="285750" indent="-285750">
              <a:buFontTx/>
              <a:buChar char="-"/>
            </a:pPr>
            <a:r>
              <a:rPr lang="ru-RU" sz="2400" dirty="0"/>
              <a:t>Версия 1.0 интегрирующая в себе и исходный код </a:t>
            </a:r>
            <a:r>
              <a:rPr lang="en-US" sz="2400" b="1" dirty="0"/>
              <a:t>Caffe2</a:t>
            </a:r>
            <a:r>
              <a:rPr lang="en-US" sz="2400" dirty="0"/>
              <a:t> </a:t>
            </a:r>
            <a:r>
              <a:rPr lang="ru-RU" sz="2400" dirty="0"/>
              <a:t>и модули </a:t>
            </a:r>
            <a:r>
              <a:rPr lang="en-US" sz="2400" b="1" dirty="0"/>
              <a:t>ONNX</a:t>
            </a:r>
            <a:r>
              <a:rPr lang="en-US" sz="2400" dirty="0"/>
              <a:t> </a:t>
            </a:r>
            <a:r>
              <a:rPr lang="ru-RU" sz="2400" dirty="0"/>
              <a:t>была выпущена в 2018 году</a:t>
            </a:r>
          </a:p>
          <a:p>
            <a:pPr marL="285750" indent="-285750">
              <a:buFontTx/>
              <a:buChar char="-"/>
            </a:pPr>
            <a:endParaRPr lang="ru-RU" sz="2400" dirty="0"/>
          </a:p>
          <a:p>
            <a:pPr marL="285750" indent="-285750">
              <a:buFontTx/>
              <a:buChar char="-"/>
            </a:pPr>
            <a:r>
              <a:rPr lang="ru-RU" sz="2400" dirty="0"/>
              <a:t>Последняя актуальная версия </a:t>
            </a:r>
            <a:r>
              <a:rPr lang="en-US" sz="2400" b="1" dirty="0" err="1"/>
              <a:t>PyTorch</a:t>
            </a:r>
            <a:r>
              <a:rPr lang="en-US" sz="2400" dirty="0"/>
              <a:t> </a:t>
            </a:r>
            <a:r>
              <a:rPr lang="ru-RU" sz="2400" dirty="0"/>
              <a:t>на сегодняшний день 1.10</a:t>
            </a:r>
            <a:r>
              <a:rPr lang="en-US" sz="2400" dirty="0"/>
              <a:t>.0 </a:t>
            </a:r>
            <a:r>
              <a:rPr lang="ru-RU" sz="2400" dirty="0"/>
              <a:t>выпущена в октябре 2021 года </a:t>
            </a:r>
          </a:p>
        </p:txBody>
      </p:sp>
    </p:spTree>
    <p:extLst>
      <p:ext uri="{BB962C8B-B14F-4D97-AF65-F5344CB8AC3E}">
        <p14:creationId xmlns:p14="http://schemas.microsoft.com/office/powerpoint/2010/main" val="219628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B15D44-DE3D-4988-9352-9C65C8195AE3}"/>
              </a:ext>
            </a:extLst>
          </p:cNvPr>
          <p:cNvSpPr txBox="1"/>
          <p:nvPr/>
        </p:nvSpPr>
        <p:spPr>
          <a:xfrm>
            <a:off x="477788" y="1052736"/>
            <a:ext cx="110892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PyTorch</a:t>
            </a:r>
            <a:r>
              <a:rPr lang="en-US" sz="2400" dirty="0"/>
              <a:t> </a:t>
            </a:r>
            <a:r>
              <a:rPr lang="ru-RU" sz="2400" dirty="0"/>
              <a:t>написан с использованием языков </a:t>
            </a:r>
            <a:r>
              <a:rPr lang="en-US" sz="2400" b="1" dirty="0"/>
              <a:t>Python</a:t>
            </a:r>
            <a:r>
              <a:rPr lang="en-US" sz="2400" dirty="0"/>
              <a:t>, </a:t>
            </a:r>
            <a:r>
              <a:rPr lang="en-US" sz="2400" b="1" dirty="0"/>
              <a:t>C++ </a:t>
            </a:r>
            <a:r>
              <a:rPr lang="ru-RU" sz="2400" dirty="0"/>
              <a:t>и </a:t>
            </a:r>
            <a:r>
              <a:rPr lang="en-US" sz="2400" b="1" dirty="0"/>
              <a:t>CUDA</a:t>
            </a:r>
            <a:r>
              <a:rPr lang="ru-RU" sz="2400" dirty="0"/>
              <a:t>. Интерфейс пользователя реализован на </a:t>
            </a:r>
            <a:r>
              <a:rPr lang="en-US" sz="2400" b="1" dirty="0"/>
              <a:t>Python</a:t>
            </a:r>
            <a:r>
              <a:rPr lang="en-US" sz="2400" dirty="0"/>
              <a:t>. </a:t>
            </a:r>
            <a:r>
              <a:rPr lang="ru-RU" sz="2400" dirty="0"/>
              <a:t>Существует версия </a:t>
            </a:r>
            <a:r>
              <a:rPr lang="en-US" sz="2400" b="1" dirty="0" err="1"/>
              <a:t>PyTorch</a:t>
            </a:r>
            <a:r>
              <a:rPr lang="en-US" sz="2400" dirty="0"/>
              <a:t> </a:t>
            </a:r>
            <a:r>
              <a:rPr lang="ru-RU" sz="2400" dirty="0"/>
              <a:t>с интерфейсом на </a:t>
            </a:r>
            <a:r>
              <a:rPr lang="ru-RU" sz="2400" b="1" dirty="0"/>
              <a:t>С++ </a:t>
            </a:r>
            <a:r>
              <a:rPr lang="ru-RU" sz="2400" dirty="0"/>
              <a:t>и поддержкой всех модулей и форматов, которая называется </a:t>
            </a:r>
            <a:r>
              <a:rPr lang="en-US" sz="2400" b="1" dirty="0" err="1"/>
              <a:t>LibTorch</a:t>
            </a:r>
            <a:r>
              <a:rPr lang="en-US" sz="2400" dirty="0"/>
              <a:t>.</a:t>
            </a:r>
            <a:r>
              <a:rPr lang="ru-RU" sz="2400" dirty="0"/>
              <a:t> Так же он</a:t>
            </a:r>
            <a:r>
              <a:rPr lang="en-US" sz="2400" dirty="0"/>
              <a:t> </a:t>
            </a:r>
            <a:r>
              <a:rPr lang="ru-RU" sz="2400" dirty="0"/>
              <a:t>имеет </a:t>
            </a:r>
            <a:r>
              <a:rPr lang="en-US" sz="2400" dirty="0"/>
              <a:t>API </a:t>
            </a:r>
            <a:r>
              <a:rPr lang="ru-RU" sz="2400" dirty="0"/>
              <a:t>для использования с </a:t>
            </a:r>
            <a:r>
              <a:rPr lang="en-US" sz="2400" b="1" dirty="0"/>
              <a:t>Java, C#, </a:t>
            </a:r>
            <a:r>
              <a:rPr lang="en-US" sz="2400" b="1" dirty="0" err="1"/>
              <a:t>Javascript</a:t>
            </a:r>
            <a:r>
              <a:rPr lang="en-US" sz="2400" dirty="0"/>
              <a:t> </a:t>
            </a:r>
            <a:r>
              <a:rPr lang="ru-RU" sz="2400" dirty="0"/>
              <a:t>и другими языками.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 err="1"/>
              <a:t>PyTorch</a:t>
            </a:r>
            <a:r>
              <a:rPr lang="en-US" sz="2400" dirty="0"/>
              <a:t> </a:t>
            </a:r>
            <a:r>
              <a:rPr lang="ru-RU" sz="2400" dirty="0"/>
              <a:t>поддерживает несколько высокоуровневых особенностей:</a:t>
            </a:r>
          </a:p>
          <a:p>
            <a:r>
              <a:rPr lang="ru-RU" sz="2400" dirty="0"/>
              <a:t> </a:t>
            </a:r>
          </a:p>
          <a:p>
            <a:r>
              <a:rPr lang="ru-RU" sz="2400" dirty="0"/>
              <a:t>- высокопроизводительные вычисления с тензорами с ускорением на графическом процессоре</a:t>
            </a:r>
          </a:p>
          <a:p>
            <a:endParaRPr lang="ru-RU" sz="2400" dirty="0"/>
          </a:p>
          <a:p>
            <a:r>
              <a:rPr lang="ru-RU" sz="2400" dirty="0"/>
              <a:t>- Построение вычислительных графов, основанных на системе автоматического расчета градиентов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- Aten (</a:t>
            </a:r>
            <a:r>
              <a:rPr lang="en-US" sz="2400" b="1" dirty="0"/>
              <a:t>A Ten</a:t>
            </a:r>
            <a:r>
              <a:rPr lang="en-US" sz="2400" dirty="0"/>
              <a:t>sor </a:t>
            </a:r>
            <a:r>
              <a:rPr lang="en-US" sz="2400" dirty="0" err="1"/>
              <a:t>Libraray</a:t>
            </a:r>
            <a:r>
              <a:rPr lang="en-US" sz="2400" dirty="0"/>
              <a:t>) </a:t>
            </a:r>
            <a:r>
              <a:rPr lang="ru-RU" sz="2400" dirty="0"/>
              <a:t>и </a:t>
            </a:r>
            <a:r>
              <a:rPr lang="en-US" sz="2400" dirty="0"/>
              <a:t>C10 (</a:t>
            </a:r>
            <a:r>
              <a:rPr lang="en-US" sz="2400" b="1" dirty="0"/>
              <a:t>C</a:t>
            </a:r>
            <a:r>
              <a:rPr lang="en-US" sz="2400" dirty="0"/>
              <a:t>ore </a:t>
            </a:r>
            <a:r>
              <a:rPr lang="en-US" sz="2400" b="1" dirty="0" err="1"/>
              <a:t>TEN</a:t>
            </a:r>
            <a:r>
              <a:rPr lang="en-US" sz="2400" dirty="0" err="1"/>
              <a:t>sor</a:t>
            </a:r>
            <a:r>
              <a:rPr lang="en-US" sz="2400" dirty="0"/>
              <a:t> Library) 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B2AF1-8156-4A2A-BB73-8EB04195E41D}"/>
              </a:ext>
            </a:extLst>
          </p:cNvPr>
          <p:cNvSpPr txBox="1"/>
          <p:nvPr/>
        </p:nvSpPr>
        <p:spPr>
          <a:xfrm>
            <a:off x="189756" y="188640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Общие сведения о </a:t>
            </a:r>
            <a:r>
              <a:rPr lang="en-US" sz="3200" dirty="0" err="1"/>
              <a:t>PyTorch</a:t>
            </a:r>
            <a:r>
              <a:rPr lang="ru-RU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201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ep Learning with TensorFlow 2 &amp;amp; PyTorch">
            <a:extLst>
              <a:ext uri="{FF2B5EF4-FFF2-40B4-BE49-F238E27FC236}">
                <a16:creationId xmlns:a16="http://schemas.microsoft.com/office/drawing/2014/main" id="{DE4DB21E-5919-47F3-885D-7CAB6C896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737" y="188640"/>
            <a:ext cx="7646717" cy="611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EF840C-A7F7-4378-B549-CE77C8321D93}"/>
              </a:ext>
            </a:extLst>
          </p:cNvPr>
          <p:cNvSpPr txBox="1"/>
          <p:nvPr/>
        </p:nvSpPr>
        <p:spPr>
          <a:xfrm>
            <a:off x="189756" y="188640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Общие сведения о </a:t>
            </a:r>
            <a:r>
              <a:rPr lang="en-US" sz="3200" dirty="0" err="1"/>
              <a:t>PyTorch</a:t>
            </a:r>
            <a:r>
              <a:rPr lang="ru-RU" sz="32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8AB15-30EC-4E31-ACFA-B9F85DFF6834}"/>
              </a:ext>
            </a:extLst>
          </p:cNvPr>
          <p:cNvSpPr txBox="1"/>
          <p:nvPr/>
        </p:nvSpPr>
        <p:spPr>
          <a:xfrm>
            <a:off x="333772" y="4941168"/>
            <a:ext cx="4989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о</a:t>
            </a:r>
            <a:r>
              <a:rPr lang="en-US" sz="2400" dirty="0"/>
              <a:t> </a:t>
            </a:r>
            <a:r>
              <a:rPr lang="ru-RU" sz="2400" dirty="0"/>
              <a:t>популярности по запросам в интернете различных </a:t>
            </a:r>
            <a:r>
              <a:rPr lang="ru-RU" sz="2400" dirty="0" err="1"/>
              <a:t>фреймворков</a:t>
            </a:r>
            <a:r>
              <a:rPr lang="ru-RU" sz="2400" dirty="0"/>
              <a:t> глубокого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328656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6449BB-A62B-4F46-8C3A-6A7204E26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7716"/>
              </p:ext>
            </p:extLst>
          </p:nvPr>
        </p:nvGraphicFramePr>
        <p:xfrm>
          <a:off x="549796" y="260648"/>
          <a:ext cx="11089232" cy="5832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925">
                  <a:extLst>
                    <a:ext uri="{9D8B030D-6E8A-4147-A177-3AD203B41FA5}">
                      <a16:colId xmlns:a16="http://schemas.microsoft.com/office/drawing/2014/main" val="1167990397"/>
                    </a:ext>
                  </a:extLst>
                </a:gridCol>
                <a:gridCol w="7818307">
                  <a:extLst>
                    <a:ext uri="{9D8B030D-6E8A-4147-A177-3AD203B41FA5}">
                      <a16:colId xmlns:a16="http://schemas.microsoft.com/office/drawing/2014/main" val="4151857394"/>
                    </a:ext>
                  </a:extLst>
                </a:gridCol>
              </a:tblGrid>
              <a:tr h="69216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Элементы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109473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torch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Тензорная библиотека на подобии </a:t>
                      </a:r>
                      <a:r>
                        <a:rPr lang="en-US" b="1" dirty="0" err="1"/>
                        <a:t>numpy</a:t>
                      </a:r>
                      <a:r>
                        <a:rPr lang="ru-RU" dirty="0"/>
                        <a:t>, с поддержкой вычислений на графическом процессоре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976068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torch.autograd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Модуль автоматического расчета градиентов, который поддерживает все дифференцируемые операции из </a:t>
                      </a:r>
                      <a:r>
                        <a:rPr lang="en-US" b="1" dirty="0"/>
                        <a:t>torch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66574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torch.jit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Компилятор, позволяющий </a:t>
                      </a:r>
                      <a:r>
                        <a:rPr lang="ru-RU" sz="1799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создать</a:t>
                      </a:r>
                      <a:r>
                        <a:rPr lang="en-US" sz="1799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799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сериализованные</a:t>
                      </a:r>
                      <a:r>
                        <a:rPr lang="ru-RU" sz="1799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799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 оптимизируемые модели из кода на </a:t>
                      </a:r>
                      <a:r>
                        <a:rPr lang="en-US" sz="1799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PyTorch</a:t>
                      </a:r>
                      <a:r>
                        <a:rPr lang="ru-RU" sz="1799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73891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torch.nn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Библиотека глубокого обучения глубоко интегрированная с </a:t>
                      </a:r>
                      <a:r>
                        <a:rPr lang="en-US" b="1" dirty="0" err="1"/>
                        <a:t>torch.autograd</a:t>
                      </a:r>
                      <a:r>
                        <a:rPr lang="ru-RU" b="1" dirty="0"/>
                        <a:t> </a:t>
                      </a:r>
                      <a:r>
                        <a:rPr lang="ru-RU" dirty="0"/>
                        <a:t>и спроектированная для максимальной гибкости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090445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torch.distributed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Модуль для выполнения параллельных вычислений с автоматическим распределением тензоров по процессам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626093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torch.utils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Загрузчики данных, подготовка наборов данных для преобразований и другие инструменты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94383"/>
                  </a:ext>
                </a:extLst>
              </a:tr>
              <a:tr h="734355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torch.optim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Модуль оптимизации настройки параметров операций, используемых в вычислительном графе.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624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4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04775A-EC45-4082-9357-3D86E500DD2B}"/>
              </a:ext>
            </a:extLst>
          </p:cNvPr>
          <p:cNvSpPr txBox="1"/>
          <p:nvPr/>
        </p:nvSpPr>
        <p:spPr>
          <a:xfrm>
            <a:off x="189756" y="188640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torch – </a:t>
            </a:r>
            <a:r>
              <a:rPr lang="ru-RU" sz="3200" b="1" dirty="0"/>
              <a:t>тензорная библиотека</a:t>
            </a:r>
            <a:r>
              <a:rPr lang="en-US" sz="3200" b="1" dirty="0"/>
              <a:t> </a:t>
            </a:r>
            <a:endParaRPr lang="ru-RU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E590E-D852-4886-A182-4AB02772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93" y="620688"/>
            <a:ext cx="9945981" cy="567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6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6891E-9E3B-4176-8009-DD9BAB13B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40" y="980729"/>
            <a:ext cx="10460948" cy="4752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21381F-518A-47F4-B4D0-9AF38B1C8DAD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Тензор на </a:t>
            </a:r>
            <a:r>
              <a:rPr lang="en-US" sz="3200" b="1" dirty="0"/>
              <a:t>CPU</a:t>
            </a:r>
            <a:r>
              <a:rPr lang="ru-RU" sz="3200" b="1" dirty="0"/>
              <a:t> и на</a:t>
            </a:r>
            <a:r>
              <a:rPr lang="en-US" sz="3200" b="1" dirty="0"/>
              <a:t> GPU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50034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BC7F6-8EEB-4D89-9475-6945032F9BCE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torch</a:t>
            </a:r>
            <a:r>
              <a:rPr lang="ru-RU" sz="3200" b="1" dirty="0"/>
              <a:t>.</a:t>
            </a:r>
            <a:r>
              <a:rPr lang="en-US" sz="3200" b="1" dirty="0" err="1"/>
              <a:t>autograd</a:t>
            </a:r>
            <a:r>
              <a:rPr lang="en-US" sz="3200" b="1" dirty="0"/>
              <a:t> – </a:t>
            </a:r>
            <a:r>
              <a:rPr lang="ru-RU" sz="3200" b="1" dirty="0"/>
              <a:t>модуль автоматического дифференцирования</a:t>
            </a:r>
            <a:r>
              <a:rPr lang="en-US" sz="3200" b="1" dirty="0"/>
              <a:t> </a:t>
            </a:r>
            <a:endParaRPr lang="ru-RU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2847F-238C-40A7-B0D5-92784A6C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020" y="3501008"/>
            <a:ext cx="6912768" cy="2542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6DD76D-DD12-4BA3-AA7F-D55B855DE041}"/>
              </a:ext>
            </a:extLst>
          </p:cNvPr>
          <p:cNvSpPr txBox="1"/>
          <p:nvPr/>
        </p:nvSpPr>
        <p:spPr>
          <a:xfrm>
            <a:off x="405780" y="836712"/>
            <a:ext cx="11521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torch</a:t>
            </a:r>
            <a:r>
              <a:rPr lang="ru-RU" sz="2400" b="1" dirty="0"/>
              <a:t>.</a:t>
            </a:r>
            <a:r>
              <a:rPr lang="en-US" sz="2400" b="1" dirty="0" err="1"/>
              <a:t>autograd</a:t>
            </a:r>
            <a:r>
              <a:rPr lang="ru-RU" sz="2400" b="1" dirty="0"/>
              <a:t> </a:t>
            </a:r>
            <a:r>
              <a:rPr lang="ru-RU" sz="2400" dirty="0"/>
              <a:t>является основным для всех нейронных сетей написанных на </a:t>
            </a:r>
            <a:r>
              <a:rPr lang="en-US" sz="2400" dirty="0" err="1"/>
              <a:t>PyTorch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 err="1"/>
              <a:t>autograd</a:t>
            </a:r>
            <a:r>
              <a:rPr lang="en-US" sz="2400" dirty="0"/>
              <a:t> </a:t>
            </a:r>
            <a:r>
              <a:rPr lang="ru-RU" sz="2400" dirty="0"/>
              <a:t>обеспечивает автоматический расчет градиентов на основе градиентов из предыдущих операций </a:t>
            </a:r>
          </a:p>
          <a:p>
            <a:endParaRPr lang="ru-RU" sz="2400" dirty="0"/>
          </a:p>
          <a:p>
            <a:r>
              <a:rPr lang="ru-RU" sz="2400" dirty="0"/>
              <a:t>Для отслеживания градиентов по цепочке операций предусмотрен специальные механизм   </a:t>
            </a:r>
            <a:r>
              <a:rPr lang="en-US" sz="2400" dirty="0"/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6935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302A67-79F3-493C-98F0-DBEB32FFE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8" y="657468"/>
            <a:ext cx="8470677" cy="5651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B61A2-339D-49E6-82AE-D4A7D185F81A}"/>
              </a:ext>
            </a:extLst>
          </p:cNvPr>
          <p:cNvSpPr txBox="1"/>
          <p:nvPr/>
        </p:nvSpPr>
        <p:spPr>
          <a:xfrm>
            <a:off x="8640959" y="813311"/>
            <a:ext cx="35021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Reverse-mode auto-differentiation </a:t>
            </a:r>
            <a:r>
              <a:rPr lang="ru-RU" sz="2000" dirty="0"/>
              <a:t>официальное название алгоритма «записи» и «проигрывания» элементов нейронной сети.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Переменные поступающие на вход сети фиксируются, а производные высчитываются относительно каждой операции в порядке выполнения операций.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Для хранения промежуточных вычислений требуется дополнительное место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0DA86-FB8F-4CF8-A60C-4AE479FD224E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torch</a:t>
            </a:r>
            <a:r>
              <a:rPr lang="ru-RU" sz="3200" b="1" dirty="0"/>
              <a:t>.</a:t>
            </a:r>
            <a:r>
              <a:rPr lang="en-US" sz="3200" b="1" dirty="0" err="1"/>
              <a:t>autograd</a:t>
            </a:r>
            <a:r>
              <a:rPr lang="en-US" sz="3200" b="1" dirty="0"/>
              <a:t> – </a:t>
            </a:r>
            <a:r>
              <a:rPr lang="ru-RU" sz="3200" b="1" dirty="0"/>
              <a:t>запись и воспроизведение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48262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7704D-A646-452C-9AB1-BA21B626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B7BE2-4ED8-4BDA-A4ED-95C3AC1C3896}"/>
              </a:ext>
            </a:extLst>
          </p:cNvPr>
          <p:cNvSpPr txBox="1"/>
          <p:nvPr/>
        </p:nvSpPr>
        <p:spPr>
          <a:xfrm>
            <a:off x="405780" y="260648"/>
            <a:ext cx="11089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создании тензора с </a:t>
            </a:r>
            <a:r>
              <a:rPr lang="en-US" dirty="0" err="1"/>
              <a:t>requires_grad</a:t>
            </a:r>
            <a:r>
              <a:rPr lang="en-US" dirty="0"/>
              <a:t>=True c10 </a:t>
            </a:r>
            <a:r>
              <a:rPr lang="ru-RU" dirty="0"/>
              <a:t>создаст объект </a:t>
            </a:r>
            <a:r>
              <a:rPr lang="en-US" dirty="0" err="1"/>
              <a:t>AutogradMeta</a:t>
            </a:r>
            <a:r>
              <a:rPr lang="ru-RU" dirty="0"/>
              <a:t>, который хранит всю информацию о графе. При вызове дифференцируемой функции, которая принимает тензор как аргумент, заполняются соответствующие метаданные. Самые важные параметры структуры </a:t>
            </a:r>
            <a:r>
              <a:rPr lang="en-US" dirty="0" err="1"/>
              <a:t>AutogradMeta</a:t>
            </a:r>
            <a:r>
              <a:rPr lang="ru-RU" dirty="0"/>
              <a:t> это </a:t>
            </a:r>
            <a:r>
              <a:rPr lang="en-US" dirty="0"/>
              <a:t>grad_ </a:t>
            </a:r>
            <a:r>
              <a:rPr lang="ru-RU" dirty="0"/>
              <a:t>куда будут записаны </a:t>
            </a:r>
            <a:r>
              <a:rPr lang="ru-RU" dirty="0" err="1"/>
              <a:t>градиены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grad_fn</a:t>
            </a:r>
            <a:r>
              <a:rPr lang="ru-RU" dirty="0"/>
              <a:t> указатель на выполняемую операцию, которая будет использована для расчета градиентов. </a:t>
            </a:r>
            <a:r>
              <a:rPr lang="en-US" dirty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926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F2EC29-F595-42AB-A42C-650803B01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B215A3-5AC2-4A6A-8837-C1E80E5BF3AE}"/>
              </a:ext>
            </a:extLst>
          </p:cNvPr>
          <p:cNvSpPr txBox="1"/>
          <p:nvPr/>
        </p:nvSpPr>
        <p:spPr>
          <a:xfrm>
            <a:off x="216023" y="188640"/>
            <a:ext cx="11927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Объект </a:t>
            </a:r>
            <a:r>
              <a:rPr lang="en-US" dirty="0" err="1"/>
              <a:t>grad_fn</a:t>
            </a:r>
            <a:r>
              <a:rPr lang="en-US" dirty="0"/>
              <a:t> </a:t>
            </a:r>
            <a:r>
              <a:rPr lang="ru-RU" dirty="0"/>
              <a:t>наследуется от класса </a:t>
            </a:r>
            <a:r>
              <a:rPr lang="en-US" dirty="0" err="1"/>
              <a:t>TraceableFunction</a:t>
            </a:r>
            <a:r>
              <a:rPr lang="ru-RU" dirty="0"/>
              <a:t>. Функции являются объектами </a:t>
            </a:r>
            <a:r>
              <a:rPr lang="en-US" dirty="0"/>
              <a:t>Node</a:t>
            </a:r>
            <a:r>
              <a:rPr lang="ru-RU" dirty="0"/>
              <a:t> вычислительного графа, связанными вместе при помощи объектов </a:t>
            </a:r>
            <a:r>
              <a:rPr lang="en-US" dirty="0"/>
              <a:t>Edge</a:t>
            </a:r>
            <a:r>
              <a:rPr lang="ru-RU" dirty="0"/>
              <a:t>, которые необходимы для отслеживания перемещений по графу. Все узлы содержат список связанных с ними граней.</a:t>
            </a:r>
          </a:p>
        </p:txBody>
      </p:sp>
    </p:spTree>
    <p:extLst>
      <p:ext uri="{BB962C8B-B14F-4D97-AF65-F5344CB8AC3E}">
        <p14:creationId xmlns:p14="http://schemas.microsoft.com/office/powerpoint/2010/main" val="303566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77E8A3-8754-4E1F-A7DD-C28ED233F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2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30A01-AB36-4632-B00A-EBED6070C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03384-FE7A-4612-82BE-52DE7A25F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8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D2DFC-3F77-4FF3-BDC4-272FAC426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5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FDAB18-D257-4BD8-94DC-6F3C8CEA1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937" y="1504950"/>
            <a:ext cx="6838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4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pytorch.org/assets/images/augmented_computational_graph.png">
            <a:extLst>
              <a:ext uri="{FF2B5EF4-FFF2-40B4-BE49-F238E27FC236}">
                <a16:creationId xmlns:a16="http://schemas.microsoft.com/office/drawing/2014/main" id="{C4BACEDA-ACAB-41EE-81E0-5E705F57C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040" y="0"/>
            <a:ext cx="7395988" cy="632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20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B3D7F-C0D9-4906-B587-BBA3BF547294}"/>
              </a:ext>
            </a:extLst>
          </p:cNvPr>
          <p:cNvSpPr txBox="1"/>
          <p:nvPr/>
        </p:nvSpPr>
        <p:spPr>
          <a:xfrm>
            <a:off x="117747" y="692696"/>
            <a:ext cx="116652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Если часть вычислительного графа разделена между несколькими логическими последовательностями относительно которых вычисляется ошибка, то при вычислении градиентов с помощью </a:t>
            </a:r>
            <a:r>
              <a:rPr lang="en-US" sz="2000" dirty="0"/>
              <a:t>grad() </a:t>
            </a:r>
            <a:r>
              <a:rPr lang="ru-RU" sz="2000" dirty="0"/>
              <a:t>или</a:t>
            </a:r>
            <a:r>
              <a:rPr lang="en-US" sz="2000" dirty="0"/>
              <a:t> backward()</a:t>
            </a:r>
            <a:r>
              <a:rPr lang="ru-RU" sz="2000" dirty="0"/>
              <a:t> на одном и том же графе может возникнуть случай удаления графа при вычислении градиентов в одной ветви. В таком случае при вычислении градиентов во второй ветви произойдет ошибка, так как общая часть графа уже была уничтожена. То же самое может произойти при вычислении графа в нескольких потоках.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Для предотвращения подобного поведения необходимо установить флаг </a:t>
            </a:r>
            <a:r>
              <a:rPr lang="en-US" sz="2000" dirty="0" err="1"/>
              <a:t>retain_graph</a:t>
            </a:r>
            <a:r>
              <a:rPr lang="en-US" sz="2000" dirty="0"/>
              <a:t>=True</a:t>
            </a:r>
            <a:r>
              <a:rPr lang="ru-RU" sz="2000" dirty="0"/>
              <a:t> во всех </a:t>
            </a:r>
            <a:r>
              <a:rPr lang="en-US" sz="2000" dirty="0"/>
              <a:t>grad() </a:t>
            </a:r>
            <a:r>
              <a:rPr lang="ru-RU" sz="2000" dirty="0"/>
              <a:t>и </a:t>
            </a:r>
            <a:r>
              <a:rPr lang="en-US" sz="2000" dirty="0"/>
              <a:t>backward()</a:t>
            </a:r>
            <a:r>
              <a:rPr lang="ru-RU" sz="2000" dirty="0"/>
              <a:t>, кроме последнего.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AD7D3-E2EA-4CEA-A925-3DC83CAAD2EE}"/>
              </a:ext>
            </a:extLst>
          </p:cNvPr>
          <p:cNvSpPr txBox="1"/>
          <p:nvPr/>
        </p:nvSpPr>
        <p:spPr>
          <a:xfrm>
            <a:off x="117748" y="3140968"/>
            <a:ext cx="118093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Все тензоры у которых атрибут </a:t>
            </a:r>
            <a:r>
              <a:rPr lang="en-US" sz="2000" dirty="0"/>
              <a:t>requires</a:t>
            </a:r>
            <a:r>
              <a:rPr lang="ru-RU" sz="2000" dirty="0"/>
              <a:t>_</a:t>
            </a:r>
            <a:r>
              <a:rPr lang="en-US" sz="2000" dirty="0"/>
              <a:t>grad</a:t>
            </a:r>
            <a:r>
              <a:rPr lang="ru-RU" sz="2000" dirty="0"/>
              <a:t>=</a:t>
            </a:r>
            <a:r>
              <a:rPr lang="en-US" sz="2000" dirty="0"/>
              <a:t>False </a:t>
            </a:r>
            <a:r>
              <a:rPr lang="ru-RU" sz="2000" dirty="0"/>
              <a:t>являются </a:t>
            </a:r>
            <a:r>
              <a:rPr lang="en-US" sz="2000" dirty="0"/>
              <a:t>leaf </a:t>
            </a:r>
            <a:r>
              <a:rPr lang="ru-RU" sz="2000" dirty="0"/>
              <a:t>по умолчанию. Тензоры у которых атрибут </a:t>
            </a:r>
            <a:r>
              <a:rPr lang="en-US" sz="2000" dirty="0"/>
              <a:t>requires</a:t>
            </a:r>
            <a:r>
              <a:rPr lang="ru-RU" sz="2000" dirty="0"/>
              <a:t>_</a:t>
            </a:r>
            <a:r>
              <a:rPr lang="en-US" sz="2000" dirty="0"/>
              <a:t>grad</a:t>
            </a:r>
            <a:r>
              <a:rPr lang="ru-RU" sz="2000" dirty="0"/>
              <a:t>=</a:t>
            </a:r>
            <a:r>
              <a:rPr lang="en-US" sz="2000" dirty="0"/>
              <a:t>True </a:t>
            </a:r>
            <a:r>
              <a:rPr lang="ru-RU" sz="2000" dirty="0"/>
              <a:t>являются </a:t>
            </a:r>
            <a:r>
              <a:rPr lang="en-US" sz="2000" dirty="0"/>
              <a:t>leaf </a:t>
            </a:r>
            <a:r>
              <a:rPr lang="ru-RU" sz="2000" dirty="0"/>
              <a:t>лишь в том случае, если они созданы пользователем, а не в результате какой-либо операции, в таком случае их </a:t>
            </a:r>
            <a:r>
              <a:rPr lang="en-US" sz="2000" dirty="0" err="1"/>
              <a:t>grad_fn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None</a:t>
            </a:r>
            <a:r>
              <a:rPr lang="ru-RU" sz="2000" dirty="0"/>
              <a:t>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Во время вызова </a:t>
            </a:r>
            <a:r>
              <a:rPr lang="en-US" sz="2000" dirty="0"/>
              <a:t>backward()</a:t>
            </a:r>
            <a:r>
              <a:rPr lang="ru-RU" sz="2000" dirty="0"/>
              <a:t> градиенты будут сохранятся только для </a:t>
            </a:r>
            <a:r>
              <a:rPr lang="en-US" sz="2000" dirty="0"/>
              <a:t>leaf</a:t>
            </a:r>
            <a:r>
              <a:rPr lang="ru-RU" sz="2000" dirty="0"/>
              <a:t>. Для того, чтобы градиенты сохранялись для всех тензоров, в том числе и не являющихся </a:t>
            </a:r>
            <a:r>
              <a:rPr lang="en-US" sz="2000" dirty="0"/>
              <a:t>leaf</a:t>
            </a:r>
            <a:r>
              <a:rPr lang="ru-RU" sz="2000" dirty="0"/>
              <a:t> необходимо установить </a:t>
            </a:r>
            <a:r>
              <a:rPr lang="en-US" sz="2000" dirty="0" err="1"/>
              <a:t>retain_grad</a:t>
            </a:r>
            <a:r>
              <a:rPr lang="en-US" sz="2000" dirty="0"/>
              <a:t>()</a:t>
            </a:r>
            <a:r>
              <a:rPr lang="ru-RU" sz="2000" dirty="0"/>
              <a:t>=</a:t>
            </a:r>
            <a:r>
              <a:rPr lang="en-US" sz="2000" dirty="0"/>
              <a:t>True</a:t>
            </a:r>
            <a:endParaRPr lang="ru-RU" sz="20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DFC70-12D3-4813-8BDE-71D07BD7D3B2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retain_graph</a:t>
            </a:r>
            <a:r>
              <a:rPr lang="en-US" sz="3200" b="1" dirty="0"/>
              <a:t>(), </a:t>
            </a:r>
            <a:r>
              <a:rPr lang="en-US" sz="3200" b="1" dirty="0" err="1"/>
              <a:t>is_leaf</a:t>
            </a:r>
            <a:r>
              <a:rPr lang="en-US" sz="3200" b="1" dirty="0"/>
              <a:t>(), </a:t>
            </a:r>
            <a:r>
              <a:rPr lang="en-US" sz="3200" b="1" dirty="0" err="1"/>
              <a:t>retain_grad</a:t>
            </a:r>
            <a:r>
              <a:rPr lang="en-US" sz="3200" b="1" dirty="0"/>
              <a:t>()</a:t>
            </a:r>
            <a:endParaRPr lang="ru-RU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46DDB1-00A2-403A-947F-F6F0F943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4725144"/>
            <a:ext cx="4357270" cy="1578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472B2-D507-47A3-A61E-D1FB9BFA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72" y="4725144"/>
            <a:ext cx="4377275" cy="157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1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964CF-1543-413E-AD03-3EF808EE5248}"/>
              </a:ext>
            </a:extLst>
          </p:cNvPr>
          <p:cNvSpPr txBox="1"/>
          <p:nvPr/>
        </p:nvSpPr>
        <p:spPr>
          <a:xfrm>
            <a:off x="405780" y="908720"/>
            <a:ext cx="1144927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</a:t>
            </a:r>
            <a:r>
              <a:rPr lang="en-US" b="1" dirty="0" err="1"/>
              <a:t>torch.distributed</a:t>
            </a:r>
            <a:r>
              <a:rPr lang="ru-RU" b="1" dirty="0"/>
              <a:t> </a:t>
            </a:r>
            <a:r>
              <a:rPr lang="ru-RU" dirty="0"/>
              <a:t>обеспечивает поддержку примитивов для мультипроцессорного распараллеливания вычислений на нескольких узлах запущенных на одном или нескольких вычислительных устройствах. Класс </a:t>
            </a:r>
            <a:r>
              <a:rPr lang="en-US" b="1" dirty="0" err="1"/>
              <a:t>torch.nn.parallel.DistributedDataParallel</a:t>
            </a:r>
            <a:r>
              <a:rPr lang="ru-RU" b="1" dirty="0"/>
              <a:t> </a:t>
            </a:r>
            <a:r>
              <a:rPr lang="ru-RU" dirty="0"/>
              <a:t>позволяет обеспечить синхронное распределенное обучение любой модели созданной с его использованием.  Его механизм отличается от типа параллелизма обеспечиваемого модулями </a:t>
            </a:r>
            <a:r>
              <a:rPr lang="en-US" b="1" dirty="0" err="1"/>
              <a:t>torch.multiprocessing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en-US" b="1" dirty="0" err="1"/>
              <a:t>torch.nn.DataParallel</a:t>
            </a:r>
            <a:r>
              <a:rPr lang="ru-RU" b="1" dirty="0"/>
              <a:t> </a:t>
            </a:r>
            <a:r>
              <a:rPr lang="ru-RU" dirty="0"/>
              <a:t>в том отношении, что он поддерживает возможность соединения по сети множества устройств и пользователю необходимо запускать отдельные копии скрипта обучения для каждого процесса.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Даже в случае синхронного запуска на одном устройстве </a:t>
            </a:r>
            <a:r>
              <a:rPr lang="en-US" b="1" dirty="0" err="1"/>
              <a:t>torch.distributed</a:t>
            </a:r>
            <a:r>
              <a:rPr lang="en-US" b="1" dirty="0"/>
              <a:t> </a:t>
            </a:r>
            <a:r>
              <a:rPr lang="ru-RU" dirty="0"/>
              <a:t>или</a:t>
            </a:r>
            <a:r>
              <a:rPr lang="en-US" dirty="0"/>
              <a:t> </a:t>
            </a:r>
            <a:r>
              <a:rPr lang="en-US" b="1" dirty="0" err="1"/>
              <a:t>torch.nn.parallel.DistributedDataParallel</a:t>
            </a:r>
            <a:r>
              <a:rPr lang="ru-RU" b="1" dirty="0"/>
              <a:t> </a:t>
            </a:r>
            <a:r>
              <a:rPr lang="ru-RU" dirty="0"/>
              <a:t>могут иметь преимущества над другими подходами параллельных вычислений, включая </a:t>
            </a:r>
            <a:r>
              <a:rPr lang="en-US" b="1" dirty="0" err="1"/>
              <a:t>torch.nn.DataParallel</a:t>
            </a:r>
            <a:r>
              <a:rPr lang="ru-RU" dirty="0"/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ru-RU" dirty="0"/>
              <a:t>Каждый процесс определяет свой собственный алгоритм оптимизации и индивидуально обновляет параметры своей сети в каждой итерации. Несмотря на то, что это может показаться избыточным использованием ресурсов, так как градиенты уже были собраны вместе, усреднены и скопированы во все процессы, а значит они одинаковые. Это означает, что нет необходимости копировать параметры, соответственно можно уменьшить время, тратимое на копирование параметров.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dirty="0"/>
              <a:t>Каждый процесс работает со своим собственным интерпретатором </a:t>
            </a:r>
            <a:r>
              <a:rPr lang="en-US" dirty="0"/>
              <a:t>Python </a:t>
            </a:r>
            <a:r>
              <a:rPr lang="ru-RU" dirty="0"/>
              <a:t>исключая необходимость справляться с издержками возникающими в случае работы с потоками (сборщик мусора), а также копиями модели или несколькими </a:t>
            </a:r>
            <a:r>
              <a:rPr lang="en-US" dirty="0"/>
              <a:t>GPU </a:t>
            </a:r>
            <a:r>
              <a:rPr lang="ru-RU" dirty="0"/>
              <a:t>при работе в одном процессе. Это особенно важно при работе с тяжелыми моделями и моделями с рекуррентными слоями.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72B9E-6504-4E28-ABF1-18D9EAF89808}"/>
              </a:ext>
            </a:extLst>
          </p:cNvPr>
          <p:cNvSpPr txBox="1"/>
          <p:nvPr/>
        </p:nvSpPr>
        <p:spPr>
          <a:xfrm>
            <a:off x="189756" y="268393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torch.multiprocessing</a:t>
            </a:r>
            <a:r>
              <a:rPr lang="en-US" sz="3200" b="1" dirty="0"/>
              <a:t> vs. </a:t>
            </a:r>
            <a:r>
              <a:rPr lang="en-US" sz="3200" b="1" dirty="0" err="1"/>
              <a:t>torch.distributed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27208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369F99-DDD4-4D17-A093-D09B1607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15" y="1484784"/>
            <a:ext cx="5195749" cy="3960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54C0C-B7B8-4C1A-8A66-E25AFEA1EED4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torch</a:t>
            </a:r>
            <a:r>
              <a:rPr lang="ru-RU" sz="3200" b="1" dirty="0"/>
              <a:t>.</a:t>
            </a:r>
            <a:r>
              <a:rPr lang="en-US" sz="3200" b="1" dirty="0" err="1"/>
              <a:t>nn</a:t>
            </a:r>
            <a:r>
              <a:rPr lang="en-US" sz="3200" b="1" dirty="0"/>
              <a:t> – </a:t>
            </a:r>
            <a:r>
              <a:rPr lang="ru-RU" sz="3200" b="1" dirty="0"/>
              <a:t>модуль для создания нейронных сетей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46904-67B5-4A6E-9D0E-74204BDFF928}"/>
              </a:ext>
            </a:extLst>
          </p:cNvPr>
          <p:cNvSpPr txBox="1"/>
          <p:nvPr/>
        </p:nvSpPr>
        <p:spPr>
          <a:xfrm>
            <a:off x="261764" y="1124744"/>
            <a:ext cx="48965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torch.nn</a:t>
            </a:r>
            <a:r>
              <a:rPr lang="en-US" sz="2400" dirty="0"/>
              <a:t> </a:t>
            </a:r>
            <a:r>
              <a:rPr lang="ru-RU" sz="2400" dirty="0"/>
              <a:t>тесно связан с </a:t>
            </a:r>
            <a:r>
              <a:rPr lang="en-US" sz="2400" b="1" dirty="0" err="1"/>
              <a:t>torch.autograd</a:t>
            </a:r>
            <a:r>
              <a:rPr lang="ru-RU" sz="2400" dirty="0"/>
              <a:t>. Это необходимо для создания последовательностей операций и их дифференцирования в правильном порядке.</a:t>
            </a:r>
          </a:p>
          <a:p>
            <a:endParaRPr lang="ru-RU" sz="2400" dirty="0"/>
          </a:p>
          <a:p>
            <a:r>
              <a:rPr lang="en-US" sz="2400" b="1" dirty="0" err="1"/>
              <a:t>torch.nn</a:t>
            </a:r>
            <a:r>
              <a:rPr lang="ru-RU" sz="2400" b="1" dirty="0"/>
              <a:t>.</a:t>
            </a:r>
            <a:r>
              <a:rPr lang="en-US" sz="2400" b="1" dirty="0"/>
              <a:t>Module </a:t>
            </a:r>
            <a:r>
              <a:rPr lang="ru-RU" sz="2400" dirty="0"/>
              <a:t>содержит операции и слои, а также метод </a:t>
            </a:r>
            <a:r>
              <a:rPr lang="en-US" sz="2400" b="1" dirty="0"/>
              <a:t>forward()</a:t>
            </a:r>
            <a:r>
              <a:rPr lang="en-US" sz="2400" dirty="0"/>
              <a:t> </a:t>
            </a:r>
            <a:r>
              <a:rPr lang="ru-RU" sz="2400" dirty="0"/>
              <a:t>для запуска данным по сети операций, в итоге формируется тензор в котором инициируется операция </a:t>
            </a:r>
            <a:r>
              <a:rPr lang="en-US" sz="2400" b="1" dirty="0"/>
              <a:t>backward()</a:t>
            </a:r>
            <a:r>
              <a:rPr lang="en-US" sz="2400" dirty="0"/>
              <a:t> </a:t>
            </a:r>
            <a:r>
              <a:rPr lang="ru-RU" sz="2400" dirty="0"/>
              <a:t>для расчета градиентов</a:t>
            </a:r>
          </a:p>
        </p:txBody>
      </p:sp>
    </p:spTree>
    <p:extLst>
      <p:ext uri="{BB962C8B-B14F-4D97-AF65-F5344CB8AC3E}">
        <p14:creationId xmlns:p14="http://schemas.microsoft.com/office/powerpoint/2010/main" val="180794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4A821-0913-4279-AFDB-DD979F1FAB67}"/>
              </a:ext>
            </a:extLst>
          </p:cNvPr>
          <p:cNvSpPr txBox="1"/>
          <p:nvPr/>
        </p:nvSpPr>
        <p:spPr>
          <a:xfrm>
            <a:off x="189756" y="268393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torch.nn</a:t>
            </a:r>
            <a:r>
              <a:rPr lang="en-US" sz="3200" b="1" dirty="0"/>
              <a:t> vs. </a:t>
            </a:r>
            <a:r>
              <a:rPr lang="en-US" sz="3200" b="1" dirty="0" err="1"/>
              <a:t>torch.nn.functional</a:t>
            </a:r>
            <a:endParaRPr lang="ru-RU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49E39-D8B6-495E-9A69-0FBAE337F7FF}"/>
              </a:ext>
            </a:extLst>
          </p:cNvPr>
          <p:cNvSpPr txBox="1"/>
          <p:nvPr/>
        </p:nvSpPr>
        <p:spPr>
          <a:xfrm>
            <a:off x="549796" y="1351796"/>
            <a:ext cx="105851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</a:t>
            </a:r>
            <a:r>
              <a:rPr lang="en-US" sz="2000" b="1" dirty="0" err="1"/>
              <a:t>torch.nn</a:t>
            </a:r>
            <a:r>
              <a:rPr lang="ru-RU" sz="2000" b="1" dirty="0"/>
              <a:t> </a:t>
            </a:r>
            <a:r>
              <a:rPr lang="ru-RU" sz="2000" dirty="0"/>
              <a:t>операции определены как классы унаследованные от </a:t>
            </a:r>
            <a:r>
              <a:rPr lang="en-US" sz="2000" b="1" dirty="0" err="1"/>
              <a:t>nn.Module</a:t>
            </a:r>
            <a:r>
              <a:rPr lang="ru-RU" sz="2000" dirty="0"/>
              <a:t>. В свою очередь </a:t>
            </a:r>
            <a:r>
              <a:rPr lang="en-US" sz="2000" b="1" dirty="0" err="1"/>
              <a:t>torch.nn.functional</a:t>
            </a:r>
            <a:r>
              <a:rPr lang="en-US" sz="2000" b="1" dirty="0"/>
              <a:t> </a:t>
            </a:r>
            <a:r>
              <a:rPr lang="ru-RU" sz="2000" dirty="0"/>
              <a:t>использует функциональный подход. </a:t>
            </a:r>
          </a:p>
          <a:p>
            <a:r>
              <a:rPr lang="ru-RU" sz="2000" dirty="0"/>
              <a:t>Все операции созданные на основе </a:t>
            </a:r>
            <a:r>
              <a:rPr lang="en-US" sz="2000" b="1" dirty="0" err="1"/>
              <a:t>nn.Module</a:t>
            </a:r>
            <a:r>
              <a:rPr lang="en-US" sz="2000" b="1" dirty="0"/>
              <a:t> </a:t>
            </a:r>
            <a:r>
              <a:rPr lang="ru-RU" sz="2000" b="1" dirty="0"/>
              <a:t> </a:t>
            </a:r>
            <a:r>
              <a:rPr lang="ru-RU" sz="2000" dirty="0"/>
              <a:t>определяются как классы со своим набором атрибутов. В частности они могут</a:t>
            </a:r>
            <a:r>
              <a:rPr lang="en-US" sz="2000" dirty="0"/>
              <a:t> </a:t>
            </a:r>
            <a:r>
              <a:rPr lang="ru-RU" sz="2000" dirty="0"/>
              <a:t>иметь атрибут «</a:t>
            </a:r>
            <a:r>
              <a:rPr lang="en-US" sz="2000" dirty="0"/>
              <a:t>weights</a:t>
            </a:r>
            <a:r>
              <a:rPr lang="ru-RU" sz="2000" dirty="0"/>
              <a:t>». Объект такого класса уже имеет доступ ко всем атрибутам. </a:t>
            </a:r>
          </a:p>
          <a:p>
            <a:r>
              <a:rPr lang="ru-RU" sz="2000" dirty="0"/>
              <a:t>В случае с </a:t>
            </a:r>
            <a:r>
              <a:rPr lang="en-US" sz="2000" b="1" dirty="0"/>
              <a:t>functional</a:t>
            </a:r>
            <a:r>
              <a:rPr lang="ru-RU" sz="2000" b="1" dirty="0"/>
              <a:t> </a:t>
            </a:r>
            <a:r>
              <a:rPr lang="en-US" sz="2000" b="1" dirty="0"/>
              <a:t>API </a:t>
            </a:r>
            <a:r>
              <a:rPr lang="ru-RU" sz="2000" dirty="0"/>
              <a:t>определяется операция, ей необходимо передать параметры всех необходимых данных в качестве аргументов. </a:t>
            </a:r>
          </a:p>
          <a:p>
            <a:r>
              <a:rPr lang="ru-RU" sz="2000" dirty="0"/>
              <a:t>Тем не менее сами объекты </a:t>
            </a:r>
            <a:r>
              <a:rPr lang="en-US" sz="2000" b="1" dirty="0" err="1"/>
              <a:t>nn.Module</a:t>
            </a:r>
            <a:r>
              <a:rPr lang="ru-RU" sz="2000" b="1" dirty="0"/>
              <a:t> </a:t>
            </a:r>
            <a:r>
              <a:rPr lang="ru-RU" sz="2000" dirty="0"/>
              <a:t>внутри себя в конечном итоге вызывают методы из </a:t>
            </a:r>
            <a:r>
              <a:rPr lang="en-US" sz="2000" b="1" dirty="0" err="1"/>
              <a:t>torch.nn.functional</a:t>
            </a:r>
            <a:r>
              <a:rPr lang="ru-RU" sz="2000" dirty="0"/>
              <a:t>.</a:t>
            </a:r>
          </a:p>
          <a:p>
            <a:r>
              <a:rPr lang="ru-RU" sz="2000" dirty="0"/>
              <a:t>Разница заключается в том, что в случае использования </a:t>
            </a:r>
            <a:r>
              <a:rPr lang="en-US" sz="2000" b="1" dirty="0"/>
              <a:t>functional</a:t>
            </a:r>
            <a:r>
              <a:rPr lang="ru-RU" sz="2000" b="1" dirty="0"/>
              <a:t> </a:t>
            </a:r>
            <a:r>
              <a:rPr lang="en-US" sz="2000" b="1" dirty="0"/>
              <a:t>API </a:t>
            </a:r>
            <a:r>
              <a:rPr lang="ru-RU" sz="2000" dirty="0"/>
              <a:t>нам необходимо хранить все параметры самостоятельно, в случае использования </a:t>
            </a:r>
            <a:r>
              <a:rPr lang="en-US" sz="2000" b="1" dirty="0" err="1"/>
              <a:t>nn.Module</a:t>
            </a:r>
            <a:r>
              <a:rPr lang="ru-RU" sz="2000" b="1" dirty="0"/>
              <a:t> </a:t>
            </a:r>
            <a:r>
              <a:rPr lang="ru-RU" sz="2000" dirty="0"/>
              <a:t>параметры хранятся автоматически в атрибутах класса. Сочетание использования обоих подходов делает разработку легкой и позволяет сохранить гибкость в случае необходимости.  </a:t>
            </a:r>
            <a:endParaRPr lang="en-US" sz="2000" dirty="0"/>
          </a:p>
          <a:p>
            <a:endParaRPr lang="ru-RU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196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555F67-88F4-487F-B6E1-B679D043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4" y="1556792"/>
            <a:ext cx="6336704" cy="38495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DD9FD4-608D-4C8B-9B06-A57C91322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32" y="1916832"/>
            <a:ext cx="4820048" cy="334614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142B2F-C32F-4783-8736-047F9FDE34EA}"/>
              </a:ext>
            </a:extLst>
          </p:cNvPr>
          <p:cNvCxnSpPr>
            <a:cxnSpLocks/>
          </p:cNvCxnSpPr>
          <p:nvPr/>
        </p:nvCxnSpPr>
        <p:spPr>
          <a:xfrm>
            <a:off x="6886500" y="1844824"/>
            <a:ext cx="0" cy="3600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9A0109-2016-4533-BC77-832661EE4D06}"/>
              </a:ext>
            </a:extLst>
          </p:cNvPr>
          <p:cNvSpPr txBox="1"/>
          <p:nvPr/>
        </p:nvSpPr>
        <p:spPr>
          <a:xfrm>
            <a:off x="189756" y="268393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torch.nn</a:t>
            </a:r>
            <a:r>
              <a:rPr lang="en-US" sz="3200" b="1" dirty="0"/>
              <a:t> vs. </a:t>
            </a:r>
            <a:r>
              <a:rPr lang="en-US" sz="3200" b="1" dirty="0" err="1"/>
              <a:t>torch.nn.functional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1893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5A19B-83D8-470E-9099-D82E4A5CAE5F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Инициализация параметров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B1A0B6-0025-40BB-A56D-E4F500457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60" y="900766"/>
            <a:ext cx="5007272" cy="4472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1226F7-9103-4FF4-9B54-6A6A256EE9A2}"/>
              </a:ext>
            </a:extLst>
          </p:cNvPr>
          <p:cNvSpPr txBox="1"/>
          <p:nvPr/>
        </p:nvSpPr>
        <p:spPr>
          <a:xfrm>
            <a:off x="117748" y="1196753"/>
            <a:ext cx="60486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Модуль </a:t>
            </a:r>
            <a:r>
              <a:rPr lang="en-US" sz="2400" b="1" dirty="0" err="1"/>
              <a:t>torch.nn.init</a:t>
            </a:r>
            <a:r>
              <a:rPr lang="ru-RU" sz="2400" b="1" dirty="0"/>
              <a:t> </a:t>
            </a:r>
            <a:r>
              <a:rPr lang="ru-RU" sz="2400" dirty="0"/>
              <a:t>позволяет осуществить начальную инициализацию параметров</a:t>
            </a:r>
            <a:r>
              <a:rPr lang="en-US" sz="2400" dirty="0"/>
              <a:t> </a:t>
            </a:r>
            <a:r>
              <a:rPr lang="ru-RU" sz="2400" dirty="0"/>
              <a:t>операций имеющих настраиваемые параметры.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torch.nn.init.constant</a:t>
            </a:r>
            <a:r>
              <a:rPr lang="en-US" sz="2400" b="1" dirty="0"/>
              <a:t>_</a:t>
            </a:r>
            <a:r>
              <a:rPr lang="ru-RU" sz="2400" dirty="0"/>
              <a:t> - все значения одинаковые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torch.nn.init.normal</a:t>
            </a:r>
            <a:r>
              <a:rPr lang="en-US" sz="2400" b="1" dirty="0"/>
              <a:t>_</a:t>
            </a:r>
            <a:r>
              <a:rPr lang="ru-RU" sz="2400" b="1" dirty="0"/>
              <a:t> </a:t>
            </a:r>
            <a:r>
              <a:rPr lang="ru-RU" sz="2400" dirty="0"/>
              <a:t>- инициализация параметров из нормального распределения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torch.nn.init.kaiming_uniform</a:t>
            </a:r>
            <a:r>
              <a:rPr lang="en-US" sz="2400" b="1" dirty="0"/>
              <a:t>_</a:t>
            </a:r>
            <a:r>
              <a:rPr lang="ru-RU" sz="2400" b="1" dirty="0"/>
              <a:t> </a:t>
            </a:r>
            <a:r>
              <a:rPr lang="ru-RU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torch.nn.init.orthogonal</a:t>
            </a:r>
            <a:r>
              <a:rPr lang="en-US" sz="2400" b="1" dirty="0"/>
              <a:t>_</a:t>
            </a:r>
            <a:r>
              <a:rPr lang="ru-RU" sz="2400" b="1" dirty="0"/>
              <a:t> 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torch.nn.init.eye</a:t>
            </a:r>
            <a:r>
              <a:rPr lang="en-US" sz="2400" b="1" dirty="0"/>
              <a:t>_</a:t>
            </a:r>
            <a:r>
              <a:rPr lang="ru-RU" sz="2400" b="1" dirty="0"/>
              <a:t> </a:t>
            </a:r>
            <a:r>
              <a:rPr lang="ru-RU" sz="2400" dirty="0"/>
              <a:t>- диагональная инициализация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21973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7D00D6-E9FC-4C13-A25B-AE25E2232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58647"/>
            <a:ext cx="12188825" cy="45346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25A34-93E2-4344-BD47-BD57601A8C9B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Процесс обучения нейронной сети</a:t>
            </a:r>
          </a:p>
        </p:txBody>
      </p:sp>
    </p:spTree>
    <p:extLst>
      <p:ext uri="{BB962C8B-B14F-4D97-AF65-F5344CB8AC3E}">
        <p14:creationId xmlns:p14="http://schemas.microsoft.com/office/powerpoint/2010/main" val="287999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45CC2-31AA-412E-93D5-DEA36760CAA1}"/>
              </a:ext>
            </a:extLst>
          </p:cNvPr>
          <p:cNvSpPr txBox="1"/>
          <p:nvPr/>
        </p:nvSpPr>
        <p:spPr>
          <a:xfrm>
            <a:off x="117748" y="974333"/>
            <a:ext cx="56166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Определение состава нейронной сети имеющей настраиваемые параметры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Итерирование по набору входящих элементов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Прохождение входящих данных через нейронную сеть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Расчет ошибки (насколько далеко предсказание нейронной сети оказалось от реальности)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Расчет градиентов в каждой операции на основе ошибки предсказания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Обновление параметров нейронной сети на величину рассчитанных градиентов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A0EBD-C63C-474B-AC67-6F7A2A259772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Процесс обучения в </a:t>
            </a:r>
            <a:r>
              <a:rPr lang="en-US" sz="3200" b="1" dirty="0" err="1"/>
              <a:t>PyTorch</a:t>
            </a:r>
            <a:endParaRPr lang="ru-RU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D81B3-61B7-4620-A658-F4794636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72" y="476672"/>
            <a:ext cx="62103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7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884319-9C1A-464D-942D-17A2EA03F2A2}"/>
              </a:ext>
            </a:extLst>
          </p:cNvPr>
          <p:cNvSpPr txBox="1"/>
          <p:nvPr/>
        </p:nvSpPr>
        <p:spPr>
          <a:xfrm>
            <a:off x="261764" y="1075958"/>
            <a:ext cx="113772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Часто его ошибочно принимают за механизм позволяющий локально отключить расчет градиентов </a:t>
            </a:r>
            <a:r>
              <a:rPr lang="en-US" sz="2400" dirty="0" err="1"/>
              <a:t>torch.no_grad</a:t>
            </a:r>
            <a:r>
              <a:rPr lang="en-US" sz="2400" dirty="0"/>
              <a:t>()</a:t>
            </a:r>
            <a:r>
              <a:rPr lang="ru-RU" sz="2400" dirty="0"/>
              <a:t>. Технически </a:t>
            </a:r>
            <a:r>
              <a:rPr lang="en-US" sz="2400" dirty="0" err="1"/>
              <a:t>module.eval</a:t>
            </a:r>
            <a:r>
              <a:rPr lang="en-US" sz="2400" dirty="0"/>
              <a:t>()</a:t>
            </a:r>
            <a:r>
              <a:rPr lang="ru-RU" sz="2400" dirty="0"/>
              <a:t> (так же, как и </a:t>
            </a:r>
            <a:r>
              <a:rPr lang="en-US" sz="2400" dirty="0" err="1"/>
              <a:t>module.train</a:t>
            </a:r>
            <a:r>
              <a:rPr lang="en-US" sz="2400" dirty="0"/>
              <a:t>()</a:t>
            </a:r>
            <a:r>
              <a:rPr lang="ru-RU" sz="2400" dirty="0"/>
              <a:t>) не имеет ничего общего с </a:t>
            </a:r>
            <a:r>
              <a:rPr lang="en-US" sz="2400" dirty="0"/>
              <a:t>no-grad</a:t>
            </a:r>
            <a:r>
              <a:rPr lang="ru-RU" sz="2400" dirty="0"/>
              <a:t> режимом.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То, как </a:t>
            </a:r>
            <a:r>
              <a:rPr lang="en-US" sz="2400" dirty="0" err="1"/>
              <a:t>model.eval</a:t>
            </a:r>
            <a:r>
              <a:rPr lang="en-US" sz="2400" dirty="0"/>
              <a:t>() </a:t>
            </a:r>
            <a:r>
              <a:rPr lang="ru-RU" sz="2400" dirty="0"/>
              <a:t>влияет на модель нейронной сети полностью зависит от конкретных операций, используемых в составе сети и то имеют ли они какое-либо специфическое для режима обучения поведение.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в модели присутствуют модули </a:t>
            </a:r>
            <a:r>
              <a:rPr lang="en-US" sz="2400" dirty="0" err="1"/>
              <a:t>torch.nn.Dropout</a:t>
            </a:r>
            <a:r>
              <a:rPr lang="en-US" sz="2400" dirty="0"/>
              <a:t> </a:t>
            </a:r>
            <a:r>
              <a:rPr lang="ru-RU" sz="2400" dirty="0"/>
              <a:t>и</a:t>
            </a:r>
            <a:r>
              <a:rPr lang="en-US" sz="2400" dirty="0"/>
              <a:t> torch.nn.BatchNorm2d</a:t>
            </a:r>
            <a:r>
              <a:rPr lang="ru-RU" sz="2400" dirty="0"/>
              <a:t>, то они ведут себя различным образом в режиме обучения и оценивания. Режим оценивания в </a:t>
            </a:r>
            <a:r>
              <a:rPr lang="en-US" sz="2400" dirty="0" err="1"/>
              <a:t>BatchNorm</a:t>
            </a:r>
            <a:r>
              <a:rPr lang="ru-RU" sz="2400" dirty="0"/>
              <a:t> исключает обновление текущих статистик.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Рекомендуется всегда переключать модель в </a:t>
            </a:r>
            <a:r>
              <a:rPr lang="en-US" sz="2400" dirty="0" err="1"/>
              <a:t>model.train</a:t>
            </a:r>
            <a:r>
              <a:rPr lang="en-US" sz="2400" dirty="0"/>
              <a:t>() </a:t>
            </a:r>
            <a:r>
              <a:rPr lang="ru-RU" sz="2400" dirty="0"/>
              <a:t>при настройке параметров и в </a:t>
            </a:r>
            <a:r>
              <a:rPr lang="en-US" sz="2400" dirty="0" err="1"/>
              <a:t>model.eval</a:t>
            </a:r>
            <a:r>
              <a:rPr lang="en-US" sz="2400" dirty="0"/>
              <a:t>()</a:t>
            </a:r>
            <a:r>
              <a:rPr lang="ru-RU" sz="2400" dirty="0"/>
              <a:t> при </a:t>
            </a:r>
            <a:r>
              <a:rPr lang="ru-RU" sz="2400" dirty="0" err="1"/>
              <a:t>валидации</a:t>
            </a:r>
            <a:r>
              <a:rPr lang="ru-RU" sz="2400" dirty="0"/>
              <a:t> данных, даже если вы уверены в том, что у операций используемых в вашей модели нет специфического поведения в режиме обучения. </a:t>
            </a:r>
            <a:r>
              <a:rPr lang="en-US" sz="2400" dirty="0"/>
              <a:t> </a:t>
            </a:r>
            <a:endParaRPr lang="ru-RU" sz="2400" dirty="0"/>
          </a:p>
          <a:p>
            <a:r>
              <a:rPr lang="ru-R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60B77-28A1-488E-8A83-CF9E6FFB3862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nn.Module.eval</a:t>
            </a:r>
            <a:r>
              <a:rPr lang="en-US" sz="3200" b="1" dirty="0"/>
              <a:t>()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98778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3C750F-C43E-4ED8-86B0-3550C20A3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16" y="955364"/>
            <a:ext cx="6197044" cy="48768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881DEA-0503-415D-92D4-C2F9613B1428}"/>
              </a:ext>
            </a:extLst>
          </p:cNvPr>
          <p:cNvSpPr txBox="1"/>
          <p:nvPr/>
        </p:nvSpPr>
        <p:spPr>
          <a:xfrm>
            <a:off x="142230" y="1136933"/>
            <a:ext cx="55201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torchvision</a:t>
            </a:r>
            <a:r>
              <a:rPr lang="en-US" dirty="0"/>
              <a:t> </a:t>
            </a:r>
            <a:r>
              <a:rPr lang="ru-RU" dirty="0"/>
              <a:t>модуль который включает в себя самые популярные наборы данных, архитектуры моделей, основные преобразования применяемые для обработки изображений в </a:t>
            </a:r>
            <a:r>
              <a:rPr lang="en-US" dirty="0"/>
              <a:t>Computer Vision</a:t>
            </a:r>
            <a:r>
              <a:rPr lang="ru-RU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наборы данных, включенные в состав </a:t>
            </a:r>
            <a:r>
              <a:rPr lang="en-US" b="1" dirty="0" err="1"/>
              <a:t>torchvision</a:t>
            </a:r>
            <a:r>
              <a:rPr lang="ru-RU" dirty="0"/>
              <a:t> (среди них </a:t>
            </a:r>
            <a:r>
              <a:rPr lang="en-US" dirty="0"/>
              <a:t>MNIST, ImageNet, CIFAR </a:t>
            </a:r>
            <a:r>
              <a:rPr lang="ru-RU" dirty="0"/>
              <a:t>и др.) имеют два общих параметра </a:t>
            </a:r>
          </a:p>
          <a:p>
            <a:r>
              <a:rPr lang="en-US" dirty="0"/>
              <a:t>- </a:t>
            </a:r>
            <a:r>
              <a:rPr lang="en-US" b="1" dirty="0"/>
              <a:t>transform</a:t>
            </a:r>
            <a:r>
              <a:rPr lang="en-US" dirty="0"/>
              <a:t> </a:t>
            </a:r>
            <a:r>
              <a:rPr lang="ru-RU" dirty="0"/>
              <a:t>: для преобразования входящих данных</a:t>
            </a:r>
            <a:endParaRPr lang="en-US" dirty="0"/>
          </a:p>
          <a:p>
            <a:r>
              <a:rPr lang="en-US" dirty="0"/>
              <a:t> - </a:t>
            </a:r>
            <a:r>
              <a:rPr lang="en-US" b="1" dirty="0" err="1"/>
              <a:t>target_transform</a:t>
            </a:r>
            <a:r>
              <a:rPr lang="en-US" b="1" dirty="0"/>
              <a:t> </a:t>
            </a:r>
            <a:r>
              <a:rPr lang="ru-RU" dirty="0"/>
              <a:t>: для преобразования эталонов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Взятые из </a:t>
            </a:r>
            <a:r>
              <a:rPr lang="en-US" b="1" dirty="0" err="1"/>
              <a:t>torchvision</a:t>
            </a:r>
            <a:r>
              <a:rPr lang="ru-RU" dirty="0"/>
              <a:t> наборы данных могут быть переданы в </a:t>
            </a:r>
            <a:r>
              <a:rPr lang="en-US" b="1" dirty="0" err="1"/>
              <a:t>torch.utils.data.DataLoader</a:t>
            </a:r>
            <a:r>
              <a:rPr lang="ru-RU" dirty="0"/>
              <a:t>, </a:t>
            </a:r>
            <a:r>
              <a:rPr lang="ru-RU" dirty="0" err="1"/>
              <a:t>которы</a:t>
            </a:r>
            <a:r>
              <a:rPr lang="ru-RU" dirty="0"/>
              <a:t> преобразует набор данных в совместимый с </a:t>
            </a:r>
            <a:r>
              <a:rPr lang="en-US" dirty="0"/>
              <a:t>torch </a:t>
            </a:r>
            <a:r>
              <a:rPr lang="ru-RU" dirty="0"/>
              <a:t>формат.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Полученную структуру можно в свою очередь передать в </a:t>
            </a:r>
            <a:r>
              <a:rPr lang="en-US" b="1" dirty="0" err="1"/>
              <a:t>torch.multiprocessing</a:t>
            </a:r>
            <a:r>
              <a:rPr lang="en-US" b="1" dirty="0"/>
              <a:t> </a:t>
            </a:r>
            <a:r>
              <a:rPr lang="ru-RU" dirty="0"/>
              <a:t>для параллельной обработки несколькими потоками 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F36C2-F00B-4B51-88BB-C2F9139AA67E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torchvision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46391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A1F339-9DFF-4FC9-A895-38EFE0DD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204" y="836712"/>
            <a:ext cx="7953639" cy="5256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9D39BE-ECB2-4426-8509-9E54D3F3E1C3}"/>
              </a:ext>
            </a:extLst>
          </p:cNvPr>
          <p:cNvSpPr txBox="1"/>
          <p:nvPr/>
        </p:nvSpPr>
        <p:spPr>
          <a:xfrm>
            <a:off x="189756" y="836712"/>
            <a:ext cx="38164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TensorBoard</a:t>
            </a:r>
            <a:r>
              <a:rPr lang="en-US" sz="2000" dirty="0"/>
              <a:t> </a:t>
            </a:r>
            <a:r>
              <a:rPr lang="ru-RU" sz="2000" dirty="0"/>
              <a:t>это популярный  инструмент для </a:t>
            </a:r>
            <a:r>
              <a:rPr lang="ru-RU" sz="2000" dirty="0" err="1"/>
              <a:t>логирования</a:t>
            </a:r>
            <a:r>
              <a:rPr lang="ru-RU" sz="2000" dirty="0"/>
              <a:t> и визуализации  для обучения нейронных сетей с графическим интерфейсом</a:t>
            </a:r>
            <a:r>
              <a:rPr lang="en-US" sz="2000" dirty="0"/>
              <a:t> </a:t>
            </a:r>
            <a:r>
              <a:rPr lang="ru-RU" sz="2000" dirty="0"/>
              <a:t>изначально созданный внутри </a:t>
            </a:r>
            <a:r>
              <a:rPr lang="en-US" sz="2000" dirty="0"/>
              <a:t>TensorFlow</a:t>
            </a:r>
            <a:r>
              <a:rPr lang="ru-RU" sz="2000" dirty="0"/>
              <a:t>. Запускается в браузере, позволяет получить информацию в виде графиков.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1712E-AB44-4CF4-A14F-EDE47692F127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TensorBoard</a:t>
            </a:r>
            <a:endParaRPr lang="ru-RU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70D4A-C9B2-4B6E-8EF5-6E172F9AAD4B}"/>
              </a:ext>
            </a:extLst>
          </p:cNvPr>
          <p:cNvSpPr txBox="1"/>
          <p:nvPr/>
        </p:nvSpPr>
        <p:spPr>
          <a:xfrm>
            <a:off x="45740" y="3861048"/>
            <a:ext cx="48965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Bahnschrift SemiBold" panose="020B0502040204020203" pitchFamily="34" charset="0"/>
              </a:rPr>
              <a:t>from </a:t>
            </a:r>
            <a:r>
              <a:rPr lang="en-US" sz="1400" i="1" dirty="0" err="1">
                <a:latin typeface="Bahnschrift SemiBold" panose="020B0502040204020203" pitchFamily="34" charset="0"/>
              </a:rPr>
              <a:t>torch.utils.tensorboard</a:t>
            </a:r>
            <a:r>
              <a:rPr lang="en-US" sz="1400" i="1" dirty="0">
                <a:latin typeface="Bahnschrift SemiBold" panose="020B0502040204020203" pitchFamily="34" charset="0"/>
              </a:rPr>
              <a:t> import </a:t>
            </a:r>
            <a:r>
              <a:rPr lang="en-US" sz="1400" i="1" dirty="0" err="1">
                <a:latin typeface="Bahnschrift SemiBold" panose="020B0502040204020203" pitchFamily="34" charset="0"/>
              </a:rPr>
              <a:t>SummaryWriter</a:t>
            </a:r>
            <a:endParaRPr lang="ru-RU" sz="1400" i="1" dirty="0">
              <a:latin typeface="Bahnschrift SemiBold" panose="020B0502040204020203" pitchFamily="34" charset="0"/>
            </a:endParaRPr>
          </a:p>
          <a:p>
            <a:endParaRPr lang="en-US" sz="1400" i="1" dirty="0">
              <a:latin typeface="Bahnschrift SemiBold" panose="020B0502040204020203" pitchFamily="34" charset="0"/>
            </a:endParaRPr>
          </a:p>
          <a:p>
            <a:r>
              <a:rPr lang="en-US" sz="1400" i="1" dirty="0">
                <a:latin typeface="Bahnschrift SemiBold" panose="020B0502040204020203" pitchFamily="34" charset="0"/>
              </a:rPr>
              <a:t>writer = </a:t>
            </a:r>
            <a:r>
              <a:rPr lang="en-US" sz="1400" i="1" dirty="0" err="1">
                <a:latin typeface="Bahnschrift SemiBold" panose="020B0502040204020203" pitchFamily="34" charset="0"/>
              </a:rPr>
              <a:t>SummaryWriter</a:t>
            </a:r>
            <a:r>
              <a:rPr lang="en-US" sz="1400" i="1" dirty="0">
                <a:latin typeface="Bahnschrift SemiBold" panose="020B0502040204020203" pitchFamily="34" charset="0"/>
              </a:rPr>
              <a:t>(</a:t>
            </a:r>
            <a:r>
              <a:rPr lang="en-US" sz="1400" i="1" dirty="0" err="1">
                <a:latin typeface="Bahnschrift SemiBold" panose="020B0502040204020203" pitchFamily="34" charset="0"/>
              </a:rPr>
              <a:t>logging_dir</a:t>
            </a:r>
            <a:r>
              <a:rPr lang="en-US" sz="1400" i="1" dirty="0">
                <a:latin typeface="Bahnschrift SemiBold" panose="020B0502040204020203" pitchFamily="34" charset="0"/>
              </a:rPr>
              <a:t>)</a:t>
            </a:r>
            <a:endParaRPr lang="ru-RU" sz="1400" i="1" dirty="0">
              <a:latin typeface="Bahnschrift SemiBold" panose="020B0502040204020203" pitchFamily="34" charset="0"/>
            </a:endParaRPr>
          </a:p>
          <a:p>
            <a:endParaRPr lang="en-US" sz="1400" i="1" dirty="0">
              <a:latin typeface="Bahnschrift SemiBold" panose="020B0502040204020203" pitchFamily="34" charset="0"/>
            </a:endParaRPr>
          </a:p>
          <a:p>
            <a:r>
              <a:rPr lang="en-US" sz="1400" i="1" dirty="0">
                <a:latin typeface="Bahnschrift SemiBold" panose="020B0502040204020203" pitchFamily="34" charset="0"/>
              </a:rPr>
              <a:t>for epoch in range(10000): </a:t>
            </a:r>
          </a:p>
          <a:p>
            <a:r>
              <a:rPr lang="en-US" sz="1400" i="1" dirty="0">
                <a:latin typeface="Bahnschrift SemiBold" panose="020B0502040204020203" pitchFamily="34" charset="0"/>
              </a:rPr>
              <a:t>…. #compute loss</a:t>
            </a:r>
            <a:endParaRPr lang="ru-RU" sz="1400" i="1" dirty="0">
              <a:latin typeface="Bahnschrift SemiBold" panose="020B0502040204020203" pitchFamily="34" charset="0"/>
            </a:endParaRPr>
          </a:p>
          <a:p>
            <a:r>
              <a:rPr lang="en-US" sz="1400" i="1" dirty="0">
                <a:latin typeface="Bahnschrift SemiBold" panose="020B0502040204020203" pitchFamily="34" charset="0"/>
              </a:rPr>
              <a:t>	</a:t>
            </a:r>
            <a:r>
              <a:rPr lang="en-US" sz="1400" i="1" dirty="0" err="1">
                <a:latin typeface="Bahnschrift SemiBold" panose="020B0502040204020203" pitchFamily="34" charset="0"/>
              </a:rPr>
              <a:t>writer.add_scalar</a:t>
            </a:r>
            <a:r>
              <a:rPr lang="en-US" sz="1400" i="1" dirty="0">
                <a:latin typeface="Bahnschrift SemiBold" panose="020B0502040204020203" pitchFamily="34" charset="0"/>
              </a:rPr>
              <a:t>('</a:t>
            </a:r>
            <a:r>
              <a:rPr lang="en-US" sz="1400" i="1" dirty="0" err="1">
                <a:latin typeface="Bahnschrift SemiBold" panose="020B0502040204020203" pitchFamily="34" charset="0"/>
              </a:rPr>
              <a:t>training_loss</a:t>
            </a:r>
            <a:r>
              <a:rPr lang="en-US" sz="1400" i="1" dirty="0">
                <a:latin typeface="Bahnschrift SemiBold" panose="020B0502040204020203" pitchFamily="34" charset="0"/>
              </a:rPr>
              <a:t>’, </a:t>
            </a:r>
          </a:p>
          <a:p>
            <a:r>
              <a:rPr lang="en-US" sz="1400" i="1" dirty="0">
                <a:latin typeface="Bahnschrift SemiBold" panose="020B0502040204020203" pitchFamily="34" charset="0"/>
              </a:rPr>
              <a:t>				</a:t>
            </a:r>
            <a:r>
              <a:rPr lang="en-US" sz="1400" i="1" dirty="0" err="1">
                <a:latin typeface="Bahnschrift SemiBold" panose="020B0502040204020203" pitchFamily="34" charset="0"/>
              </a:rPr>
              <a:t>epoch_loss</a:t>
            </a:r>
            <a:r>
              <a:rPr lang="en-US" sz="1400" i="1" dirty="0">
                <a:latin typeface="Bahnschrift SemiBold" panose="020B0502040204020203" pitchFamily="34" charset="0"/>
              </a:rPr>
              <a:t>, </a:t>
            </a:r>
          </a:p>
          <a:p>
            <a:r>
              <a:rPr lang="en-US" sz="1400" i="1" dirty="0">
                <a:latin typeface="Bahnschrift SemiBold" panose="020B0502040204020203" pitchFamily="34" charset="0"/>
              </a:rPr>
              <a:t>				</a:t>
            </a:r>
            <a:r>
              <a:rPr lang="en-US" sz="1400" i="1" dirty="0" err="1">
                <a:latin typeface="Bahnschrift SemiBold" panose="020B0502040204020203" pitchFamily="34" charset="0"/>
              </a:rPr>
              <a:t>global_step</a:t>
            </a:r>
            <a:r>
              <a:rPr lang="en-US" sz="1400" i="1" dirty="0">
                <a:latin typeface="Bahnschrift SemiBold" panose="020B0502040204020203" pitchFamily="34" charset="0"/>
              </a:rPr>
              <a:t> = epoch + 1)</a:t>
            </a:r>
            <a:endParaRPr lang="ru-RU" sz="1400" i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88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1BF22-B171-473D-BC3B-BDDDD5A3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694" y="44624"/>
            <a:ext cx="5878390" cy="2152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48C8D1-500D-474F-9EB1-F2D3E5861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23" y="4505712"/>
            <a:ext cx="6029197" cy="173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AE6055-2383-4099-B1D2-84BFE84F51A6}"/>
              </a:ext>
            </a:extLst>
          </p:cNvPr>
          <p:cNvSpPr txBox="1"/>
          <p:nvPr/>
        </p:nvSpPr>
        <p:spPr>
          <a:xfrm>
            <a:off x="6310436" y="2132856"/>
            <a:ext cx="58783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Graph:</a:t>
            </a:r>
            <a:r>
              <a:rPr lang="en-US" dirty="0"/>
              <a:t> </a:t>
            </a:r>
            <a:r>
              <a:rPr lang="ru-RU" dirty="0"/>
              <a:t>Управление жизненным циклом вычислительного графа передается на более низкий уровень, это необходимо для выполнения работы компилятора по оптимизации. И процесс запущенный в </a:t>
            </a:r>
            <a:r>
              <a:rPr lang="en-US" dirty="0"/>
              <a:t>python</a:t>
            </a:r>
            <a:r>
              <a:rPr lang="ru-RU" dirty="0"/>
              <a:t> уже не контролирует ход это процедуры, ожидая её завершения и возвращения контроля себе. </a:t>
            </a:r>
          </a:p>
          <a:p>
            <a:r>
              <a:rPr lang="ru-RU" dirty="0"/>
              <a:t>Реализация </a:t>
            </a:r>
            <a:r>
              <a:rPr lang="en-US" dirty="0"/>
              <a:t>graph </a:t>
            </a:r>
            <a:r>
              <a:rPr lang="ru-RU" dirty="0"/>
              <a:t>работает</a:t>
            </a:r>
            <a:r>
              <a:rPr lang="en-US" dirty="0"/>
              <a:t> </a:t>
            </a:r>
            <a:r>
              <a:rPr lang="ru-RU" dirty="0"/>
              <a:t>быстрее чем</a:t>
            </a:r>
            <a:r>
              <a:rPr lang="en-US" dirty="0"/>
              <a:t> eager</a:t>
            </a:r>
            <a:r>
              <a:rPr lang="ru-RU" dirty="0"/>
              <a:t>, граф создается только один раз и сразу же оптимизируется, что не возможно при реализации </a:t>
            </a:r>
            <a:r>
              <a:rPr lang="en-US" dirty="0"/>
              <a:t>eager</a:t>
            </a:r>
            <a:r>
              <a:rPr lang="ru-RU" dirty="0"/>
              <a:t>. Тем не менее, этот эффект лишает пользователя определенных возможностей. Отладка более не возможна в </a:t>
            </a:r>
            <a:r>
              <a:rPr lang="en-US" dirty="0"/>
              <a:t>python</a:t>
            </a:r>
            <a:r>
              <a:rPr lang="ru-RU" dirty="0"/>
              <a:t>, так как управление передано на уровень С++. Сопоставить ошибки в процессах протекающих в </a:t>
            </a:r>
            <a:r>
              <a:rPr lang="en-US" dirty="0"/>
              <a:t>python </a:t>
            </a:r>
            <a:r>
              <a:rPr lang="ru-RU" dirty="0"/>
              <a:t>и С++ становится неочевидной задачей, что крайне сильно усложняет работу пользователя. 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EA3F-A0E1-4265-A7D5-431FCBFF2867}"/>
              </a:ext>
            </a:extLst>
          </p:cNvPr>
          <p:cNvSpPr txBox="1"/>
          <p:nvPr/>
        </p:nvSpPr>
        <p:spPr>
          <a:xfrm>
            <a:off x="189755" y="773414"/>
            <a:ext cx="60291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Eager:</a:t>
            </a:r>
            <a:r>
              <a:rPr lang="en-US" dirty="0"/>
              <a:t> </a:t>
            </a:r>
            <a:r>
              <a:rPr lang="ru-RU" dirty="0"/>
              <a:t>Вычислительный граф строится в процессе выполнения кода. В каждой итерации во время прямого хода вычислений происходит создание вычислительного графа модели нейронной сети при помощи модуля </a:t>
            </a:r>
            <a:r>
              <a:rPr lang="en-US" dirty="0" err="1"/>
              <a:t>autograd</a:t>
            </a:r>
            <a:r>
              <a:rPr lang="en-US" dirty="0"/>
              <a:t>. </a:t>
            </a:r>
            <a:r>
              <a:rPr lang="ru-RU" dirty="0"/>
              <a:t>Последующий вызов </a:t>
            </a:r>
            <a:r>
              <a:rPr lang="en-US" dirty="0"/>
              <a:t>backward()</a:t>
            </a:r>
            <a:r>
              <a:rPr lang="ru-RU" dirty="0"/>
              <a:t> использует полученный граф для выполнения своей логики и уничтожает его по окончании вычислений. Все математические операции требующие быстрых вычислений исполняются в С++ или </a:t>
            </a:r>
            <a:r>
              <a:rPr lang="en-US" dirty="0"/>
              <a:t>CUDA </a:t>
            </a:r>
            <a:r>
              <a:rPr lang="ru-RU" dirty="0"/>
              <a:t>ядрах, но все остальные операции доступны из процесса запущенного в </a:t>
            </a:r>
            <a:r>
              <a:rPr lang="en-US" dirty="0"/>
              <a:t>python </a:t>
            </a:r>
            <a:r>
              <a:rPr lang="ru-RU" dirty="0"/>
              <a:t>и именно этот процесс контролирует все этапы существования вычислительного графа. Отладка кода становится простой из </a:t>
            </a:r>
            <a:r>
              <a:rPr lang="en-US" dirty="0"/>
              <a:t>python.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42A38-0493-4153-9019-21BC8A09384A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Eager vs. graph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59474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D78F12-E14A-4954-9B8C-CDE3A4124FE4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torch.jit</a:t>
            </a:r>
            <a:endParaRPr lang="ru-RU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634F7-65A6-48DB-BE3F-17E6B4F29BE7}"/>
              </a:ext>
            </a:extLst>
          </p:cNvPr>
          <p:cNvSpPr txBox="1"/>
          <p:nvPr/>
        </p:nvSpPr>
        <p:spPr>
          <a:xfrm>
            <a:off x="189756" y="972011"/>
            <a:ext cx="67207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</a:t>
            </a:r>
            <a:r>
              <a:rPr lang="en-US" sz="2000" b="1" dirty="0" err="1"/>
              <a:t>PyTorch</a:t>
            </a:r>
            <a:r>
              <a:rPr lang="en-US" sz="2000" dirty="0"/>
              <a:t> </a:t>
            </a:r>
            <a:r>
              <a:rPr lang="ru-RU" sz="2000" dirty="0"/>
              <a:t>модуль </a:t>
            </a:r>
            <a:r>
              <a:rPr lang="en-US" sz="2000" b="1" dirty="0"/>
              <a:t>JIT</a:t>
            </a:r>
            <a:r>
              <a:rPr lang="en-US" sz="2000" dirty="0"/>
              <a:t> </a:t>
            </a:r>
            <a:r>
              <a:rPr lang="ru-RU" sz="2000" dirty="0"/>
              <a:t>может быть использован в нескольких режимах </a:t>
            </a:r>
            <a:r>
              <a:rPr lang="en-US" sz="2000" dirty="0"/>
              <a:t>scripting</a:t>
            </a:r>
            <a:r>
              <a:rPr lang="ru-RU" sz="2000" dirty="0"/>
              <a:t> и </a:t>
            </a:r>
            <a:r>
              <a:rPr lang="en-US" sz="2000" dirty="0"/>
              <a:t>tracing</a:t>
            </a:r>
            <a:r>
              <a:rPr lang="ru-RU" sz="2000" dirty="0"/>
              <a:t>. Для использования первого необходимо создать объект класса </a:t>
            </a:r>
            <a:r>
              <a:rPr lang="en-US" sz="2000" b="1" dirty="0" err="1"/>
              <a:t>jit.ScriptModule</a:t>
            </a:r>
            <a:r>
              <a:rPr lang="en-US" sz="2000" b="1" dirty="0"/>
              <a:t> </a:t>
            </a:r>
            <a:r>
              <a:rPr lang="ru-RU" sz="2000" dirty="0"/>
              <a:t>и декоратор</a:t>
            </a:r>
            <a:r>
              <a:rPr lang="en-US" sz="2000" dirty="0"/>
              <a:t> </a:t>
            </a:r>
            <a:r>
              <a:rPr lang="en-US" sz="2000" b="1" dirty="0"/>
              <a:t>@</a:t>
            </a:r>
            <a:r>
              <a:rPr lang="en-US" sz="2000" b="1" dirty="0" err="1"/>
              <a:t>torch.jit.script_method</a:t>
            </a:r>
            <a:r>
              <a:rPr lang="ru-RU" sz="2000" b="1" dirty="0"/>
              <a:t> </a:t>
            </a:r>
            <a:r>
              <a:rPr lang="ru-RU" sz="2000" dirty="0"/>
              <a:t>это явным образом оборачивает модуль с поддерживающую компиляцию функцию </a:t>
            </a:r>
            <a:r>
              <a:rPr lang="en-US" sz="2000" b="1" dirty="0" err="1"/>
              <a:t>TorchScript</a:t>
            </a:r>
            <a:r>
              <a:rPr lang="ru-RU" sz="2000" dirty="0"/>
              <a:t>. </a:t>
            </a:r>
          </a:p>
          <a:p>
            <a:endParaRPr lang="ru-RU" sz="2000" dirty="0"/>
          </a:p>
          <a:p>
            <a:r>
              <a:rPr lang="ru-RU" sz="2000" dirty="0"/>
              <a:t>После инициализации объекта </a:t>
            </a:r>
            <a:r>
              <a:rPr lang="en-US" sz="2000" dirty="0" err="1"/>
              <a:t>MyModule</a:t>
            </a:r>
            <a:r>
              <a:rPr lang="en-US" sz="2000" dirty="0"/>
              <a:t> </a:t>
            </a:r>
            <a:r>
              <a:rPr lang="ru-RU" sz="2000" dirty="0"/>
              <a:t>он будет объектом </a:t>
            </a:r>
            <a:r>
              <a:rPr lang="en-US" sz="2000" dirty="0"/>
              <a:t>Python</a:t>
            </a:r>
            <a:r>
              <a:rPr lang="ru-RU" sz="2000" dirty="0"/>
              <a:t>, но почти весь его код будет выполнятся в С++. </a:t>
            </a:r>
            <a:r>
              <a:rPr lang="en-US" sz="2000" b="1" dirty="0" err="1"/>
              <a:t>TorchScript</a:t>
            </a:r>
            <a:r>
              <a:rPr lang="ru-RU" sz="2000" dirty="0"/>
              <a:t> это объектом </a:t>
            </a:r>
            <a:r>
              <a:rPr lang="en-US" sz="2000" dirty="0"/>
              <a:t>Python</a:t>
            </a:r>
            <a:r>
              <a:rPr lang="ru-RU" sz="2000" dirty="0"/>
              <a:t>, который </a:t>
            </a:r>
            <a:r>
              <a:rPr lang="en-US" sz="2000" b="1" dirty="0" err="1"/>
              <a:t>PyTorch</a:t>
            </a:r>
            <a:r>
              <a:rPr lang="ru-RU" sz="2000" dirty="0"/>
              <a:t> умеет динамически проверять и преобразовывать в код ядра во время исполнения. Оптимизация налагает некоторые ограничения на код. Например циклы невозможны с </a:t>
            </a:r>
            <a:r>
              <a:rPr lang="en-US" sz="2000" dirty="0"/>
              <a:t>list</a:t>
            </a:r>
            <a:r>
              <a:rPr lang="ru-RU" sz="2000" dirty="0"/>
              <a:t>, только с</a:t>
            </a:r>
            <a:r>
              <a:rPr lang="en-US" sz="2000" dirty="0"/>
              <a:t> tuple</a:t>
            </a:r>
            <a:r>
              <a:rPr lang="ru-RU" sz="2000" dirty="0"/>
              <a:t>. </a:t>
            </a:r>
          </a:p>
          <a:p>
            <a:endParaRPr lang="ru-R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56ECE-C3A2-4589-A951-11A81EE4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72" y="773414"/>
            <a:ext cx="5021823" cy="4095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90B766-C26B-4A7A-BDBB-44FA46F57ED9}"/>
              </a:ext>
            </a:extLst>
          </p:cNvPr>
          <p:cNvSpPr txBox="1"/>
          <p:nvPr/>
        </p:nvSpPr>
        <p:spPr>
          <a:xfrm>
            <a:off x="189757" y="5301208"/>
            <a:ext cx="11999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Компилятору необходимы гарантии неизменяемости объекта со временем, так как он не сможет сделать разворачивание цикла. По этому операции с </a:t>
            </a:r>
            <a:r>
              <a:rPr lang="en-US" sz="2000" dirty="0"/>
              <a:t>mutable </a:t>
            </a:r>
            <a:r>
              <a:rPr lang="ru-RU" sz="2000" dirty="0"/>
              <a:t>объектами запрещены.</a:t>
            </a:r>
          </a:p>
        </p:txBody>
      </p:sp>
    </p:spTree>
    <p:extLst>
      <p:ext uri="{BB962C8B-B14F-4D97-AF65-F5344CB8AC3E}">
        <p14:creationId xmlns:p14="http://schemas.microsoft.com/office/powerpoint/2010/main" val="252517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FC44D4-5316-46B0-9CE4-C6B4A25F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632" y="736432"/>
            <a:ext cx="6878452" cy="47087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58488-BE37-45B9-BDAB-C5D458879108}"/>
              </a:ext>
            </a:extLst>
          </p:cNvPr>
          <p:cNvSpPr txBox="1"/>
          <p:nvPr/>
        </p:nvSpPr>
        <p:spPr>
          <a:xfrm>
            <a:off x="165253" y="890225"/>
            <a:ext cx="49930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2000" dirty="0"/>
              <a:t>Для работы во втором режиме необходимо использовать </a:t>
            </a:r>
            <a:r>
              <a:rPr lang="en-US" sz="2000" b="1" dirty="0" err="1"/>
              <a:t>torch.jit.trace</a:t>
            </a:r>
            <a:r>
              <a:rPr lang="en-US" sz="2000" b="1" dirty="0"/>
              <a:t> </a:t>
            </a:r>
            <a:r>
              <a:rPr lang="ru-RU" sz="2000" dirty="0"/>
              <a:t>для функций</a:t>
            </a:r>
            <a:r>
              <a:rPr lang="en-US" sz="2000" dirty="0"/>
              <a:t> </a:t>
            </a:r>
            <a:r>
              <a:rPr lang="ru-RU" sz="2000" dirty="0"/>
              <a:t>и </a:t>
            </a:r>
            <a:r>
              <a:rPr lang="en-US" sz="2000" b="1" dirty="0" err="1"/>
              <a:t>torch.jit.trace_module</a:t>
            </a:r>
            <a:r>
              <a:rPr lang="ru-RU" sz="2000" b="1" dirty="0"/>
              <a:t> </a:t>
            </a:r>
            <a:r>
              <a:rPr lang="ru-RU" sz="2000" dirty="0"/>
              <a:t>для модулей. При запуске кода с объектом унаследованным от </a:t>
            </a:r>
            <a:r>
              <a:rPr lang="en-US" sz="2000" dirty="0"/>
              <a:t>trace</a:t>
            </a:r>
            <a:r>
              <a:rPr lang="ru-RU" sz="2000" dirty="0"/>
              <a:t>, </a:t>
            </a:r>
            <a:r>
              <a:rPr lang="en-US" sz="2000" b="1" dirty="0" err="1"/>
              <a:t>PyTorch</a:t>
            </a:r>
            <a:r>
              <a:rPr lang="en-US" sz="2000" dirty="0"/>
              <a:t> </a:t>
            </a:r>
            <a:r>
              <a:rPr lang="ru-RU" sz="2000" dirty="0"/>
              <a:t>отслеживает выполнение кода для создания соответствующего вычислительного графа. Выполняемый код не обязательно должен соответствовать ограничениям </a:t>
            </a:r>
            <a:r>
              <a:rPr lang="en-US" sz="2000" b="1" dirty="0" err="1"/>
              <a:t>TorchScript</a:t>
            </a:r>
            <a:r>
              <a:rPr lang="ru-RU" sz="2000" dirty="0"/>
              <a:t>. </a:t>
            </a:r>
            <a:r>
              <a:rPr lang="en-US" sz="2000" b="1" dirty="0" err="1"/>
              <a:t>PyTorch</a:t>
            </a:r>
            <a:r>
              <a:rPr lang="ru-RU" sz="2000" dirty="0"/>
              <a:t> самостоятельно преобразует </a:t>
            </a:r>
            <a:r>
              <a:rPr lang="en-US" sz="2000" dirty="0"/>
              <a:t>Python</a:t>
            </a:r>
            <a:r>
              <a:rPr lang="ru-RU" sz="2000" dirty="0"/>
              <a:t> код в код </a:t>
            </a:r>
            <a:r>
              <a:rPr lang="en-US" sz="2000" b="1" dirty="0" err="1"/>
              <a:t>TorchScript</a:t>
            </a:r>
            <a:r>
              <a:rPr lang="ru-RU" sz="2000" dirty="0"/>
              <a:t>. После запуска этого кода </a:t>
            </a:r>
            <a:r>
              <a:rPr lang="en-US" sz="2000" b="1" dirty="0" err="1"/>
              <a:t>traced_module</a:t>
            </a:r>
            <a:r>
              <a:rPr lang="ru-RU" sz="2000" b="1" dirty="0"/>
              <a:t> </a:t>
            </a:r>
            <a:r>
              <a:rPr lang="ru-RU" sz="2000" dirty="0"/>
              <a:t>становится компилируемым объектом который практически полностью выполняется в С++.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2634C-D739-47DF-9AD6-9A09AE9D8985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torch.jit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35569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7360B-D299-4183-A27F-FC07EF710075}"/>
              </a:ext>
            </a:extLst>
          </p:cNvPr>
          <p:cNvSpPr txBox="1"/>
          <p:nvPr/>
        </p:nvSpPr>
        <p:spPr>
          <a:xfrm>
            <a:off x="333772" y="1052736"/>
            <a:ext cx="113772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Tracing </a:t>
            </a:r>
            <a:r>
              <a:rPr lang="ru-RU" sz="2000" dirty="0"/>
              <a:t>имеет два ограничения: </a:t>
            </a:r>
          </a:p>
          <a:p>
            <a:pPr fontAlgn="base"/>
            <a:endParaRPr lang="ru-RU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ru-RU" sz="2000" dirty="0"/>
              <a:t>Во-первых, он уничтожает любой контроль потока вычислений. Так любые </a:t>
            </a:r>
            <a:r>
              <a:rPr lang="en-US" sz="2000" dirty="0"/>
              <a:t>if-else</a:t>
            </a:r>
            <a:r>
              <a:rPr lang="ru-RU" sz="2000" dirty="0"/>
              <a:t> в модуле будут оцениваться один раз исключительно в момент компилирования графа, то есть сохранится только одна ветвь выполнения.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ru-RU" sz="2000" dirty="0"/>
              <a:t>Во-вторых, все </a:t>
            </a:r>
            <a:r>
              <a:rPr lang="en-US" sz="2000" dirty="0"/>
              <a:t>for </a:t>
            </a:r>
            <a:r>
              <a:rPr lang="ru-RU" sz="2000" dirty="0"/>
              <a:t>и</a:t>
            </a:r>
            <a:r>
              <a:rPr lang="en-US" sz="2000" dirty="0"/>
              <a:t> while</a:t>
            </a:r>
            <a:r>
              <a:rPr lang="ru-RU" sz="2000" dirty="0"/>
              <a:t> циклы будут развернуты компилятором в последовательность операций фиксированной длины. Изменить этот размер в последствии, возможности не будет. </a:t>
            </a:r>
            <a:r>
              <a:rPr lang="en-US" sz="2000" b="1" dirty="0" err="1"/>
              <a:t>PyTorch</a:t>
            </a:r>
            <a:r>
              <a:rPr lang="en-US" sz="2000" dirty="0"/>
              <a:t> </a:t>
            </a:r>
            <a:r>
              <a:rPr lang="ru-RU" sz="2000" dirty="0"/>
              <a:t>предоставляет возможность справится со второй проблемой при помощи декоратора</a:t>
            </a:r>
            <a:r>
              <a:rPr lang="en-US" sz="2000" dirty="0"/>
              <a:t> </a:t>
            </a:r>
            <a:r>
              <a:rPr lang="en-US" sz="2000" b="1" dirty="0"/>
              <a:t>@</a:t>
            </a:r>
            <a:r>
              <a:rPr lang="en-US" sz="2000" b="1" dirty="0" err="1"/>
              <a:t>torch.jit.unused</a:t>
            </a:r>
            <a:r>
              <a:rPr lang="ru-RU" sz="2000" b="1" dirty="0"/>
              <a:t>. </a:t>
            </a:r>
            <a:r>
              <a:rPr lang="ru-RU" sz="2000" dirty="0"/>
              <a:t>Желаемые операции можно просто исключить из потока вычислений.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ru-RU" sz="2000" dirty="0"/>
              <a:t>В отношении режимов </a:t>
            </a:r>
            <a:r>
              <a:rPr lang="en-US" sz="2000" b="1" dirty="0"/>
              <a:t>train</a:t>
            </a:r>
            <a:r>
              <a:rPr lang="ru-RU" sz="2000" b="1" dirty="0"/>
              <a:t>()</a:t>
            </a:r>
            <a:r>
              <a:rPr lang="en-US" sz="2000" b="1" dirty="0"/>
              <a:t> </a:t>
            </a:r>
            <a:r>
              <a:rPr lang="ru-RU" sz="2000" dirty="0"/>
              <a:t>и</a:t>
            </a:r>
            <a:r>
              <a:rPr lang="ru-RU" sz="2000" b="1" dirty="0"/>
              <a:t> </a:t>
            </a:r>
            <a:r>
              <a:rPr lang="en-US" sz="2000" b="1" dirty="0"/>
              <a:t>eval</a:t>
            </a:r>
            <a:r>
              <a:rPr lang="ru-RU" sz="2000" b="1" dirty="0"/>
              <a:t>() </a:t>
            </a:r>
            <a:r>
              <a:rPr lang="ru-RU" sz="2000" dirty="0"/>
              <a:t>поведение </a:t>
            </a:r>
            <a:r>
              <a:rPr lang="en-US" sz="2000" b="1" dirty="0" err="1"/>
              <a:t>jit.tracer</a:t>
            </a:r>
            <a:r>
              <a:rPr lang="en-US" sz="2000" b="1" dirty="0"/>
              <a:t> </a:t>
            </a:r>
            <a:r>
              <a:rPr lang="ru-RU" sz="2000" dirty="0"/>
              <a:t>остается консервативным. Операции, имеющие различное поведение в этих двух режимах будут выполнятся только в том режиме с которым был запущен </a:t>
            </a:r>
            <a:r>
              <a:rPr lang="en-US" sz="2000" dirty="0"/>
              <a:t>tracer</a:t>
            </a:r>
            <a:r>
              <a:rPr lang="ru-RU" sz="2000" dirty="0"/>
              <a:t>. Если в модуле содержатся операции такие, как </a:t>
            </a:r>
            <a:r>
              <a:rPr lang="en-US" sz="2000" b="1" dirty="0"/>
              <a:t>Dropout</a:t>
            </a:r>
            <a:r>
              <a:rPr lang="en-US" sz="2000" dirty="0"/>
              <a:t> </a:t>
            </a:r>
            <a:r>
              <a:rPr lang="ru-RU" sz="2000" dirty="0"/>
              <a:t>или</a:t>
            </a:r>
            <a:r>
              <a:rPr lang="en-US" sz="2000" dirty="0"/>
              <a:t> </a:t>
            </a:r>
            <a:r>
              <a:rPr lang="en-US" sz="2000" b="1" dirty="0" err="1"/>
              <a:t>BatchNorm</a:t>
            </a:r>
            <a:r>
              <a:rPr lang="ru-RU" sz="2000" dirty="0"/>
              <a:t>, то </a:t>
            </a:r>
            <a:r>
              <a:rPr lang="en-US" sz="2000" b="1" dirty="0" err="1"/>
              <a:t>jit.ScriptModule</a:t>
            </a:r>
            <a:r>
              <a:rPr lang="ru-RU" sz="2000" dirty="0"/>
              <a:t>, будет правильным подходом, так, как он </a:t>
            </a:r>
            <a:r>
              <a:rPr lang="ru-RU" sz="2000" dirty="0" err="1"/>
              <a:t>неимеет</a:t>
            </a:r>
            <a:r>
              <a:rPr lang="ru-RU" sz="2000" dirty="0"/>
              <a:t> таких ограничений.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1A35A-F119-400E-80B2-D219C9DEB06B}"/>
              </a:ext>
            </a:extLst>
          </p:cNvPr>
          <p:cNvSpPr txBox="1"/>
          <p:nvPr/>
        </p:nvSpPr>
        <p:spPr>
          <a:xfrm>
            <a:off x="189756" y="188640"/>
            <a:ext cx="1159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torch.jit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69576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Тема Offic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D80E12-3BE9-4746-820E-FFB249F467F2}">
  <ds:schemaRefs>
    <ds:schemaRef ds:uri="http://purl.org/dc/terms/"/>
    <ds:schemaRef ds:uri="4873beb7-5857-4685-be1f-d57550cc96cc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36473</TotalTime>
  <Words>2268</Words>
  <Application>Microsoft Office PowerPoint</Application>
  <PresentationFormat>Custom</PresentationFormat>
  <Paragraphs>143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Bahnschrift SemiBold</vt:lpstr>
      <vt:lpstr>Calibri</vt:lpstr>
      <vt:lpstr>Calibri Light</vt:lpstr>
      <vt:lpstr>Constantia</vt:lpstr>
      <vt:lpstr>Segoe UI</vt:lpstr>
      <vt:lpstr>Times New Roman</vt:lpstr>
      <vt:lpstr>Wingdings</vt:lpstr>
      <vt:lpstr>Ретро</vt:lpstr>
      <vt:lpstr>PyTorch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интеллектуальной обработки данных и машинного обучения с использованием глубоких нейронных сетей</dc:title>
  <dc:creator>Борис Вишняков</dc:creator>
  <cp:lastModifiedBy>s.barkly@yandex.ru</cp:lastModifiedBy>
  <cp:revision>292</cp:revision>
  <dcterms:created xsi:type="dcterms:W3CDTF">2021-09-06T17:40:32Z</dcterms:created>
  <dcterms:modified xsi:type="dcterms:W3CDTF">2021-11-29T17:36:39Z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