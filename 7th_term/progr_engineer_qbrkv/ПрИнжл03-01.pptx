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9" r:id="rId1"/>
  </p:sldMasterIdLst>
  <p:notesMasterIdLst>
    <p:notesMasterId r:id="rId17"/>
  </p:notesMasterIdLst>
  <p:sldIdLst>
    <p:sldId id="256" r:id="rId2"/>
    <p:sldId id="260" r:id="rId3"/>
    <p:sldId id="257" r:id="rId4"/>
    <p:sldId id="272" r:id="rId5"/>
    <p:sldId id="273" r:id="rId6"/>
    <p:sldId id="274" r:id="rId7"/>
    <p:sldId id="275" r:id="rId8"/>
    <p:sldId id="288" r:id="rId9"/>
    <p:sldId id="283" r:id="rId10"/>
    <p:sldId id="276" r:id="rId11"/>
    <p:sldId id="284" r:id="rId12"/>
    <p:sldId id="285" r:id="rId13"/>
    <p:sldId id="286" r:id="rId14"/>
    <p:sldId id="287" r:id="rId15"/>
    <p:sldId id="263" r:id="rId1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DV" initials="K" lastIdx="1" clrIdx="0">
    <p:extLst>
      <p:ext uri="{19B8F6BF-5375-455C-9EA6-DF929625EA0E}">
        <p15:presenceInfo xmlns:p15="http://schemas.microsoft.com/office/powerpoint/2012/main" userId="KDV"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Средний стиль 2 — акцент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0838" autoAdjust="0"/>
  </p:normalViewPr>
  <p:slideViewPr>
    <p:cSldViewPr snapToGrid="0">
      <p:cViewPr>
        <p:scale>
          <a:sx n="75" d="100"/>
          <a:sy n="75" d="100"/>
        </p:scale>
        <p:origin x="187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6020B3-367F-41BF-A5D2-D2C6898A67B3}" type="datetimeFigureOut">
              <a:rPr lang="ru-RU" smtClean="0"/>
              <a:t>15.10.2025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59912B-E66D-4A8E-8CDB-D0164B49BF89}" type="slidenum">
              <a:rPr lang="ru-RU" smtClean="0"/>
              <a:t>‹#›</a:t>
            </a:fld>
            <a:endParaRPr lang="ru-RU"/>
          </a:p>
        </p:txBody>
      </p:sp>
    </p:spTree>
    <p:extLst>
      <p:ext uri="{BB962C8B-B14F-4D97-AF65-F5344CB8AC3E}">
        <p14:creationId xmlns:p14="http://schemas.microsoft.com/office/powerpoint/2010/main" val="60534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Абстракция (</a:t>
            </a:r>
            <a:r>
              <a:rPr lang="ru-RU" dirty="0" err="1"/>
              <a:t>Abstraction</a:t>
            </a:r>
            <a:r>
              <a:rPr lang="ru-RU" dirty="0"/>
              <a:t>)</a:t>
            </a:r>
          </a:p>
          <a:p>
            <a:r>
              <a:rPr lang="ru-RU" dirty="0"/>
              <a:t>В контексте проектирования программных систем существует два механизма абстракции – параметризация и специфицирование (может интерпретироваться как детализация). При этом, абстракция через специфицирование бывает трех видов: </a:t>
            </a:r>
          </a:p>
          <a:p>
            <a:r>
              <a:rPr lang="ru-RU" dirty="0"/>
              <a:t>процедурная абстракция (динамическая, то есть в отношении поведения),</a:t>
            </a:r>
          </a:p>
          <a:p>
            <a:r>
              <a:rPr lang="ru-RU" dirty="0"/>
              <a:t>абстракция данных (статическая, то есть в отношении информации), и </a:t>
            </a:r>
          </a:p>
          <a:p>
            <a:r>
              <a:rPr lang="ru-RU" dirty="0"/>
              <a:t>абстракция контроля (то есть управления системой и обрабатываемой ею информацией).</a:t>
            </a:r>
          </a:p>
          <a:p>
            <a:r>
              <a:rPr lang="ru-RU" dirty="0"/>
              <a:t>Обычно под абстракций, как результатом процесса абстракции, понимают модель, упрощающую поставленную проблему до рамок, значимых для заданного контекста.</a:t>
            </a:r>
          </a:p>
          <a:p>
            <a:r>
              <a:rPr lang="ru-RU" dirty="0"/>
              <a:t>Связанность и соединение (</a:t>
            </a:r>
            <a:r>
              <a:rPr lang="ru-RU" dirty="0" err="1"/>
              <a:t>Coupling</a:t>
            </a:r>
            <a:r>
              <a:rPr lang="ru-RU" dirty="0"/>
              <a:t> </a:t>
            </a:r>
            <a:r>
              <a:rPr lang="ru-RU" dirty="0" err="1"/>
              <a:t>and</a:t>
            </a:r>
            <a:r>
              <a:rPr lang="ru-RU" dirty="0"/>
              <a:t> </a:t>
            </a:r>
            <a:r>
              <a:rPr lang="ru-RU" dirty="0" err="1"/>
              <a:t>Cohesion</a:t>
            </a:r>
            <a:r>
              <a:rPr lang="ru-RU" dirty="0"/>
              <a:t>)</a:t>
            </a:r>
          </a:p>
          <a:p>
            <a:r>
              <a:rPr lang="ru-RU" dirty="0"/>
              <a:t>Связанность (</a:t>
            </a:r>
            <a:r>
              <a:rPr lang="ru-RU" dirty="0" err="1"/>
              <a:t>Coupling</a:t>
            </a:r>
            <a:r>
              <a:rPr lang="ru-RU" dirty="0"/>
              <a:t>) – определяет силу связи (часто, взаимного влияния) между модулями. Соединение (</a:t>
            </a:r>
            <a:r>
              <a:rPr lang="ru-RU" dirty="0" err="1"/>
              <a:t>Cohesion</a:t>
            </a:r>
            <a:r>
              <a:rPr lang="ru-RU" dirty="0"/>
              <a:t> ) – определяет как тот или иной элемент обеспечивает связь внутри модуля, внутреннюю связь.</a:t>
            </a:r>
          </a:p>
          <a:p>
            <a:r>
              <a:rPr lang="ru-RU" dirty="0"/>
              <a:t>Значение оригинальных терминов очень близко и, в зависимости от контекста, “связанность” и “соединение” могут рассматриваться как степень самодостаточности или ее отсутствия (</a:t>
            </a:r>
            <a:r>
              <a:rPr lang="ru-RU" dirty="0" err="1"/>
              <a:t>coupling</a:t>
            </a:r>
            <a:r>
              <a:rPr lang="ru-RU" dirty="0"/>
              <a:t>) и функциональная зависимость (</a:t>
            </a:r>
            <a:r>
              <a:rPr lang="ru-RU" dirty="0" err="1"/>
              <a:t>cohesion</a:t>
            </a:r>
            <a:r>
              <a:rPr lang="ru-RU" dirty="0"/>
              <a:t>), соответственно.</a:t>
            </a:r>
          </a:p>
          <a:p>
            <a:r>
              <a:rPr lang="ru-RU" dirty="0"/>
              <a:t>Хочется особенно подчеркнуть значимость этих понятий, так как с развитием сервисно-ориентированной архитектуры (Service-</a:t>
            </a:r>
            <a:r>
              <a:rPr lang="ru-RU" dirty="0" err="1"/>
              <a:t>Oriented</a:t>
            </a:r>
            <a:r>
              <a:rPr lang="ru-RU" dirty="0"/>
              <a:t> Architecture, SOA), слабосвязанной по своей природе (то есть со слабым “сопряжением”, слабой “силой связи” между модулями), по сравнению, например, с OMG CORBA (Common Object </a:t>
            </a:r>
            <a:r>
              <a:rPr lang="ru-RU" dirty="0" err="1"/>
              <a:t>Request</a:t>
            </a:r>
            <a:r>
              <a:rPr lang="ru-RU" dirty="0"/>
              <a:t> </a:t>
            </a:r>
            <a:r>
              <a:rPr lang="ru-RU" dirty="0" err="1"/>
              <a:t>Broker</a:t>
            </a:r>
            <a:r>
              <a:rPr lang="ru-RU" dirty="0"/>
              <a:t> Architecture), все чаще приходится сравнивать различные подходы и решения, определяемые способом и степенью связанности различных модулей, компонент и самих программных систем.</a:t>
            </a:r>
          </a:p>
          <a:p>
            <a:r>
              <a:rPr lang="ru-RU" dirty="0"/>
              <a:t>3.1.4.2 Декомпозиция и разбиение на модули (</a:t>
            </a:r>
            <a:r>
              <a:rPr lang="ru-RU" dirty="0" err="1"/>
              <a:t>Decomposition</a:t>
            </a:r>
            <a:r>
              <a:rPr lang="ru-RU" dirty="0"/>
              <a:t> </a:t>
            </a:r>
            <a:r>
              <a:rPr lang="ru-RU" dirty="0" err="1"/>
              <a:t>and</a:t>
            </a:r>
            <a:r>
              <a:rPr lang="ru-RU" dirty="0"/>
              <a:t> </a:t>
            </a:r>
            <a:r>
              <a:rPr lang="ru-RU" dirty="0" err="1"/>
              <a:t>Modularization</a:t>
            </a:r>
            <a:r>
              <a:rPr lang="ru-RU" dirty="0"/>
              <a:t>)</a:t>
            </a:r>
          </a:p>
          <a:p>
            <a:r>
              <a:rPr lang="ru-RU" dirty="0"/>
              <a:t>Декомпозиция и разбиение на модули сложных программных систем производится с целью получения более мелких и относительно независимых программных компонентов, каждый из которых несет различную функциональность (логически связанные группы функциональности).</a:t>
            </a:r>
          </a:p>
          <a:p>
            <a:r>
              <a:rPr lang="ru-RU" dirty="0"/>
              <a:t>3.1.4.3 Инкапсуляция/сокрытие информации (</a:t>
            </a:r>
            <a:r>
              <a:rPr lang="ru-RU" dirty="0" err="1"/>
              <a:t>Encapsulation</a:t>
            </a:r>
            <a:r>
              <a:rPr lang="ru-RU" dirty="0"/>
              <a:t> / </a:t>
            </a:r>
            <a:r>
              <a:rPr lang="ru-RU" dirty="0" err="1"/>
              <a:t>information</a:t>
            </a:r>
            <a:r>
              <a:rPr lang="ru-RU" dirty="0"/>
              <a:t> </a:t>
            </a:r>
            <a:r>
              <a:rPr lang="ru-RU" dirty="0" err="1"/>
              <a:t>hiding</a:t>
            </a:r>
            <a:r>
              <a:rPr lang="ru-RU" dirty="0"/>
              <a:t>)</a:t>
            </a:r>
          </a:p>
          <a:p>
            <a:r>
              <a:rPr lang="ru-RU" dirty="0"/>
              <a:t>Данная концепция предполагает группировку и упаковку (с точки зрения подготовки к развертыванию и эксплуатации) элементов и внутренних деталей абстракции (то есть модели) в отношении реализации с тем, чтобы эти детали (как малозначимые для использования компонента или по другим причинам) были недоступны пользователям элементов (компонент). При этом, в качестве “пользователя” одного компонента может выступать другой компонент. Более того, при использовании объектно-ориентированного подхода, наследники компонентов могут не иметь доступа ко внутренним деталям реализации компонента, который является их предком (зависит от объектно-ориентированной модели конкретного языка программирования или платформы).</a:t>
            </a:r>
          </a:p>
          <a:p>
            <a:r>
              <a:rPr lang="ru-RU" dirty="0"/>
              <a:t>3.1.4.4 Разделение интерфейса и реализации (</a:t>
            </a:r>
            <a:r>
              <a:rPr lang="ru-RU" dirty="0" err="1"/>
              <a:t>Separation</a:t>
            </a:r>
            <a:r>
              <a:rPr lang="ru-RU" dirty="0"/>
              <a:t> </a:t>
            </a:r>
            <a:r>
              <a:rPr lang="ru-RU" dirty="0" err="1"/>
              <a:t>of</a:t>
            </a:r>
            <a:r>
              <a:rPr lang="ru-RU" dirty="0"/>
              <a:t> </a:t>
            </a:r>
            <a:r>
              <a:rPr lang="ru-RU" dirty="0" err="1"/>
              <a:t>interface</a:t>
            </a:r>
            <a:r>
              <a:rPr lang="ru-RU" dirty="0"/>
              <a:t> </a:t>
            </a:r>
            <a:r>
              <a:rPr lang="ru-RU" dirty="0" err="1"/>
              <a:t>and</a:t>
            </a:r>
            <a:r>
              <a:rPr lang="ru-RU" dirty="0"/>
              <a:t> </a:t>
            </a:r>
            <a:r>
              <a:rPr lang="ru-RU" dirty="0" err="1"/>
              <a:t>implementation</a:t>
            </a:r>
            <a:r>
              <a:rPr lang="ru-RU" dirty="0"/>
              <a:t>)</a:t>
            </a:r>
          </a:p>
          <a:p>
            <a:r>
              <a:rPr lang="ru-RU" dirty="0"/>
              <a:t>Данная техника предполагает определение компонента через специфицирование интерфейса, известного (описанного) и доступного клиентам (или другим компонентам), от непосредственных деталей реализации.</a:t>
            </a:r>
          </a:p>
          <a:p>
            <a:r>
              <a:rPr lang="ru-RU" dirty="0"/>
              <a:t>3.1.4.5 Достаточность, полнота и простота (</a:t>
            </a:r>
            <a:r>
              <a:rPr lang="ru-RU" dirty="0" err="1"/>
              <a:t>Sufficiency</a:t>
            </a:r>
            <a:r>
              <a:rPr lang="ru-RU" dirty="0"/>
              <a:t>, </a:t>
            </a:r>
            <a:r>
              <a:rPr lang="ru-RU" dirty="0" err="1"/>
              <a:t>completeness</a:t>
            </a:r>
            <a:r>
              <a:rPr lang="ru-RU" dirty="0"/>
              <a:t> </a:t>
            </a:r>
            <a:r>
              <a:rPr lang="ru-RU" dirty="0" err="1"/>
              <a:t>and</a:t>
            </a:r>
            <a:r>
              <a:rPr lang="ru-RU" dirty="0"/>
              <a:t> </a:t>
            </a:r>
            <a:r>
              <a:rPr lang="ru-RU" dirty="0" err="1"/>
              <a:t>primitiveness</a:t>
            </a:r>
            <a:r>
              <a:rPr lang="ru-RU" dirty="0"/>
              <a:t>)</a:t>
            </a:r>
          </a:p>
          <a:p>
            <a:r>
              <a:rPr lang="ru-RU" dirty="0"/>
              <a:t>Этот подход подразумевает, что создаваемые программные компоненты обладают всеми необходимыми характеристиками, определенными абстракцией (моделью), но не более того. То есть не включают функциональность, отсутствующую в модели.</a:t>
            </a:r>
          </a:p>
          <a:p>
            <a:r>
              <a:rPr lang="ru-RU" dirty="0"/>
              <a:t>Данный принцип особенно ярко выделен и явно представлен в виде рекомендуемых практик (</a:t>
            </a:r>
            <a:r>
              <a:rPr lang="ru-RU" dirty="0" err="1"/>
              <a:t>best</a:t>
            </a:r>
            <a:r>
              <a:rPr lang="ru-RU" dirty="0"/>
              <a:t> </a:t>
            </a:r>
            <a:r>
              <a:rPr lang="ru-RU" dirty="0" err="1"/>
              <a:t>practices</a:t>
            </a:r>
            <a:r>
              <a:rPr lang="ru-RU" dirty="0"/>
              <a:t>) методологий гибкого моделирования и экстремального программирования, где “все, что надо, но ни граммом больше” лежит в основе самой концепции “прагматичного” подхода (и на стадии моделирования, и в отношении реализации в коде). В оригинале этот принцип звучит как YAGNI – “You </a:t>
            </a:r>
            <a:r>
              <a:rPr lang="ru-RU" dirty="0" err="1"/>
              <a:t>Aren’t</a:t>
            </a:r>
            <a:r>
              <a:rPr lang="ru-RU" dirty="0"/>
              <a:t> </a:t>
            </a:r>
            <a:r>
              <a:rPr lang="ru-RU" dirty="0" err="1"/>
              <a:t>Going</a:t>
            </a:r>
            <a:r>
              <a:rPr lang="ru-RU" dirty="0"/>
              <a:t> </a:t>
            </a:r>
            <a:r>
              <a:rPr lang="ru-RU" dirty="0" err="1"/>
              <a:t>to</a:t>
            </a:r>
            <a:r>
              <a:rPr lang="ru-RU" dirty="0"/>
              <a:t> </a:t>
            </a:r>
            <a:r>
              <a:rPr lang="ru-RU" dirty="0" err="1"/>
              <a:t>Need</a:t>
            </a:r>
            <a:r>
              <a:rPr lang="ru-RU" dirty="0"/>
              <a:t> It”, то есть “не делай этого, пока не понадобится”.</a:t>
            </a:r>
          </a:p>
          <a:p>
            <a:endParaRPr lang="ru-RU" dirty="0"/>
          </a:p>
        </p:txBody>
      </p:sp>
      <p:sp>
        <p:nvSpPr>
          <p:cNvPr id="4" name="Номер слайда 3"/>
          <p:cNvSpPr>
            <a:spLocks noGrp="1"/>
          </p:cNvSpPr>
          <p:nvPr>
            <p:ph type="sldNum" sz="quarter" idx="5"/>
          </p:nvPr>
        </p:nvSpPr>
        <p:spPr/>
        <p:txBody>
          <a:bodyPr/>
          <a:lstStyle/>
          <a:p>
            <a:fld id="{DF59912B-E66D-4A8E-8CDB-D0164B49BF89}" type="slidenum">
              <a:rPr lang="ru-RU" smtClean="0"/>
              <a:t>9</a:t>
            </a:fld>
            <a:endParaRPr lang="ru-RU"/>
          </a:p>
        </p:txBody>
      </p:sp>
    </p:spTree>
    <p:extLst>
      <p:ext uri="{BB962C8B-B14F-4D97-AF65-F5344CB8AC3E}">
        <p14:creationId xmlns:p14="http://schemas.microsoft.com/office/powerpoint/2010/main" val="2703141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3.2.1 Параллелизм (</a:t>
            </a:r>
            <a:r>
              <a:rPr lang="en-US"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Concurrency</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indent="450215" algn="just">
              <a:lnSpc>
                <a:spcPct val="102000"/>
              </a:lnSpc>
            </a:pPr>
            <a:r>
              <a:rPr lang="ru-RU" sz="1800" dirty="0">
                <a:solidFill>
                  <a:srgbClr val="000000"/>
                </a:solidFill>
                <a:effectLst/>
                <a:latin typeface="Times New Roman" panose="02020603050405020304" pitchFamily="18" charset="0"/>
                <a:ea typeface="Times New Roman" panose="02020603050405020304" pitchFamily="18" charset="0"/>
              </a:rPr>
              <a:t>Эта тема охватывает вопросы, подходы и методы организации процессов, задач и потоков для обеспечения эффективности, атомарности, синхронизации и распределения (по времени) обработки информации.</a:t>
            </a:r>
          </a:p>
          <a:p>
            <a:pPr algn="just"/>
            <a:r>
              <a:rPr lang="en-US"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3.2.2 </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Контроль и обработка событий</a:t>
            </a:r>
            <a:r>
              <a:rPr lang="en-US"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 (Control and Handling of Events)</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indent="450215" algn="just">
              <a:lnSpc>
                <a:spcPct val="102000"/>
              </a:lnSpc>
            </a:pPr>
            <a:r>
              <a:rPr lang="ru-RU" sz="1800" dirty="0">
                <a:solidFill>
                  <a:srgbClr val="000000"/>
                </a:solidFill>
                <a:effectLst/>
                <a:latin typeface="Times New Roman" panose="02020603050405020304" pitchFamily="18" charset="0"/>
                <a:ea typeface="Times New Roman" panose="02020603050405020304" pitchFamily="18" charset="0"/>
              </a:rPr>
              <a:t>В самом названии данной темы заложен комплекс обсуждаемых вопросов. В частности, данная тема касается и неявных методов обработки событий, часто реализуемых в виде функции обратного вызова (</a:t>
            </a:r>
            <a:r>
              <a:rPr lang="ru-RU" sz="1800" dirty="0" err="1">
                <a:solidFill>
                  <a:srgbClr val="000000"/>
                </a:solidFill>
                <a:effectLst/>
                <a:latin typeface="Times New Roman" panose="02020603050405020304" pitchFamily="18" charset="0"/>
                <a:ea typeface="Times New Roman" panose="02020603050405020304" pitchFamily="18" charset="0"/>
              </a:rPr>
              <a:t>call-back</a:t>
            </a:r>
            <a:r>
              <a:rPr lang="ru-RU" sz="1800" dirty="0">
                <a:solidFill>
                  <a:srgbClr val="000000"/>
                </a:solidFill>
                <a:effectLst/>
                <a:latin typeface="Times New Roman" panose="02020603050405020304" pitchFamily="18" charset="0"/>
                <a:ea typeface="Times New Roman" panose="02020603050405020304" pitchFamily="18" charset="0"/>
              </a:rPr>
              <a:t>), как одной из фундаментальных концепций обработки событий.</a:t>
            </a:r>
          </a:p>
          <a:p>
            <a:pPr algn="just"/>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3.2.3</a:t>
            </a:r>
            <a:r>
              <a:rPr lang="en-US"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Распределение компонентов (</a:t>
            </a:r>
            <a:r>
              <a:rPr lang="en-US"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Distribution of Components</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indent="450215" algn="just">
              <a:lnSpc>
                <a:spcPct val="102000"/>
              </a:lnSpc>
            </a:pPr>
            <a:r>
              <a:rPr lang="ru-RU" sz="1800" dirty="0">
                <a:solidFill>
                  <a:srgbClr val="000000"/>
                </a:solidFill>
                <a:effectLst/>
                <a:latin typeface="Times New Roman" panose="02020603050405020304" pitchFamily="18" charset="0"/>
                <a:ea typeface="Times New Roman" panose="02020603050405020304" pitchFamily="18" charset="0"/>
              </a:rPr>
              <a:t>Распределение (и выполнение) по различным узлам обработки в терминах аппаратного обеспечения, сетевой инфраструктуры и т.п. Один из важнейших вопросов данной темы – использование связующего программного обеспечения (</a:t>
            </a:r>
            <a:r>
              <a:rPr lang="ru-RU" sz="1800" dirty="0" err="1">
                <a:solidFill>
                  <a:srgbClr val="000000"/>
                </a:solidFill>
                <a:effectLst/>
                <a:latin typeface="Times New Roman" panose="02020603050405020304" pitchFamily="18" charset="0"/>
                <a:ea typeface="Times New Roman" panose="02020603050405020304" pitchFamily="18" charset="0"/>
              </a:rPr>
              <a:t>middleware</a:t>
            </a:r>
            <a:r>
              <a:rPr lang="ru-RU" sz="1800" dirty="0">
                <a:solidFill>
                  <a:srgbClr val="000000"/>
                </a:solidFill>
                <a:effectLst/>
                <a:latin typeface="Times New Roman" panose="02020603050405020304" pitchFamily="18" charset="0"/>
                <a:ea typeface="Times New Roman" panose="02020603050405020304" pitchFamily="18" charset="0"/>
              </a:rPr>
              <a:t>)</a:t>
            </a:r>
          </a:p>
          <a:p>
            <a:pPr algn="just"/>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3.2.4 Обработка ошибок и исключительных ситуаций и обеспечение отказоустойчивости (</a:t>
            </a:r>
            <a:r>
              <a:rPr lang="en-US"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Errors and Exception Handling and Fault Tolerance</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indent="450215" algn="just">
              <a:lnSpc>
                <a:spcPct val="102000"/>
              </a:lnSpc>
            </a:pPr>
            <a:r>
              <a:rPr lang="ru-RU" sz="1800" dirty="0">
                <a:solidFill>
                  <a:srgbClr val="000000"/>
                </a:solidFill>
                <a:effectLst/>
                <a:latin typeface="Times New Roman" panose="02020603050405020304" pitchFamily="18" charset="0"/>
                <a:ea typeface="Times New Roman" panose="02020603050405020304" pitchFamily="18" charset="0"/>
              </a:rPr>
              <a:t>Вопрос темы, как ни странно, формулируется достаточно просто – как предотвратить сбои или, если сбой все же произошел, обеспечить дальнейшее функционирование системы.</a:t>
            </a:r>
          </a:p>
          <a:p>
            <a:pPr algn="just"/>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3.2.5 Взаимодействие и представление (</a:t>
            </a:r>
            <a:r>
              <a:rPr lang="en-US"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Interaction and Presentation</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indent="450215" algn="just">
              <a:lnSpc>
                <a:spcPct val="102000"/>
              </a:lnSpc>
            </a:pPr>
            <a:r>
              <a:rPr lang="ru-RU" sz="1800" dirty="0">
                <a:solidFill>
                  <a:srgbClr val="000000"/>
                </a:solidFill>
                <a:effectLst/>
                <a:latin typeface="Times New Roman" panose="02020603050405020304" pitchFamily="18" charset="0"/>
                <a:ea typeface="Times New Roman" panose="02020603050405020304" pitchFamily="18" charset="0"/>
              </a:rPr>
              <a:t>Тема касается вопросов представления информации пользователям и взаимодействия пользователей с системой, с точки зрения реакции системы на действия пользователей. Речь в этой теме идет о реакции системы в ответ на действия пользователей и организации ее отклика с точки зрения внутренней организации взаимодействия, например, в рамках популярной концепции Model-View-</a:t>
            </a:r>
            <a:r>
              <a:rPr lang="ru-RU" sz="1800" dirty="0" err="1">
                <a:solidFill>
                  <a:srgbClr val="000000"/>
                </a:solidFill>
                <a:effectLst/>
                <a:latin typeface="Times New Roman" panose="02020603050405020304" pitchFamily="18" charset="0"/>
                <a:ea typeface="Times New Roman" panose="02020603050405020304" pitchFamily="18" charset="0"/>
              </a:rPr>
              <a:t>Controller</a:t>
            </a:r>
            <a:r>
              <a:rPr lang="ru-RU" sz="1800" dirty="0">
                <a:solidFill>
                  <a:srgbClr val="000000"/>
                </a:solidFill>
                <a:effectLst/>
                <a:latin typeface="Times New Roman" panose="02020603050405020304" pitchFamily="18" charset="0"/>
                <a:ea typeface="Times New Roman" panose="02020603050405020304" pitchFamily="18" charset="0"/>
              </a:rPr>
              <a:t>.</a:t>
            </a:r>
          </a:p>
          <a:p>
            <a:pPr indent="450215" algn="just">
              <a:lnSpc>
                <a:spcPct val="102000"/>
              </a:lnSpc>
            </a:pPr>
            <a:r>
              <a:rPr lang="ru-RU" sz="1800" dirty="0">
                <a:solidFill>
                  <a:srgbClr val="000000"/>
                </a:solidFill>
                <a:effectLst/>
                <a:latin typeface="Times New Roman" panose="02020603050405020304" pitchFamily="18" charset="0"/>
                <a:ea typeface="Times New Roman" panose="02020603050405020304" pitchFamily="18" charset="0"/>
              </a:rPr>
              <a:t>Ни в коем случае не надо путать данную тему с вопросами организации пользовательского интерфейса, являющимися частью “Эргономики программного обеспечения” – </a:t>
            </a:r>
            <a:r>
              <a:rPr lang="en-US" sz="1800" dirty="0">
                <a:solidFill>
                  <a:srgbClr val="000000"/>
                </a:solidFill>
                <a:effectLst/>
                <a:latin typeface="Times New Roman" panose="02020603050405020304" pitchFamily="18" charset="0"/>
                <a:ea typeface="Times New Roman" panose="02020603050405020304" pitchFamily="18" charset="0"/>
              </a:rPr>
              <a:t>Software Ergonomics</a:t>
            </a:r>
            <a:r>
              <a:rPr lang="ru-RU" sz="1800" dirty="0">
                <a:solidFill>
                  <a:srgbClr val="000000"/>
                </a:solidFill>
                <a:effectLst/>
                <a:latin typeface="Times New Roman" panose="02020603050405020304" pitchFamily="18" charset="0"/>
                <a:ea typeface="Times New Roman" panose="02020603050405020304" pitchFamily="18" charset="0"/>
              </a:rPr>
              <a:t> (см. “Связанные дисциплины”).</a:t>
            </a:r>
          </a:p>
          <a:p>
            <a:pPr algn="just"/>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3.2.6 Сохраняемость данных (</a:t>
            </a:r>
            <a:r>
              <a:rPr lang="en-US"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Data Persistence</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indent="450215" algn="just">
              <a:lnSpc>
                <a:spcPct val="102000"/>
              </a:lnSpc>
            </a:pPr>
            <a:r>
              <a:rPr lang="ru-RU" sz="1800" dirty="0">
                <a:solidFill>
                  <a:srgbClr val="000000"/>
                </a:solidFill>
                <a:effectLst/>
                <a:latin typeface="Times New Roman" panose="02020603050405020304" pitchFamily="18" charset="0"/>
                <a:ea typeface="Times New Roman" panose="02020603050405020304" pitchFamily="18" charset="0"/>
              </a:rPr>
              <a:t>Именно сохраняемость, а не сохранность, так как тема касается не доступа к базам данных, как такового, а также не гарантий сохранности информации. Суть вопроса – как должны обрабатываться “долгоживущие” данные.</a:t>
            </a:r>
          </a:p>
          <a:p>
            <a:pPr algn="just"/>
            <a:r>
              <a:rPr lang="ru-RU" sz="1800" dirty="0">
                <a:effectLst/>
                <a:latin typeface="Times New Roman" panose="02020603050405020304" pitchFamily="18" charset="0"/>
                <a:ea typeface="Calibri" panose="020F0502020204030204" pitchFamily="34" charset="0"/>
                <a:cs typeface="Times New Roman" panose="02020603050405020304" pitchFamily="18" charset="0"/>
              </a:rPr>
              <a:t>Часто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middleware</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переводят как “промежуточное программное обеспечение”. Такой вариант перевода, к сожалению, рассматривает связующее ПО во второстепенной – “промежуточной” роли. Читатель, безусловно, может не согласиться с такой трактовкой, однако, многолетняя практика автора в обсуждении архитектурных вопросов с различными специалистами демонстрирует именно такой взгляд пользователей, не знакомых или не имеющих успешного опыта разработки и эксплуатации распределённых систем.</a:t>
            </a:r>
          </a:p>
          <a:p>
            <a:endParaRPr lang="ru-RU" dirty="0"/>
          </a:p>
        </p:txBody>
      </p:sp>
      <p:sp>
        <p:nvSpPr>
          <p:cNvPr id="4" name="Номер слайда 3"/>
          <p:cNvSpPr>
            <a:spLocks noGrp="1"/>
          </p:cNvSpPr>
          <p:nvPr>
            <p:ph type="sldNum" sz="quarter" idx="5"/>
          </p:nvPr>
        </p:nvSpPr>
        <p:spPr/>
        <p:txBody>
          <a:bodyPr/>
          <a:lstStyle/>
          <a:p>
            <a:fld id="{DF59912B-E66D-4A8E-8CDB-D0164B49BF89}" type="slidenum">
              <a:rPr lang="ru-RU" smtClean="0"/>
              <a:t>10</a:t>
            </a:fld>
            <a:endParaRPr lang="ru-RU"/>
          </a:p>
        </p:txBody>
      </p:sp>
    </p:spTree>
    <p:extLst>
      <p:ext uri="{BB962C8B-B14F-4D97-AF65-F5344CB8AC3E}">
        <p14:creationId xmlns:p14="http://schemas.microsoft.com/office/powerpoint/2010/main" val="1969302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Общие стратегии (General </a:t>
            </a:r>
            <a:r>
              <a:rPr lang="ru-RU" sz="1800" b="1" dirty="0" err="1">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Strategies</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indent="450215" algn="just">
              <a:lnSpc>
                <a:spcPct val="102000"/>
              </a:lnSpc>
            </a:pPr>
            <a:r>
              <a:rPr lang="ru-RU" sz="1800" dirty="0">
                <a:solidFill>
                  <a:srgbClr val="000000"/>
                </a:solidFill>
                <a:effectLst/>
                <a:latin typeface="Times New Roman" panose="02020603050405020304" pitchFamily="18" charset="0"/>
                <a:ea typeface="Times New Roman" panose="02020603050405020304" pitchFamily="18" charset="0"/>
              </a:rPr>
              <a:t>Это обычно часто упоминаемые и общепринятые стратегии:</a:t>
            </a:r>
          </a:p>
          <a:p>
            <a:pPr marL="342900" lvl="0" indent="-342900" algn="just">
              <a:buSzPts val="1000"/>
              <a:buFont typeface="Symbol" panose="05050102010706020507" pitchFamily="18" charset="2"/>
              <a:buChar char=""/>
              <a:tabLst>
                <a:tab pos="457200" algn="l"/>
              </a:tabLs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“разделяй-и-властвуй” и пошаговое уточнение</a:t>
            </a:r>
          </a:p>
          <a:p>
            <a:pPr marL="342900" lvl="0" indent="-342900" algn="just">
              <a:buSzPts val="1000"/>
              <a:buFont typeface="Symbol" panose="05050102010706020507" pitchFamily="18" charset="2"/>
              <a:buChar char=""/>
              <a:tabLst>
                <a:tab pos="457200" algn="l"/>
              </a:tabLs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проектирование “сверху-вниз” и “снизу-вверх”</a:t>
            </a:r>
          </a:p>
          <a:p>
            <a:pPr marL="342900" lvl="0" indent="-342900" algn="just">
              <a:buSzPts val="1000"/>
              <a:buFont typeface="Symbol" panose="05050102010706020507" pitchFamily="18" charset="2"/>
              <a:buChar char=""/>
              <a:tabLst>
                <a:tab pos="457200" algn="l"/>
              </a:tabLs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абстракция данных и сокрытие информации</a:t>
            </a:r>
          </a:p>
          <a:p>
            <a:pPr marL="342900" lvl="0" indent="-342900" algn="just">
              <a:buSzPts val="1000"/>
              <a:buFont typeface="Symbol" panose="05050102010706020507" pitchFamily="18" charset="2"/>
              <a:buChar char=""/>
              <a:tabLst>
                <a:tab pos="457200" algn="l"/>
              </a:tabLs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итеративный и инкрементальный подход</a:t>
            </a:r>
          </a:p>
          <a:p>
            <a:pPr marL="342900" lvl="0" indent="-342900" algn="just">
              <a:buSzPts val="1000"/>
              <a:buFont typeface="Symbol" panose="05050102010706020507" pitchFamily="18" charset="2"/>
              <a:buChar char=""/>
              <a:tabLst>
                <a:tab pos="457200" algn="l"/>
              </a:tabLs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и другие...</a:t>
            </a:r>
          </a:p>
          <a:p>
            <a:pPr algn="just"/>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3.6.2 Функционально-ориентированное или структурное проектирование (</a:t>
            </a:r>
            <a:r>
              <a:rPr lang="ru-RU" sz="1800" b="1" dirty="0" err="1">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Function-Oriented</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 – </a:t>
            </a:r>
            <a:r>
              <a:rPr lang="ru-RU" sz="1800" b="1" dirty="0" err="1">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Structured</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 Design)</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indent="450215" algn="just">
              <a:lnSpc>
                <a:spcPct val="102000"/>
              </a:lnSpc>
            </a:pPr>
            <a:r>
              <a:rPr lang="ru-RU" sz="1800" dirty="0">
                <a:solidFill>
                  <a:srgbClr val="000000"/>
                </a:solidFill>
                <a:effectLst/>
                <a:latin typeface="Times New Roman" panose="02020603050405020304" pitchFamily="18" charset="0"/>
                <a:ea typeface="Times New Roman" panose="02020603050405020304" pitchFamily="18" charset="0"/>
              </a:rPr>
              <a:t>Это один из классических методов проектирования, в котором декомпозиция сфокусирована на идентификации основных программных функций и, затем, детальной разработке и уточнении этих функций “сверху-вниз”. Структурное проектирование, обычно, используется после проведения структурного анализа с применением диаграмм потоков данных и связанным описанием процессов. Исследователи предлагают различные стратегии и метафоры или подходы для трансформации DFD в программную архитектуру, представляемую в форме структурных схем. Например, сравнивая управление и поведение с получаемым эффектом.</a:t>
            </a:r>
          </a:p>
          <a:p>
            <a:pPr algn="just"/>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3.6.3 Объектно-ориентированное проектирование (Object-</a:t>
            </a:r>
            <a:r>
              <a:rPr lang="ru-RU" sz="1800" b="1" dirty="0" err="1">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Oriented</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 Design)</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indent="450215" algn="just">
              <a:lnSpc>
                <a:spcPct val="102000"/>
              </a:lnSpc>
            </a:pPr>
            <a:r>
              <a:rPr lang="ru-RU" sz="1800" dirty="0">
                <a:solidFill>
                  <a:srgbClr val="000000"/>
                </a:solidFill>
                <a:effectLst/>
                <a:latin typeface="Times New Roman" panose="02020603050405020304" pitchFamily="18" charset="0"/>
                <a:ea typeface="Times New Roman" panose="02020603050405020304" pitchFamily="18" charset="0"/>
              </a:rPr>
              <a:t>Представляет собой множество методов проектирования, базирующихся на концепции объектов. Данная область активно эволюционирует с середины 80-х годов, основываясь на понятиях объекта (сущности), метода (действия) и атрибута (характеристики). Здесь главную роль играют полиморфизм и инкапсуляция, в то время, как в компонентно-ориентированном подходе большее значение придается мета-информации, например, с применением технологии отражения (</a:t>
            </a:r>
            <a:r>
              <a:rPr lang="ru-RU" sz="1800" dirty="0" err="1">
                <a:solidFill>
                  <a:srgbClr val="000000"/>
                </a:solidFill>
                <a:effectLst/>
                <a:latin typeface="Times New Roman" panose="02020603050405020304" pitchFamily="18" charset="0"/>
                <a:ea typeface="Times New Roman" panose="02020603050405020304" pitchFamily="18" charset="0"/>
              </a:rPr>
              <a:t>reflection</a:t>
            </a:r>
            <a:r>
              <a:rPr lang="ru-RU" sz="1800" dirty="0">
                <a:solidFill>
                  <a:srgbClr val="000000"/>
                </a:solidFill>
                <a:effectLst/>
                <a:latin typeface="Times New Roman" panose="02020603050405020304" pitchFamily="18" charset="0"/>
                <a:ea typeface="Times New Roman" panose="02020603050405020304" pitchFamily="18" charset="0"/>
              </a:rPr>
              <a:t>). Хотя корни объектно-ориентированного проектирования лежат в абстракции данных (к которым добавлены поведенческие характеристики), так называемый </a:t>
            </a:r>
            <a:r>
              <a:rPr lang="ru-RU" sz="1800" dirty="0" err="1">
                <a:solidFill>
                  <a:srgbClr val="000000"/>
                </a:solidFill>
                <a:effectLst/>
                <a:latin typeface="Times New Roman" panose="02020603050405020304" pitchFamily="18" charset="0"/>
                <a:ea typeface="Times New Roman" panose="02020603050405020304" pitchFamily="18" charset="0"/>
              </a:rPr>
              <a:t>responsibility-driven</a:t>
            </a:r>
            <a:r>
              <a:rPr lang="ru-RU" sz="1800" dirty="0">
                <a:solidFill>
                  <a:srgbClr val="000000"/>
                </a:solidFill>
                <a:effectLst/>
                <a:latin typeface="Times New Roman" panose="02020603050405020304" pitchFamily="18" charset="0"/>
                <a:ea typeface="Times New Roman" panose="02020603050405020304" pitchFamily="18" charset="0"/>
              </a:rPr>
              <a:t> </a:t>
            </a:r>
            <a:r>
              <a:rPr lang="ru-RU" sz="1800" dirty="0" err="1">
                <a:solidFill>
                  <a:srgbClr val="000000"/>
                </a:solidFill>
                <a:effectLst/>
                <a:latin typeface="Times New Roman" panose="02020603050405020304" pitchFamily="18" charset="0"/>
                <a:ea typeface="Times New Roman" panose="02020603050405020304" pitchFamily="18" charset="0"/>
              </a:rPr>
              <a:t>design</a:t>
            </a:r>
            <a:r>
              <a:rPr lang="ru-RU" sz="1800" dirty="0">
                <a:solidFill>
                  <a:srgbClr val="000000"/>
                </a:solidFill>
                <a:effectLst/>
                <a:latin typeface="Times New Roman" panose="02020603050405020304" pitchFamily="18" charset="0"/>
                <a:ea typeface="Times New Roman" panose="02020603050405020304" pitchFamily="18" charset="0"/>
              </a:rPr>
              <a:t> или проектирование на основе &lt;функциональной&gt; ответственности по SWEBOK может рассматриваться как альтернатива объектно-ориентированному проектированию.</a:t>
            </a:r>
          </a:p>
          <a:p>
            <a:pPr algn="just"/>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3.6.4 Проектирование на основе структур данных (Data-</a:t>
            </a:r>
            <a:r>
              <a:rPr lang="ru-RU" sz="1800" b="1" dirty="0" err="1">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Structure</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a:t>
            </a:r>
            <a:r>
              <a:rPr lang="ru-RU" sz="1800" b="1" dirty="0" err="1">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Centered</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 Design)</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indent="450215" algn="just">
              <a:lnSpc>
                <a:spcPct val="102000"/>
              </a:lnSpc>
            </a:pPr>
            <a:r>
              <a:rPr lang="ru-RU" sz="1800" dirty="0">
                <a:solidFill>
                  <a:srgbClr val="000000"/>
                </a:solidFill>
                <a:effectLst/>
                <a:latin typeface="Times New Roman" panose="02020603050405020304" pitchFamily="18" charset="0"/>
                <a:ea typeface="Times New Roman" panose="02020603050405020304" pitchFamily="18" charset="0"/>
              </a:rPr>
              <a:t>В данном подходе фокус сконцентрирован в большей степени на структурах данных, которыми управляет система, чем на функциях системы. Инженеры по программному обеспечению часто вначале описывают структуры данных входов (</a:t>
            </a:r>
            <a:r>
              <a:rPr lang="ru-RU" sz="1800" dirty="0" err="1">
                <a:solidFill>
                  <a:srgbClr val="000000"/>
                </a:solidFill>
                <a:effectLst/>
                <a:latin typeface="Times New Roman" panose="02020603050405020304" pitchFamily="18" charset="0"/>
                <a:ea typeface="Times New Roman" panose="02020603050405020304" pitchFamily="18" charset="0"/>
              </a:rPr>
              <a:t>inputs</a:t>
            </a:r>
            <a:r>
              <a:rPr lang="ru-RU" sz="1800" dirty="0">
                <a:solidFill>
                  <a:srgbClr val="000000"/>
                </a:solidFill>
                <a:effectLst/>
                <a:latin typeface="Times New Roman" panose="02020603050405020304" pitchFamily="18" charset="0"/>
                <a:ea typeface="Times New Roman" panose="02020603050405020304" pitchFamily="18" charset="0"/>
              </a:rPr>
              <a:t>) и выходов (</a:t>
            </a:r>
            <a:r>
              <a:rPr lang="ru-RU" sz="1800" dirty="0" err="1">
                <a:solidFill>
                  <a:srgbClr val="000000"/>
                </a:solidFill>
                <a:effectLst/>
                <a:latin typeface="Times New Roman" panose="02020603050405020304" pitchFamily="18" charset="0"/>
                <a:ea typeface="Times New Roman" panose="02020603050405020304" pitchFamily="18" charset="0"/>
              </a:rPr>
              <a:t>outputs</a:t>
            </a:r>
            <a:r>
              <a:rPr lang="ru-RU" sz="1800" dirty="0">
                <a:solidFill>
                  <a:srgbClr val="000000"/>
                </a:solidFill>
                <a:effectLst/>
                <a:latin typeface="Times New Roman" panose="02020603050405020304" pitchFamily="18" charset="0"/>
                <a:ea typeface="Times New Roman" panose="02020603050405020304" pitchFamily="18" charset="0"/>
              </a:rPr>
              <a:t>), а, затем, разрабатывают структуру управления этими данными (или, например, их трансформации).</a:t>
            </a:r>
          </a:p>
          <a:p>
            <a:pPr algn="just"/>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3.6.5 Компонентное проектирование (</a:t>
            </a:r>
            <a:r>
              <a:rPr lang="ru-RU" sz="1800" b="1" dirty="0" err="1">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Component</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-Based Design)</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indent="450215" algn="just">
              <a:lnSpc>
                <a:spcPct val="102000"/>
              </a:lnSpc>
            </a:pPr>
            <a:r>
              <a:rPr lang="ru-RU" sz="1800" dirty="0">
                <a:solidFill>
                  <a:srgbClr val="000000"/>
                </a:solidFill>
                <a:effectLst/>
                <a:latin typeface="Times New Roman" panose="02020603050405020304" pitchFamily="18" charset="0"/>
                <a:ea typeface="Times New Roman" panose="02020603050405020304" pitchFamily="18" charset="0"/>
              </a:rPr>
              <a:t>Программные компоненты являются независимыми единицами, которые обладают однозначно-определенными (</a:t>
            </a:r>
            <a:r>
              <a:rPr lang="ru-RU" sz="1800" dirty="0" err="1">
                <a:solidFill>
                  <a:srgbClr val="000000"/>
                </a:solidFill>
                <a:effectLst/>
                <a:latin typeface="Times New Roman" panose="02020603050405020304" pitchFamily="18" charset="0"/>
                <a:ea typeface="Times New Roman" panose="02020603050405020304" pitchFamily="18" charset="0"/>
              </a:rPr>
              <a:t>well-defined</a:t>
            </a:r>
            <a:r>
              <a:rPr lang="ru-RU" sz="1800" dirty="0">
                <a:solidFill>
                  <a:srgbClr val="000000"/>
                </a:solidFill>
                <a:effectLst/>
                <a:latin typeface="Times New Roman" panose="02020603050405020304" pitchFamily="18" charset="0"/>
                <a:ea typeface="Times New Roman" panose="02020603050405020304" pitchFamily="18" charset="0"/>
              </a:rPr>
              <a:t>) интерфейсами и зависимостями (связями) и могут собираться и развертываться независимо друг от друга. Данный подход призван решить задачи использования, разработки и интеграции таких компонент с целью повышения повторного использования активов (как архитектурных, так и в форме кода).</a:t>
            </a:r>
          </a:p>
          <a:p>
            <a:pPr indent="450215" algn="just">
              <a:lnSpc>
                <a:spcPct val="102000"/>
              </a:lnSpc>
            </a:pPr>
            <a:r>
              <a:rPr lang="ru-RU" sz="1800" dirty="0">
                <a:solidFill>
                  <a:srgbClr val="000000"/>
                </a:solidFill>
                <a:effectLst/>
                <a:latin typeface="Times New Roman" panose="02020603050405020304" pitchFamily="18" charset="0"/>
                <a:ea typeface="Times New Roman" panose="02020603050405020304" pitchFamily="18" charset="0"/>
              </a:rPr>
              <a:t>Компонентно-ориентированное проектирование является одной из наиболее динамично развивающихся концепций проектирования и может рассматриваться как предвестник и основа сервисно-ориентированного подхода (Service-</a:t>
            </a:r>
            <a:r>
              <a:rPr lang="ru-RU" sz="1800" dirty="0" err="1">
                <a:solidFill>
                  <a:srgbClr val="000000"/>
                </a:solidFill>
                <a:effectLst/>
                <a:latin typeface="Times New Roman" panose="02020603050405020304" pitchFamily="18" charset="0"/>
                <a:ea typeface="Times New Roman" panose="02020603050405020304" pitchFamily="18" charset="0"/>
              </a:rPr>
              <a:t>Oriented</a:t>
            </a:r>
            <a:r>
              <a:rPr lang="ru-RU" sz="1800" dirty="0">
                <a:solidFill>
                  <a:srgbClr val="000000"/>
                </a:solidFill>
                <a:effectLst/>
                <a:latin typeface="Times New Roman" panose="02020603050405020304" pitchFamily="18" charset="0"/>
                <a:ea typeface="Times New Roman" panose="02020603050405020304" pitchFamily="18" charset="0"/>
              </a:rPr>
              <a:t> Architecture, SOA) в проектировании, не рассматриваемого, к сожалению, в SWEBOK, но все более активно использующегося в индустрии и смещающего акценты с аспектов организации связи интерфейс-реализация к обмену информацией на уровне интерфейс-интерфейс (то есть – межкомпонентному взаимодействию). По мнению автора книги, уже наступил тот момент, когда необходимо вводить отдельную тему, посвященную сервисно-ориентированному подходу в проектировании и сервисно-ориентированным архитектурам, как моделям. В частности, нотация UML 2.0 уже позволяет решать ряд вопросов, связанных с визуальным представлением соответствующих архитектурных решений, где сервисы (службы) могут рассматриваться как публикуемая функциональность одиночных компонентов и групп компонентов, объединенных в более “крупные” блоки, обеспечивающие предоставление соответствующей сервисной функциональности.</a:t>
            </a:r>
          </a:p>
          <a:p>
            <a:pPr algn="just"/>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3.6.6 Другие методы (</a:t>
            </a:r>
            <a:r>
              <a:rPr lang="ru-RU" sz="1800" b="1" dirty="0" err="1">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Other</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b="1" dirty="0" err="1">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Methods</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r>
              <a:rPr lang="ru-RU" sz="1800" dirty="0">
                <a:effectLst/>
                <a:latin typeface="Times New Roman" panose="02020603050405020304" pitchFamily="18" charset="0"/>
                <a:ea typeface="Calibri" panose="020F0502020204030204" pitchFamily="34" charset="0"/>
              </a:rPr>
              <a:t>Другие интересные, но менее распространенные подходы, в основном, представляют собой формальные и точные (строгие) методы, а также, методы трансформации</a:t>
            </a:r>
            <a:r>
              <a:rPr lang="ru-RU" dirty="0">
                <a:effectLst/>
              </a:rPr>
              <a:t> </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Такое противопоставление – достаточно спорный вопрос, так как функциональная ответственность столь же близка принципам современного объектно-ориентированного проектирования, сколь и абстракция данных. Это вопрос эволюционирования взглядов и степени их консерватизма.</a:t>
            </a:r>
          </a:p>
          <a:p>
            <a:endParaRPr lang="ru-RU" dirty="0"/>
          </a:p>
        </p:txBody>
      </p:sp>
      <p:sp>
        <p:nvSpPr>
          <p:cNvPr id="4" name="Номер слайда 3"/>
          <p:cNvSpPr>
            <a:spLocks noGrp="1"/>
          </p:cNvSpPr>
          <p:nvPr>
            <p:ph type="sldNum" sz="quarter" idx="5"/>
          </p:nvPr>
        </p:nvSpPr>
        <p:spPr/>
        <p:txBody>
          <a:bodyPr/>
          <a:lstStyle/>
          <a:p>
            <a:fld id="{DF59912B-E66D-4A8E-8CDB-D0164B49BF89}" type="slidenum">
              <a:rPr lang="ru-RU" smtClean="0"/>
              <a:t>14</a:t>
            </a:fld>
            <a:endParaRPr lang="ru-RU"/>
          </a:p>
        </p:txBody>
      </p:sp>
    </p:spTree>
    <p:extLst>
      <p:ext uri="{BB962C8B-B14F-4D97-AF65-F5344CB8AC3E}">
        <p14:creationId xmlns:p14="http://schemas.microsoft.com/office/powerpoint/2010/main" val="1255695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normAutofit/>
          </a:bodyPr>
          <a:lstStyle>
            <a:lvl1pPr algn="ctr">
              <a:defRPr sz="4000" baseline="0">
                <a:solidFill>
                  <a:srgbClr val="0070C0"/>
                </a:solidFill>
                <a:latin typeface="Impact" panose="020B080603090205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atin typeface="Arial Narrow" panose="020B06060202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A53E0805-E946-49A1-A715-7C9D8C1CD6FE}" type="datetime1">
              <a:rPr lang="en-US" smtClean="0"/>
              <a:t>10/15/2025</a:t>
            </a:fld>
            <a:endParaRPr lang="en-US" dirty="0"/>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lvl1pPr>
              <a:defRPr kern="0" cap="none" spc="0" baseline="0"/>
            </a:lvl1p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lvl1pPr>
              <a:defRPr sz="2400">
                <a:solidFill>
                  <a:srgbClr val="0070C0"/>
                </a:solidFill>
                <a:latin typeface="Arial Black" panose="020B0A04020102020204" pitchFamily="34" charset="0"/>
              </a:defRPr>
            </a:lvl1p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990299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normAutofit/>
          </a:bodyPr>
          <a:lstStyle>
            <a:lvl1pPr>
              <a:defRPr sz="4000">
                <a:solidFill>
                  <a:srgbClr val="0070C0"/>
                </a:solidFill>
                <a:latin typeface="Impact" panose="020B080603090205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a:defRPr>
                <a:latin typeface="Arial Narrow" panose="020B0606020202030204" pitchFamily="34" charset="0"/>
              </a:defRPr>
            </a:lvl1pPr>
            <a:lvl2pPr marL="685800" indent="-228600">
              <a:buFont typeface="Courier New" panose="02070309020205020404" pitchFamily="49" charset="0"/>
              <a:buChar char="o"/>
              <a:defRPr>
                <a:latin typeface="Arial Narrow" panose="020B0606020202030204" pitchFamily="34" charset="0"/>
              </a:defRPr>
            </a:lvl2pPr>
            <a:lvl3pPr>
              <a:defRPr>
                <a:latin typeface="Arial Narrow" panose="020B0606020202030204" pitchFamily="34" charset="0"/>
              </a:defRPr>
            </a:lvl3pPr>
            <a:lvl4pPr marL="1600200" indent="-228600">
              <a:buFont typeface="Courier New" panose="02070309020205020404" pitchFamily="49" charset="0"/>
              <a:buChar char="o"/>
              <a:defRPr>
                <a:latin typeface="Arial Narrow" panose="020B0606020202030204" pitchFamily="34" charset="0"/>
              </a:defRPr>
            </a:lvl4pPr>
            <a:lvl5pPr>
              <a:defRPr>
                <a:latin typeface="Arial Narrow" panose="020B0606020202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4EBB0E72-E0A4-4D7B-815B-6413EF16F256}" type="datetime1">
              <a:rPr lang="en-US" smtClean="0"/>
              <a:t>10/15/2025</a:t>
            </a:fld>
            <a:endParaRPr lang="en-US" dirty="0"/>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lvl1pPr>
              <a:defRPr kern="0" cap="none" spc="0" baseline="0"/>
            </a:lvl1p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lvl1pPr>
              <a:defRPr sz="2400">
                <a:solidFill>
                  <a:srgbClr val="0070C0"/>
                </a:solidFill>
                <a:latin typeface="Arial Black" panose="020B0A04020102020204" pitchFamily="34" charset="0"/>
              </a:defRPr>
            </a:lvl1pPr>
          </a:lstStyle>
          <a:p>
            <a:fld id="{DFA5D71E-5CDF-4C93-8A75-5B916FDC5BEA}" type="slidenum">
              <a:rPr lang="en-US" smtClean="0"/>
              <a:pPr/>
              <a:t>‹#›</a:t>
            </a:fld>
            <a:endParaRPr lang="en-US" dirty="0"/>
          </a:p>
        </p:txBody>
      </p:sp>
      <p:pic>
        <p:nvPicPr>
          <p:cNvPr id="9" name="Picture 3">
            <a:extLst>
              <a:ext uri="{FF2B5EF4-FFF2-40B4-BE49-F238E27FC236}">
                <a16:creationId xmlns:a16="http://schemas.microsoft.com/office/drawing/2014/main" id="{6BB1964A-EEF4-7C34-0A53-E047F165559A}"/>
              </a:ext>
            </a:extLst>
          </p:cNvPr>
          <p:cNvPicPr>
            <a:picLocks noChangeAspect="1"/>
          </p:cNvPicPr>
          <p:nvPr userDrawn="1"/>
        </p:nvPicPr>
        <p:blipFill rotWithShape="1">
          <a:blip r:embed="rId2"/>
          <a:srcRect l="48996" r="44914"/>
          <a:stretch/>
        </p:blipFill>
        <p:spPr>
          <a:xfrm flipH="1">
            <a:off x="2959" y="5629"/>
            <a:ext cx="835241" cy="6858000"/>
          </a:xfrm>
          <a:prstGeom prst="rect">
            <a:avLst/>
          </a:prstGeom>
        </p:spPr>
      </p:pic>
      <p:pic>
        <p:nvPicPr>
          <p:cNvPr id="10" name="Рисунок 9">
            <a:extLst>
              <a:ext uri="{FF2B5EF4-FFF2-40B4-BE49-F238E27FC236}">
                <a16:creationId xmlns:a16="http://schemas.microsoft.com/office/drawing/2014/main" id="{54B8041D-61A8-6E8D-B1A0-9F40D3F9F172}"/>
              </a:ext>
            </a:extLst>
          </p:cNvPr>
          <p:cNvPicPr>
            <a:picLocks noChangeAspect="1"/>
          </p:cNvPicPr>
          <p:nvPr userDrawn="1"/>
        </p:nvPicPr>
        <p:blipFill>
          <a:blip r:embed="rId3"/>
          <a:stretch>
            <a:fillRect/>
          </a:stretch>
        </p:blipFill>
        <p:spPr>
          <a:xfrm>
            <a:off x="49104" y="478053"/>
            <a:ext cx="742950" cy="714375"/>
          </a:xfrm>
          <a:prstGeom prst="rect">
            <a:avLst/>
          </a:prstGeom>
        </p:spPr>
      </p:pic>
      <p:pic>
        <p:nvPicPr>
          <p:cNvPr id="11" name="Рисунок 10" descr="Изображение выглядит как текст&#10;&#10;Автоматически созданное описание">
            <a:extLst>
              <a:ext uri="{FF2B5EF4-FFF2-40B4-BE49-F238E27FC236}">
                <a16:creationId xmlns:a16="http://schemas.microsoft.com/office/drawing/2014/main" id="{0BF58049-EBA6-6666-4932-E3FF1741EF9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032918"/>
            <a:ext cx="843280" cy="835241"/>
          </a:xfrm>
          <a:prstGeom prst="rect">
            <a:avLst/>
          </a:prstGeom>
        </p:spPr>
      </p:pic>
    </p:spTree>
    <p:extLst>
      <p:ext uri="{BB962C8B-B14F-4D97-AF65-F5344CB8AC3E}">
        <p14:creationId xmlns:p14="http://schemas.microsoft.com/office/powerpoint/2010/main" val="149715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CE93EA5A-1AE2-458D-9AE6-FF6025E0C491}" type="datetime1">
              <a:rPr lang="en-US" smtClean="0"/>
              <a:t>10/15/2025</a:t>
            </a:fld>
            <a:endParaRPr lang="en-US" dirty="0"/>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4086220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B970C53A-BD8C-4CF4-B47F-135838B79B0F}" type="datetime1">
              <a:rPr lang="en-US" smtClean="0"/>
              <a:t>10/15/2025</a:t>
            </a:fld>
            <a:endParaRPr lang="en-US" dirty="0"/>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ru-RU"/>
              <a:t>© Д.В.Кубраков, 2023</a:t>
            </a:r>
            <a:endParaRPr lang="en-US" dirty="0"/>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308163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2D78A838-72D8-44E7-9178-64A7CE5C804D}" type="datetime1">
              <a:rPr lang="en-US" smtClean="0"/>
              <a:t>10/15/2025</a:t>
            </a:fld>
            <a:endParaRPr lang="en-US" dirty="0"/>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ru-RU"/>
              <a:t>© Д.В.Кубраков, 2023</a:t>
            </a:r>
            <a:endParaRPr lang="en-US" dirty="0"/>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989864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D5F827D9-E4EA-4EB0-8ED6-C829077BE1AC}" type="datetime1">
              <a:rPr lang="en-US" smtClean="0"/>
              <a:t>10/15/2025</a:t>
            </a:fld>
            <a:endParaRPr lang="en-US" dirty="0"/>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ru-RU"/>
              <a:t>© Д.В.Кубраков, 2023</a:t>
            </a:r>
            <a:endParaRPr lang="en-US" dirty="0"/>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841376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FCEABFE2-EF3F-417A-903C-9A93937A9246}" type="datetime1">
              <a:rPr lang="en-US" smtClean="0"/>
              <a:t>10/15/2025</a:t>
            </a:fld>
            <a:endParaRPr lang="en-US" dirty="0"/>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ru-RU"/>
              <a:t>© Д.В.Кубраков, 2023</a:t>
            </a:r>
            <a:endParaRPr lang="en-US" dirty="0"/>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237991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19AE38BA-0E5D-4FC3-AC73-BA0F12FAEDF1}" type="datetime1">
              <a:rPr lang="en-US" smtClean="0"/>
              <a:t>10/15/2025</a:t>
            </a:fld>
            <a:endParaRPr lang="en-US" dirty="0"/>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ru-RU"/>
              <a:t>© Д.В.Кубраков, 2023</a:t>
            </a:r>
            <a:endParaRPr lang="en-US" dirty="0"/>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227747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41AE0786-E990-492E-AE6E-66BD6C6E2D32}" type="datetime1">
              <a:rPr lang="en-US" smtClean="0"/>
              <a:t>10/15/2025</a:t>
            </a:fld>
            <a:endParaRPr lang="en-US" dirty="0"/>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ru-RU"/>
              <a:t>© Д.В.Кубраков, 2023</a:t>
            </a:r>
            <a:endParaRPr lang="en-US" dirty="0"/>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116176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1C5AB7EE-B52D-4FD2-A1CD-223903584E4A}" type="datetime1">
              <a:rPr lang="en-US" smtClean="0"/>
              <a:t>10/15/2025</a:t>
            </a:fld>
            <a:endParaRPr lang="en-US" dirty="0"/>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912457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p:txBody>
          <a:bodyPr/>
          <a:lstStyle/>
          <a:p>
            <a:fld id="{C6CDFF47-8CB5-4F0A-88AE-CAE1CC8C1576}" type="datetime1">
              <a:rPr lang="en-US" smtClean="0"/>
              <a:t>10/15/2025</a:t>
            </a:fld>
            <a:endParaRPr lang="en-US" dirty="0"/>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p:txBody>
          <a:body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552364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838200" y="6400800"/>
            <a:ext cx="2743200" cy="365125"/>
          </a:xfrm>
          <a:prstGeom prst="rect">
            <a:avLst/>
          </a:prstGeom>
        </p:spPr>
        <p:txBody>
          <a:bodyPr vert="horz" lIns="91440" tIns="45720" rIns="91440" bIns="45720" rtlCol="0" anchor="ctr"/>
          <a:lstStyle>
            <a:lvl1pPr algn="l">
              <a:defRPr sz="900" cap="all" spc="150" baseline="0">
                <a:solidFill>
                  <a:schemeClr val="tx1">
                    <a:tint val="75000"/>
                  </a:schemeClr>
                </a:solidFill>
              </a:defRPr>
            </a:lvl1pPr>
          </a:lstStyle>
          <a:p>
            <a:fld id="{0347780B-8D62-4CAC-B30D-4811E6CDB64A}" type="datetime1">
              <a:rPr lang="en-US" smtClean="0"/>
              <a:t>10/15/2025</a:t>
            </a:fld>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038600" y="6400800"/>
            <a:ext cx="4114800" cy="365125"/>
          </a:xfrm>
          <a:prstGeom prst="rect">
            <a:avLst/>
          </a:prstGeom>
        </p:spPr>
        <p:txBody>
          <a:bodyPr vert="horz" lIns="91440" tIns="45720" rIns="91440" bIns="45720" rtlCol="0" anchor="ctr"/>
          <a:lstStyle>
            <a:lvl1pPr algn="ctr">
              <a:defRPr sz="900" kern="0" cap="none" spc="0" baseline="0">
                <a:solidFill>
                  <a:schemeClr val="tx1">
                    <a:tint val="75000"/>
                  </a:schemeClr>
                </a:solidFill>
              </a:defRPr>
            </a:lvl1p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8610600" y="6400800"/>
            <a:ext cx="2743200" cy="365125"/>
          </a:xfrm>
          <a:prstGeom prst="rect">
            <a:avLst/>
          </a:prstGeom>
        </p:spPr>
        <p:txBody>
          <a:bodyPr vert="horz" lIns="91440" tIns="45720" rIns="91440" bIns="45720" rtlCol="0" anchor="ctr"/>
          <a:lstStyle>
            <a:lvl1pPr algn="r">
              <a:defRPr sz="2400" cap="all" spc="150" baseline="0">
                <a:solidFill>
                  <a:srgbClr val="0070C0"/>
                </a:solidFill>
                <a:latin typeface="Arial Black" panose="020B0A04020102020204" pitchFamily="34" charset="0"/>
              </a:defRPr>
            </a:lvl1pPr>
          </a:lstStyle>
          <a:p>
            <a:fld id="{DFA5D71E-5CDF-4C93-8A75-5B916FDC5BEA}" type="slidenum">
              <a:rPr lang="en-US" smtClean="0"/>
              <a:pPr/>
              <a:t>‹#›</a:t>
            </a:fld>
            <a:endParaRPr lang="en-US" dirty="0"/>
          </a:p>
        </p:txBody>
      </p:sp>
      <p:pic>
        <p:nvPicPr>
          <p:cNvPr id="7" name="Picture 3">
            <a:extLst>
              <a:ext uri="{FF2B5EF4-FFF2-40B4-BE49-F238E27FC236}">
                <a16:creationId xmlns:a16="http://schemas.microsoft.com/office/drawing/2014/main" id="{F01306B9-4B5A-554A-3E05-3740307511D3}"/>
              </a:ext>
            </a:extLst>
          </p:cNvPr>
          <p:cNvPicPr>
            <a:picLocks noChangeAspect="1"/>
          </p:cNvPicPr>
          <p:nvPr userDrawn="1"/>
        </p:nvPicPr>
        <p:blipFill rotWithShape="1">
          <a:blip r:embed="rId13"/>
          <a:srcRect l="48996" r="44914"/>
          <a:stretch/>
        </p:blipFill>
        <p:spPr>
          <a:xfrm flipH="1">
            <a:off x="2959" y="5629"/>
            <a:ext cx="835241" cy="6858000"/>
          </a:xfrm>
          <a:prstGeom prst="rect">
            <a:avLst/>
          </a:prstGeom>
        </p:spPr>
      </p:pic>
      <p:pic>
        <p:nvPicPr>
          <p:cNvPr id="8" name="Рисунок 7">
            <a:extLst>
              <a:ext uri="{FF2B5EF4-FFF2-40B4-BE49-F238E27FC236}">
                <a16:creationId xmlns:a16="http://schemas.microsoft.com/office/drawing/2014/main" id="{46460162-D4D7-727E-4087-A21E1BC61EA2}"/>
              </a:ext>
            </a:extLst>
          </p:cNvPr>
          <p:cNvPicPr>
            <a:picLocks noChangeAspect="1"/>
          </p:cNvPicPr>
          <p:nvPr userDrawn="1"/>
        </p:nvPicPr>
        <p:blipFill>
          <a:blip r:embed="rId14"/>
          <a:stretch>
            <a:fillRect/>
          </a:stretch>
        </p:blipFill>
        <p:spPr>
          <a:xfrm>
            <a:off x="49104" y="478053"/>
            <a:ext cx="742950" cy="714375"/>
          </a:xfrm>
          <a:prstGeom prst="rect">
            <a:avLst/>
          </a:prstGeom>
        </p:spPr>
      </p:pic>
      <p:pic>
        <p:nvPicPr>
          <p:cNvPr id="9" name="Рисунок 8" descr="Изображение выглядит как текст&#10;&#10;Автоматически созданное описание">
            <a:extLst>
              <a:ext uri="{FF2B5EF4-FFF2-40B4-BE49-F238E27FC236}">
                <a16:creationId xmlns:a16="http://schemas.microsoft.com/office/drawing/2014/main" id="{5C66A050-02AF-9111-FA5E-72472BBA9342}"/>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0" y="6032918"/>
            <a:ext cx="843280" cy="835241"/>
          </a:xfrm>
          <a:prstGeom prst="rect">
            <a:avLst/>
          </a:prstGeom>
        </p:spPr>
      </p:pic>
    </p:spTree>
    <p:extLst>
      <p:ext uri="{BB962C8B-B14F-4D97-AF65-F5344CB8AC3E}">
        <p14:creationId xmlns:p14="http://schemas.microsoft.com/office/powerpoint/2010/main" val="962817692"/>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hdr="0" dt="0"/>
  <p:txStyles>
    <p:titleStyle>
      <a:lvl1pPr algn="l" defTabSz="914400" rtl="0" eaLnBrk="1" latinLnBrk="0" hangingPunct="1">
        <a:lnSpc>
          <a:spcPct val="90000"/>
        </a:lnSpc>
        <a:spcBef>
          <a:spcPct val="0"/>
        </a:spcBef>
        <a:buNone/>
        <a:defRPr sz="4000" kern="1200">
          <a:solidFill>
            <a:srgbClr val="0070C0"/>
          </a:solidFill>
          <a:latin typeface="Impact" panose="020B080603090205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Segoe UI" panose="020B0502040204020203" pitchFamily="34" charset="0"/>
        <a:buChar char="+"/>
        <a:defRPr sz="2800" kern="1200">
          <a:solidFill>
            <a:schemeClr val="tx1"/>
          </a:solidFill>
          <a:latin typeface="Arial Narrow" panose="020B060602020203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Courier New" panose="02070309020205020404" pitchFamily="49" charset="0"/>
        <a:buChar char="o"/>
        <a:defRPr sz="2400" kern="1200">
          <a:solidFill>
            <a:schemeClr val="tx1"/>
          </a:solidFill>
          <a:latin typeface="Arial Narrow" panose="020B060602020203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Segoe UI" panose="020B0502040204020203" pitchFamily="34" charset="0"/>
        <a:buChar char="+"/>
        <a:defRPr sz="2000" kern="1200">
          <a:solidFill>
            <a:schemeClr val="tx1"/>
          </a:solidFill>
          <a:latin typeface="Arial Narrow" panose="020B060602020203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Courier New" panose="02070309020205020404" pitchFamily="49" charset="0"/>
        <a:buChar char="o"/>
        <a:defRPr sz="1800" kern="1200">
          <a:solidFill>
            <a:schemeClr val="tx1"/>
          </a:solidFill>
          <a:latin typeface="Arial Narrow" panose="020B060602020203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Segoe UI" panose="020B0502040204020203" pitchFamily="34" charset="0"/>
        <a:buChar char="+"/>
        <a:defRPr sz="1800" kern="1200">
          <a:solidFill>
            <a:schemeClr val="tx1"/>
          </a:solidFill>
          <a:latin typeface="Arial Narrow" panose="020B0606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mailto:dvkubrakov@yandex.ru"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endParaRPr>
          </a:p>
        </p:txBody>
      </p:sp>
      <p:sp>
        <p:nvSpPr>
          <p:cNvPr id="11" name="Rectangle 10">
            <a:extLst>
              <a:ext uri="{FF2B5EF4-FFF2-40B4-BE49-F238E27FC236}">
                <a16:creationId xmlns:a16="http://schemas.microsoft.com/office/drawing/2014/main" id="{361EA5BB-A258-4E22-94F4-C79A44136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dirty="0">
              <a:solidFill>
                <a:schemeClr val="tx1"/>
              </a:solidFill>
            </a:endParaRPr>
          </a:p>
        </p:txBody>
      </p:sp>
      <p:sp useBgFill="1">
        <p:nvSpPr>
          <p:cNvPr id="13" name="Oval 12">
            <a:extLst>
              <a:ext uri="{FF2B5EF4-FFF2-40B4-BE49-F238E27FC236}">
                <a16:creationId xmlns:a16="http://schemas.microsoft.com/office/drawing/2014/main" id="{D4ABA013-0939-4293-B39F-3B85576FB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22250" y="1219200"/>
            <a:ext cx="373689" cy="373689"/>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15" name="Graphic 10">
            <a:extLst>
              <a:ext uri="{FF2B5EF4-FFF2-40B4-BE49-F238E27FC236}">
                <a16:creationId xmlns:a16="http://schemas.microsoft.com/office/drawing/2014/main" id="{51E206C0-387B-4108-8BD3-D98A4DA7E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45890" y="28456"/>
            <a:ext cx="1977027" cy="197702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p:nvSpPr>
          <p:cNvPr id="2" name="Заголовок 1">
            <a:extLst>
              <a:ext uri="{FF2B5EF4-FFF2-40B4-BE49-F238E27FC236}">
                <a16:creationId xmlns:a16="http://schemas.microsoft.com/office/drawing/2014/main" id="{A2887982-DD03-CD60-C60E-D06357F4012D}"/>
              </a:ext>
            </a:extLst>
          </p:cNvPr>
          <p:cNvSpPr>
            <a:spLocks noGrp="1"/>
          </p:cNvSpPr>
          <p:nvPr>
            <p:ph type="ctrTitle"/>
          </p:nvPr>
        </p:nvSpPr>
        <p:spPr>
          <a:xfrm>
            <a:off x="485634" y="1181668"/>
            <a:ext cx="6332586" cy="3184274"/>
          </a:xfrm>
        </p:spPr>
        <p:txBody>
          <a:bodyPr anchor="b">
            <a:noAutofit/>
          </a:bodyPr>
          <a:lstStyle/>
          <a:p>
            <a:pPr algn="l"/>
            <a:r>
              <a:rPr lang="ru-RU" dirty="0"/>
              <a:t>Программная инженерия</a:t>
            </a:r>
          </a:p>
        </p:txBody>
      </p:sp>
      <p:sp>
        <p:nvSpPr>
          <p:cNvPr id="3" name="Подзаголовок 2">
            <a:extLst>
              <a:ext uri="{FF2B5EF4-FFF2-40B4-BE49-F238E27FC236}">
                <a16:creationId xmlns:a16="http://schemas.microsoft.com/office/drawing/2014/main" id="{2CAAB4E2-8F8F-A87E-1CD0-D82B1A4E6862}"/>
              </a:ext>
            </a:extLst>
          </p:cNvPr>
          <p:cNvSpPr>
            <a:spLocks noGrp="1"/>
          </p:cNvSpPr>
          <p:nvPr>
            <p:ph type="subTitle" idx="1"/>
          </p:nvPr>
        </p:nvSpPr>
        <p:spPr>
          <a:xfrm>
            <a:off x="452753" y="4524807"/>
            <a:ext cx="6353035" cy="1495379"/>
          </a:xfrm>
        </p:spPr>
        <p:txBody>
          <a:bodyPr>
            <a:normAutofit/>
          </a:bodyPr>
          <a:lstStyle/>
          <a:p>
            <a:pPr algn="l"/>
            <a:r>
              <a:rPr lang="ru-RU" sz="2200" dirty="0"/>
              <a:t>Дмитрий Владимирович </a:t>
            </a:r>
            <a:r>
              <a:rPr lang="ru-RU" sz="2200" dirty="0" err="1"/>
              <a:t>Кубраков</a:t>
            </a:r>
            <a:br>
              <a:rPr lang="ru-RU" sz="2200" dirty="0"/>
            </a:br>
            <a:r>
              <a:rPr lang="en-US" sz="2200" dirty="0">
                <a:hlinkClick r:id="rId2"/>
              </a:rPr>
              <a:t>dvkubrakov@yandex.ru</a:t>
            </a:r>
            <a:br>
              <a:rPr lang="ru-RU" sz="2200" dirty="0"/>
            </a:br>
            <a:endParaRPr lang="ru-RU" sz="2200" dirty="0"/>
          </a:p>
        </p:txBody>
      </p:sp>
      <p:pic>
        <p:nvPicPr>
          <p:cNvPr id="4" name="Picture 3">
            <a:extLst>
              <a:ext uri="{FF2B5EF4-FFF2-40B4-BE49-F238E27FC236}">
                <a16:creationId xmlns:a16="http://schemas.microsoft.com/office/drawing/2014/main" id="{CCD81D93-1CCB-D99A-90E3-80BEE3ED79C8}"/>
              </a:ext>
            </a:extLst>
          </p:cNvPr>
          <p:cNvPicPr>
            <a:picLocks noChangeAspect="1"/>
          </p:cNvPicPr>
          <p:nvPr/>
        </p:nvPicPr>
        <p:blipFill rotWithShape="1">
          <a:blip r:embed="rId3"/>
          <a:srcRect l="29052" r="35580"/>
          <a:stretch/>
        </p:blipFill>
        <p:spPr>
          <a:xfrm>
            <a:off x="7330303" y="1"/>
            <a:ext cx="4851171" cy="6858000"/>
          </a:xfrm>
          <a:prstGeom prst="rect">
            <a:avLst/>
          </a:prstGeom>
        </p:spPr>
      </p:pic>
      <p:sp useBgFill="1">
        <p:nvSpPr>
          <p:cNvPr id="17" name="Graphic 10">
            <a:extLst>
              <a:ext uri="{FF2B5EF4-FFF2-40B4-BE49-F238E27FC236}">
                <a16:creationId xmlns:a16="http://schemas.microsoft.com/office/drawing/2014/main" id="{74A68384-D945-4F45-B9FB-C5A00DCC9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967314" y="5207478"/>
            <a:ext cx="719888" cy="719888"/>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pic>
        <p:nvPicPr>
          <p:cNvPr id="6" name="Рисунок 5">
            <a:extLst>
              <a:ext uri="{FF2B5EF4-FFF2-40B4-BE49-F238E27FC236}">
                <a16:creationId xmlns:a16="http://schemas.microsoft.com/office/drawing/2014/main" id="{2B147AE8-D193-9BCD-E6F6-8537542F2BF9}"/>
              </a:ext>
            </a:extLst>
          </p:cNvPr>
          <p:cNvPicPr>
            <a:picLocks noChangeAspect="1"/>
          </p:cNvPicPr>
          <p:nvPr/>
        </p:nvPicPr>
        <p:blipFill>
          <a:blip r:embed="rId4"/>
          <a:stretch>
            <a:fillRect/>
          </a:stretch>
        </p:blipFill>
        <p:spPr>
          <a:xfrm>
            <a:off x="728314" y="570040"/>
            <a:ext cx="742950" cy="714375"/>
          </a:xfrm>
          <a:prstGeom prst="rect">
            <a:avLst/>
          </a:prstGeom>
        </p:spPr>
      </p:pic>
    </p:spTree>
    <p:extLst>
      <p:ext uri="{BB962C8B-B14F-4D97-AF65-F5344CB8AC3E}">
        <p14:creationId xmlns:p14="http://schemas.microsoft.com/office/powerpoint/2010/main" val="4255506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E2257B39-652C-19DA-7F0C-98DB3BE628A3}"/>
              </a:ext>
            </a:extLst>
          </p:cNvPr>
          <p:cNvSpPr>
            <a:spLocks noGrp="1"/>
          </p:cNvSpPr>
          <p:nvPr>
            <p:ph type="title"/>
          </p:nvPr>
        </p:nvSpPr>
        <p:spPr>
          <a:xfrm>
            <a:off x="838200" y="92075"/>
            <a:ext cx="10515600" cy="1292406"/>
          </a:xfrm>
        </p:spPr>
        <p:txBody>
          <a:bodyPr>
            <a:noAutofit/>
          </a:bodyPr>
          <a:lstStyle/>
          <a:p>
            <a:r>
              <a:rPr lang="ru-RU" sz="4400" dirty="0"/>
              <a:t>Тема 3: Проектирование программного обеспечения</a:t>
            </a:r>
          </a:p>
        </p:txBody>
      </p:sp>
      <p:sp>
        <p:nvSpPr>
          <p:cNvPr id="7" name="Текст 6">
            <a:extLst>
              <a:ext uri="{FF2B5EF4-FFF2-40B4-BE49-F238E27FC236}">
                <a16:creationId xmlns:a16="http://schemas.microsoft.com/office/drawing/2014/main" id="{DE856234-CE97-B13C-9F29-1CFC3908611B}"/>
              </a:ext>
            </a:extLst>
          </p:cNvPr>
          <p:cNvSpPr>
            <a:spLocks noGrp="1"/>
          </p:cNvSpPr>
          <p:nvPr>
            <p:ph type="body" idx="1"/>
          </p:nvPr>
        </p:nvSpPr>
        <p:spPr>
          <a:xfrm>
            <a:off x="1010215" y="1507444"/>
            <a:ext cx="11108267" cy="3471962"/>
          </a:xfrm>
        </p:spPr>
        <p:txBody>
          <a:bodyPr>
            <a:noAutofit/>
          </a:bodyPr>
          <a:lstStyle/>
          <a:p>
            <a:pPr marL="342900" lvl="0" indent="-342900">
              <a:buFont typeface="+mj-lt"/>
              <a:buAutoNum type="arabicPeriod"/>
            </a:pPr>
            <a:r>
              <a:rPr lang="ru-RU" sz="2800" dirty="0">
                <a:solidFill>
                  <a:schemeClr val="tx1"/>
                </a:solidFill>
              </a:rPr>
              <a:t>Место проектирования в программной инженерии</a:t>
            </a:r>
          </a:p>
          <a:p>
            <a:pPr marL="342900" lvl="0" indent="-342900">
              <a:buFont typeface="+mj-lt"/>
              <a:buAutoNum type="arabicPeriod"/>
            </a:pPr>
            <a:r>
              <a:rPr lang="ru-RU" sz="2800" dirty="0">
                <a:solidFill>
                  <a:schemeClr val="tx1"/>
                </a:solidFill>
              </a:rPr>
              <a:t>Основы проектирования (</a:t>
            </a:r>
            <a:r>
              <a:rPr lang="en-GB" sz="2800" dirty="0">
                <a:solidFill>
                  <a:schemeClr val="tx1"/>
                </a:solidFill>
              </a:rPr>
              <a:t>Software Design Fundamentals)</a:t>
            </a:r>
            <a:endParaRPr lang="ru-RU" sz="2800" dirty="0">
              <a:solidFill>
                <a:schemeClr val="tx1"/>
              </a:solidFill>
            </a:endParaRPr>
          </a:p>
          <a:p>
            <a:pPr marL="342900" lvl="0" indent="-342900">
              <a:buFont typeface="+mj-lt"/>
              <a:buAutoNum type="arabicPeriod"/>
            </a:pPr>
            <a:r>
              <a:rPr lang="ru-RU" sz="2800" dirty="0">
                <a:solidFill>
                  <a:schemeClr val="tx1"/>
                </a:solidFill>
              </a:rPr>
              <a:t>Ключевые вопросы проектирования (Key </a:t>
            </a:r>
            <a:r>
              <a:rPr lang="ru-RU" sz="2800" dirty="0" err="1">
                <a:solidFill>
                  <a:schemeClr val="tx1"/>
                </a:solidFill>
              </a:rPr>
              <a:t>Issues</a:t>
            </a:r>
            <a:r>
              <a:rPr lang="ru-RU" sz="2800" dirty="0">
                <a:solidFill>
                  <a:schemeClr val="tx1"/>
                </a:solidFill>
              </a:rPr>
              <a:t> </a:t>
            </a:r>
            <a:r>
              <a:rPr lang="ru-RU" sz="2800" dirty="0" err="1">
                <a:solidFill>
                  <a:schemeClr val="tx1"/>
                </a:solidFill>
              </a:rPr>
              <a:t>in</a:t>
            </a:r>
            <a:r>
              <a:rPr lang="ru-RU" sz="2800" dirty="0">
                <a:solidFill>
                  <a:schemeClr val="tx1"/>
                </a:solidFill>
              </a:rPr>
              <a:t> Software Design)</a:t>
            </a:r>
          </a:p>
          <a:p>
            <a:pPr marL="342900" lvl="0" indent="-342900">
              <a:buFont typeface="+mj-lt"/>
              <a:buAutoNum type="arabicPeriod"/>
            </a:pPr>
            <a:r>
              <a:rPr lang="ru-RU" sz="2800" dirty="0">
                <a:solidFill>
                  <a:schemeClr val="tx1"/>
                </a:solidFill>
              </a:rPr>
              <a:t>Структура и архитектура программного обеспечения (Software </a:t>
            </a:r>
            <a:r>
              <a:rPr lang="ru-RU" sz="2800" dirty="0" err="1">
                <a:solidFill>
                  <a:schemeClr val="tx1"/>
                </a:solidFill>
              </a:rPr>
              <a:t>Structure</a:t>
            </a:r>
            <a:r>
              <a:rPr lang="ru-RU" sz="2800" dirty="0">
                <a:solidFill>
                  <a:schemeClr val="tx1"/>
                </a:solidFill>
              </a:rPr>
              <a:t> </a:t>
            </a:r>
            <a:r>
              <a:rPr lang="ru-RU" sz="2800" dirty="0" err="1">
                <a:solidFill>
                  <a:schemeClr val="tx1"/>
                </a:solidFill>
              </a:rPr>
              <a:t>and</a:t>
            </a:r>
            <a:r>
              <a:rPr lang="ru-RU" sz="2800" dirty="0">
                <a:solidFill>
                  <a:schemeClr val="tx1"/>
                </a:solidFill>
              </a:rPr>
              <a:t> Architecture)</a:t>
            </a:r>
          </a:p>
          <a:p>
            <a:pPr marL="342900" lvl="0" indent="-342900">
              <a:buFont typeface="+mj-lt"/>
              <a:buAutoNum type="arabicPeriod"/>
            </a:pPr>
            <a:r>
              <a:rPr lang="ru-RU" sz="2800" dirty="0">
                <a:solidFill>
                  <a:schemeClr val="tx1"/>
                </a:solidFill>
              </a:rPr>
              <a:t>Анализ качества и оценка программного дизайна (</a:t>
            </a:r>
            <a:r>
              <a:rPr lang="en-GB" sz="2800" dirty="0">
                <a:solidFill>
                  <a:schemeClr val="tx1"/>
                </a:solidFill>
              </a:rPr>
              <a:t>Software Design Quality Analysis and Evaluation)</a:t>
            </a:r>
            <a:endParaRPr lang="ru-RU" sz="2800" dirty="0">
              <a:solidFill>
                <a:schemeClr val="tx1"/>
              </a:solidFill>
            </a:endParaRPr>
          </a:p>
          <a:p>
            <a:pPr marL="342900" lvl="0" indent="-342900">
              <a:buFont typeface="+mj-lt"/>
              <a:buAutoNum type="arabicPeriod"/>
            </a:pPr>
            <a:r>
              <a:rPr lang="ru-RU" sz="2800" dirty="0">
                <a:solidFill>
                  <a:schemeClr val="tx1"/>
                </a:solidFill>
              </a:rPr>
              <a:t>Нотации проектирования (Software Design </a:t>
            </a:r>
            <a:r>
              <a:rPr lang="ru-RU" sz="2800" dirty="0" err="1">
                <a:solidFill>
                  <a:schemeClr val="tx1"/>
                </a:solidFill>
              </a:rPr>
              <a:t>Notations</a:t>
            </a:r>
            <a:r>
              <a:rPr lang="ru-RU" sz="2800" dirty="0">
                <a:solidFill>
                  <a:schemeClr val="tx1"/>
                </a:solidFill>
              </a:rPr>
              <a:t>)</a:t>
            </a:r>
          </a:p>
          <a:p>
            <a:pPr marL="342900" lvl="0" indent="-342900">
              <a:buFont typeface="+mj-lt"/>
              <a:buAutoNum type="arabicPeriod"/>
            </a:pPr>
            <a:r>
              <a:rPr lang="ru-RU" sz="2800" dirty="0">
                <a:solidFill>
                  <a:schemeClr val="tx1"/>
                </a:solidFill>
              </a:rPr>
              <a:t>Стратегии и методы проектирования программного обеспечения (Software Design </a:t>
            </a:r>
            <a:r>
              <a:rPr lang="ru-RU" sz="2800" dirty="0" err="1">
                <a:solidFill>
                  <a:schemeClr val="tx1"/>
                </a:solidFill>
              </a:rPr>
              <a:t>Startegies</a:t>
            </a:r>
            <a:r>
              <a:rPr lang="ru-RU" sz="2800" dirty="0">
                <a:solidFill>
                  <a:schemeClr val="tx1"/>
                </a:solidFill>
              </a:rPr>
              <a:t> </a:t>
            </a:r>
            <a:r>
              <a:rPr lang="ru-RU" sz="2800" dirty="0" err="1">
                <a:solidFill>
                  <a:schemeClr val="tx1"/>
                </a:solidFill>
              </a:rPr>
              <a:t>and</a:t>
            </a:r>
            <a:r>
              <a:rPr lang="ru-RU" sz="2800" dirty="0">
                <a:solidFill>
                  <a:schemeClr val="tx1"/>
                </a:solidFill>
              </a:rPr>
              <a:t> </a:t>
            </a:r>
            <a:r>
              <a:rPr lang="ru-RU" sz="2800" dirty="0" err="1">
                <a:solidFill>
                  <a:schemeClr val="tx1"/>
                </a:solidFill>
              </a:rPr>
              <a:t>Methods</a:t>
            </a:r>
            <a:r>
              <a:rPr lang="ru-RU" sz="2800" dirty="0">
                <a:solidFill>
                  <a:schemeClr val="tx1"/>
                </a:solidFill>
              </a:rPr>
              <a:t>)</a:t>
            </a:r>
          </a:p>
        </p:txBody>
      </p:sp>
      <p:sp>
        <p:nvSpPr>
          <p:cNvPr id="4" name="Нижний колонтитул 3">
            <a:extLst>
              <a:ext uri="{FF2B5EF4-FFF2-40B4-BE49-F238E27FC236}">
                <a16:creationId xmlns:a16="http://schemas.microsoft.com/office/drawing/2014/main" id="{D1ED3A2E-9E2F-BB29-A210-810328DCBB52}"/>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820B03AF-AB6B-E580-9C13-D493D038F887}"/>
              </a:ext>
            </a:extLst>
          </p:cNvPr>
          <p:cNvSpPr>
            <a:spLocks noGrp="1"/>
          </p:cNvSpPr>
          <p:nvPr>
            <p:ph type="sldNum" sz="quarter" idx="12"/>
          </p:nvPr>
        </p:nvSpPr>
        <p:spPr/>
        <p:txBody>
          <a:bodyPr/>
          <a:lstStyle/>
          <a:p>
            <a:fld id="{DFA5D71E-5CDF-4C93-8A75-5B916FDC5BEA}" type="slidenum">
              <a:rPr lang="en-US" smtClean="0"/>
              <a:pPr/>
              <a:t>2</a:t>
            </a:fld>
            <a:endParaRPr lang="en-US" dirty="0"/>
          </a:p>
        </p:txBody>
      </p:sp>
    </p:spTree>
    <p:extLst>
      <p:ext uri="{BB962C8B-B14F-4D97-AF65-F5344CB8AC3E}">
        <p14:creationId xmlns:p14="http://schemas.microsoft.com/office/powerpoint/2010/main" val="2469822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fontScale="90000"/>
          </a:bodyPr>
          <a:lstStyle/>
          <a:p>
            <a:r>
              <a:rPr lang="ru-RU" sz="2800" dirty="0"/>
              <a:t>Место проектирования программного обеспечения в программной инженерии</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3</a:t>
            </a:fld>
            <a:endParaRPr lang="en-US" dirty="0"/>
          </a:p>
        </p:txBody>
      </p:sp>
      <p:sp>
        <p:nvSpPr>
          <p:cNvPr id="11" name="Объект 10">
            <a:extLst>
              <a:ext uri="{FF2B5EF4-FFF2-40B4-BE49-F238E27FC236}">
                <a16:creationId xmlns:a16="http://schemas.microsoft.com/office/drawing/2014/main" id="{2FD9986B-08C9-43B4-AD92-08B85B4656A3}"/>
              </a:ext>
            </a:extLst>
          </p:cNvPr>
          <p:cNvSpPr>
            <a:spLocks noGrp="1"/>
          </p:cNvSpPr>
          <p:nvPr>
            <p:ph idx="1"/>
          </p:nvPr>
        </p:nvSpPr>
        <p:spPr>
          <a:xfrm>
            <a:off x="11353800" y="286813"/>
            <a:ext cx="669159" cy="4334985"/>
          </a:xfrm>
        </p:spPr>
        <p:txBody>
          <a:bodyPr>
            <a:normAutofit/>
          </a:bodyPr>
          <a:lstStyle/>
          <a:p>
            <a:r>
              <a:rPr lang="ru-RU" sz="800" dirty="0"/>
              <a:t>1</a:t>
            </a:r>
          </a:p>
        </p:txBody>
      </p:sp>
      <p:pic>
        <p:nvPicPr>
          <p:cNvPr id="7" name="Рисунок 6">
            <a:extLst>
              <a:ext uri="{FF2B5EF4-FFF2-40B4-BE49-F238E27FC236}">
                <a16:creationId xmlns:a16="http://schemas.microsoft.com/office/drawing/2014/main" id="{4E9F5F23-5CA4-4749-9611-094589A45D8E}"/>
              </a:ext>
            </a:extLst>
          </p:cNvPr>
          <p:cNvPicPr>
            <a:picLocks noChangeAspect="1"/>
          </p:cNvPicPr>
          <p:nvPr/>
        </p:nvPicPr>
        <p:blipFill>
          <a:blip r:embed="rId2"/>
          <a:stretch>
            <a:fillRect/>
          </a:stretch>
        </p:blipFill>
        <p:spPr>
          <a:xfrm>
            <a:off x="1077363" y="536971"/>
            <a:ext cx="9388443" cy="5989952"/>
          </a:xfrm>
          <a:prstGeom prst="rect">
            <a:avLst/>
          </a:prstGeom>
        </p:spPr>
      </p:pic>
    </p:spTree>
    <p:extLst>
      <p:ext uri="{BB962C8B-B14F-4D97-AF65-F5344CB8AC3E}">
        <p14:creationId xmlns:p14="http://schemas.microsoft.com/office/powerpoint/2010/main" val="2545307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a:bodyPr>
          <a:lstStyle/>
          <a:p>
            <a:r>
              <a:rPr lang="ru-RU" sz="2800" dirty="0"/>
              <a:t>Определение проектирования в программной инженерии</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4</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982177" y="1517041"/>
            <a:ext cx="10515600" cy="4019284"/>
          </a:xfrm>
        </p:spPr>
        <p:txBody>
          <a:bodyPr>
            <a:normAutofit fontScale="77500" lnSpcReduction="20000"/>
          </a:bodyPr>
          <a:lstStyle/>
          <a:p>
            <a:r>
              <a:rPr lang="ru-RU" b="1" dirty="0"/>
              <a:t>Процесс определения архитектуры, компонентов, интерфейсов и других характеристик системы или ее компонентов </a:t>
            </a:r>
            <a:r>
              <a:rPr lang="ru-RU" dirty="0"/>
              <a:t>называется проектированием. </a:t>
            </a:r>
          </a:p>
          <a:p>
            <a:r>
              <a:rPr lang="ru-RU" dirty="0"/>
              <a:t>Результат процесса проектирования – дизайн. </a:t>
            </a:r>
          </a:p>
          <a:p>
            <a:r>
              <a:rPr lang="ru-RU" dirty="0"/>
              <a:t>Рассматриваемое как процесс, </a:t>
            </a:r>
            <a:r>
              <a:rPr lang="ru-RU" b="1" dirty="0"/>
              <a:t>проектирование есть инженерная деятельность в рамках жизненного цикла</a:t>
            </a:r>
            <a:r>
              <a:rPr lang="ru-RU" dirty="0"/>
              <a:t> (в данном контексте – программного обеспечения), в которой надлежащим образом анализируются требования для создания описания внутренней структуры ПО, являющейся основой для конструирования программного обеспечения как такового. Программный дизайн (как результат деятельности по проектированию) должен описывать архитектуру программного обеспечения, то есть представлять декомпозицию программной системы в виде организованной структуры компонент и интерфейсов между компонентами. </a:t>
            </a:r>
          </a:p>
          <a:p>
            <a:r>
              <a:rPr lang="ru-RU" b="1" dirty="0"/>
              <a:t>Важнейшей характеристикой готовности дизайна является тот уровень детализации компонентов, который позволяет заняться их конструированием</a:t>
            </a:r>
            <a:r>
              <a:rPr lang="ru-RU" dirty="0"/>
              <a:t>. Термины дизайн и архитектура могут использоваться взаимозаменяемым образом, но чаще говорят о дизайне как о целостном взгляде на архитектуру системы.</a:t>
            </a:r>
          </a:p>
        </p:txBody>
      </p:sp>
    </p:spTree>
    <p:extLst>
      <p:ext uri="{BB962C8B-B14F-4D97-AF65-F5344CB8AC3E}">
        <p14:creationId xmlns:p14="http://schemas.microsoft.com/office/powerpoint/2010/main" val="2943338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a:bodyPr>
          <a:lstStyle/>
          <a:p>
            <a:r>
              <a:rPr lang="ru-RU" sz="2800" dirty="0"/>
              <a:t>Объем понятия проектирования в программной инженерии</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5</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955017" y="697731"/>
            <a:ext cx="10515600" cy="4019284"/>
          </a:xfrm>
        </p:spPr>
        <p:txBody>
          <a:bodyPr>
            <a:normAutofit/>
          </a:bodyPr>
          <a:lstStyle/>
          <a:p>
            <a:endParaRPr lang="ru-RU" dirty="0"/>
          </a:p>
          <a:p>
            <a:endParaRPr lang="ru-RU" dirty="0"/>
          </a:p>
        </p:txBody>
      </p:sp>
      <p:pic>
        <p:nvPicPr>
          <p:cNvPr id="3" name="Рисунок 2">
            <a:extLst>
              <a:ext uri="{FF2B5EF4-FFF2-40B4-BE49-F238E27FC236}">
                <a16:creationId xmlns:a16="http://schemas.microsoft.com/office/drawing/2014/main" id="{F28FE2A5-AFA4-4C56-9911-C0AE968576A9}"/>
              </a:ext>
            </a:extLst>
          </p:cNvPr>
          <p:cNvPicPr>
            <a:picLocks noChangeAspect="1"/>
          </p:cNvPicPr>
          <p:nvPr/>
        </p:nvPicPr>
        <p:blipFill>
          <a:blip r:embed="rId2"/>
          <a:stretch>
            <a:fillRect/>
          </a:stretch>
        </p:blipFill>
        <p:spPr>
          <a:xfrm>
            <a:off x="1054349" y="652567"/>
            <a:ext cx="9257548" cy="6033009"/>
          </a:xfrm>
          <a:prstGeom prst="rect">
            <a:avLst/>
          </a:prstGeom>
        </p:spPr>
      </p:pic>
    </p:spTree>
    <p:extLst>
      <p:ext uri="{BB962C8B-B14F-4D97-AF65-F5344CB8AC3E}">
        <p14:creationId xmlns:p14="http://schemas.microsoft.com/office/powerpoint/2010/main" val="1685451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fontScale="90000"/>
          </a:bodyPr>
          <a:lstStyle/>
          <a:p>
            <a:r>
              <a:rPr lang="ru-RU" sz="6000" dirty="0"/>
              <a:t>Общие понятия</a:t>
            </a:r>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6</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1094371" y="3108547"/>
            <a:ext cx="10515600" cy="4019284"/>
          </a:xfrm>
        </p:spPr>
        <p:txBody>
          <a:bodyPr>
            <a:normAutofit fontScale="62500" lnSpcReduction="20000"/>
          </a:bodyPr>
          <a:lstStyle/>
          <a:p>
            <a:pPr marL="0" indent="0">
              <a:buNone/>
            </a:pPr>
            <a:r>
              <a:rPr lang="ru-RU" dirty="0"/>
              <a:t>Например, архитектурный фреймворк – TOGAF [TOGAF, 2003], предлагает следующие &lt;возможные&gt; цели (</a:t>
            </a:r>
            <a:r>
              <a:rPr lang="ru-RU" dirty="0" err="1"/>
              <a:t>goals</a:t>
            </a:r>
            <a:r>
              <a:rPr lang="ru-RU" dirty="0"/>
              <a:t>):</a:t>
            </a:r>
          </a:p>
          <a:p>
            <a:r>
              <a:rPr lang="ru-RU" dirty="0"/>
              <a:t>•	Улучшение и повышение продуктивности бизнес-процессов</a:t>
            </a:r>
          </a:p>
          <a:p>
            <a:r>
              <a:rPr lang="ru-RU" dirty="0"/>
              <a:t>•	Уменьшение затрат</a:t>
            </a:r>
          </a:p>
          <a:p>
            <a:r>
              <a:rPr lang="ru-RU" dirty="0"/>
              <a:t>•	Улучшение операционной бизнес-деятельности</a:t>
            </a:r>
          </a:p>
          <a:p>
            <a:r>
              <a:rPr lang="ru-RU" dirty="0"/>
              <a:t>•	Повышение эффективности управления</a:t>
            </a:r>
          </a:p>
          <a:p>
            <a:r>
              <a:rPr lang="ru-RU" dirty="0"/>
              <a:t>•	Уменьшение рисков</a:t>
            </a:r>
          </a:p>
          <a:p>
            <a:r>
              <a:rPr lang="ru-RU" dirty="0"/>
              <a:t>•	Повышение эффективности ИТ-организации</a:t>
            </a:r>
          </a:p>
          <a:p>
            <a:r>
              <a:rPr lang="ru-RU" dirty="0"/>
              <a:t>•	Повышение продуктивности работы пользователей</a:t>
            </a:r>
          </a:p>
          <a:p>
            <a:r>
              <a:rPr lang="ru-RU" dirty="0"/>
              <a:t>•	Повышение </a:t>
            </a:r>
            <a:r>
              <a:rPr lang="ru-RU" dirty="0" err="1"/>
              <a:t>интероперабельности</a:t>
            </a:r>
            <a:r>
              <a:rPr lang="ru-RU" dirty="0"/>
              <a:t> (возможности и прозрачности взаимодействия)</a:t>
            </a:r>
          </a:p>
          <a:p>
            <a:r>
              <a:rPr lang="ru-RU" dirty="0"/>
              <a:t>•	Уменьшение стоимости &lt;поддержки&gt; жизненного цикла</a:t>
            </a:r>
          </a:p>
          <a:p>
            <a:r>
              <a:rPr lang="ru-RU" dirty="0"/>
              <a:t>•	Улучшение характеристик безопасности</a:t>
            </a:r>
          </a:p>
          <a:p>
            <a:r>
              <a:rPr lang="ru-RU" dirty="0"/>
              <a:t>•	Повышение управляемости</a:t>
            </a:r>
          </a:p>
          <a:p>
            <a:endParaRPr lang="ru-RU" dirty="0"/>
          </a:p>
        </p:txBody>
      </p:sp>
      <p:sp>
        <p:nvSpPr>
          <p:cNvPr id="7" name="Объект 10">
            <a:extLst>
              <a:ext uri="{FF2B5EF4-FFF2-40B4-BE49-F238E27FC236}">
                <a16:creationId xmlns:a16="http://schemas.microsoft.com/office/drawing/2014/main" id="{51B6387D-40AA-4A1C-B2CB-3161AF8FB74B}"/>
              </a:ext>
            </a:extLst>
          </p:cNvPr>
          <p:cNvSpPr txBox="1">
            <a:spLocks/>
          </p:cNvSpPr>
          <p:nvPr/>
        </p:nvSpPr>
        <p:spPr>
          <a:xfrm>
            <a:off x="1094371" y="652567"/>
            <a:ext cx="10515599" cy="25923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chemeClr val="accent1"/>
              </a:buClr>
              <a:buFont typeface="Segoe UI" panose="020B0502040204020203" pitchFamily="34" charset="0"/>
              <a:buChar char="+"/>
              <a:defRPr sz="2800" kern="1200">
                <a:solidFill>
                  <a:schemeClr val="tx1"/>
                </a:solidFill>
                <a:latin typeface="Arial Narrow" panose="020B060602020203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Courier New" panose="02070309020205020404" pitchFamily="49" charset="0"/>
              <a:buChar char="o"/>
              <a:defRPr sz="2400" kern="1200">
                <a:solidFill>
                  <a:schemeClr val="tx1"/>
                </a:solidFill>
                <a:latin typeface="Arial Narrow" panose="020B060602020203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Segoe UI" panose="020B0502040204020203" pitchFamily="34" charset="0"/>
              <a:buChar char="+"/>
              <a:defRPr sz="2000" kern="1200">
                <a:solidFill>
                  <a:schemeClr val="tx1"/>
                </a:solidFill>
                <a:latin typeface="Arial Narrow" panose="020B060602020203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Courier New" panose="02070309020205020404" pitchFamily="49" charset="0"/>
              <a:buChar char="o"/>
              <a:defRPr sz="1800" kern="1200">
                <a:solidFill>
                  <a:schemeClr val="tx1"/>
                </a:solidFill>
                <a:latin typeface="Arial Narrow" panose="020B060602020203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Segoe UI" panose="020B0502040204020203" pitchFamily="34" charset="0"/>
              <a:buChar char="+"/>
              <a:defRPr sz="1800" kern="1200">
                <a:solidFill>
                  <a:schemeClr val="tx1"/>
                </a:solidFill>
                <a:latin typeface="Arial Narrow" panose="020B0606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ru-RU" dirty="0"/>
              <a:t>цель архитектуры, </a:t>
            </a:r>
          </a:p>
          <a:p>
            <a:pPr marL="0" indent="0">
              <a:buNone/>
            </a:pPr>
            <a:r>
              <a:rPr lang="ru-RU" dirty="0"/>
              <a:t>ее ограничения,</a:t>
            </a:r>
          </a:p>
          <a:p>
            <a:pPr marL="0" indent="0">
              <a:buNone/>
            </a:pPr>
            <a:r>
              <a:rPr lang="ru-RU" dirty="0"/>
              <a:t>возможные альтернативы, </a:t>
            </a:r>
          </a:p>
          <a:p>
            <a:pPr marL="0" indent="0">
              <a:buNone/>
            </a:pPr>
            <a:r>
              <a:rPr lang="ru-RU" dirty="0"/>
              <a:t>используемые представления </a:t>
            </a:r>
          </a:p>
          <a:p>
            <a:pPr marL="0" indent="0">
              <a:buNone/>
            </a:pPr>
            <a:r>
              <a:rPr lang="ru-RU" dirty="0"/>
              <a:t>решения.</a:t>
            </a:r>
          </a:p>
        </p:txBody>
      </p:sp>
    </p:spTree>
    <p:extLst>
      <p:ext uri="{BB962C8B-B14F-4D97-AF65-F5344CB8AC3E}">
        <p14:creationId xmlns:p14="http://schemas.microsoft.com/office/powerpoint/2010/main" val="3329347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a:bodyPr>
          <a:lstStyle/>
          <a:p>
            <a:r>
              <a:rPr lang="ru-RU" sz="2800" dirty="0"/>
              <a:t>Контекст проектирования (</a:t>
            </a:r>
            <a:r>
              <a:rPr lang="en-GB" sz="2800" dirty="0"/>
              <a:t>Context of Software Design)</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7</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955017" y="697731"/>
            <a:ext cx="10515600" cy="2380447"/>
          </a:xfrm>
        </p:spPr>
        <p:txBody>
          <a:bodyPr>
            <a:normAutofit/>
          </a:bodyPr>
          <a:lstStyle/>
          <a:p>
            <a:pPr marL="0" indent="0">
              <a:buNone/>
            </a:pPr>
            <a:endParaRPr lang="ru-RU" dirty="0"/>
          </a:p>
          <a:p>
            <a:pPr marL="0" indent="0">
              <a:buNone/>
            </a:pPr>
            <a:r>
              <a:rPr lang="ru-RU" dirty="0"/>
              <a:t>жизненный цикл программной инженерии, </a:t>
            </a:r>
          </a:p>
          <a:p>
            <a:pPr marL="0" indent="0">
              <a:buNone/>
            </a:pPr>
            <a:r>
              <a:rPr lang="ru-RU" dirty="0"/>
              <a:t>результатами анализа требований, </a:t>
            </a:r>
          </a:p>
          <a:p>
            <a:pPr marL="0" indent="0">
              <a:buNone/>
            </a:pPr>
            <a:r>
              <a:rPr lang="ru-RU" dirty="0"/>
              <a:t>конструированием программных систем и их тестированием. </a:t>
            </a:r>
          </a:p>
        </p:txBody>
      </p:sp>
      <p:sp>
        <p:nvSpPr>
          <p:cNvPr id="8" name="TextBox 7">
            <a:extLst>
              <a:ext uri="{FF2B5EF4-FFF2-40B4-BE49-F238E27FC236}">
                <a16:creationId xmlns:a16="http://schemas.microsoft.com/office/drawing/2014/main" id="{56255E2C-B735-4198-8667-BD6D5E7A1DB2}"/>
              </a:ext>
            </a:extLst>
          </p:cNvPr>
          <p:cNvSpPr txBox="1"/>
          <p:nvPr/>
        </p:nvSpPr>
        <p:spPr>
          <a:xfrm>
            <a:off x="955017" y="3429000"/>
            <a:ext cx="6097508" cy="1477328"/>
          </a:xfrm>
          <a:prstGeom prst="rect">
            <a:avLst/>
          </a:prstGeom>
          <a:noFill/>
        </p:spPr>
        <p:txBody>
          <a:bodyPr wrap="square">
            <a:spAutoFit/>
          </a:bodyPr>
          <a:lstStyle/>
          <a:p>
            <a:pPr marL="0" indent="0">
              <a:buNone/>
            </a:pPr>
            <a:r>
              <a:rPr lang="ru-RU" dirty="0"/>
              <a:t>Стандарты жизненного цикла, например, IEEE и ISO/IEC (ГОСТ Р) 12207 уделяют специальное внимание вопросам проектирования и детализируют их, описывая контекст проектирования – от требований до тестов.</a:t>
            </a:r>
          </a:p>
        </p:txBody>
      </p:sp>
    </p:spTree>
    <p:extLst>
      <p:ext uri="{BB962C8B-B14F-4D97-AF65-F5344CB8AC3E}">
        <p14:creationId xmlns:p14="http://schemas.microsoft.com/office/powerpoint/2010/main" val="1078930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5"/>
            <a:ext cx="11353800" cy="560493"/>
          </a:xfrm>
        </p:spPr>
        <p:txBody>
          <a:bodyPr>
            <a:normAutofit/>
          </a:bodyPr>
          <a:lstStyle/>
          <a:p>
            <a:r>
              <a:rPr lang="ru-RU" sz="2800" dirty="0"/>
              <a:t>Процесс проектирования (Software Design Process)</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8</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1009338" y="1711719"/>
            <a:ext cx="10515600" cy="2380447"/>
          </a:xfrm>
        </p:spPr>
        <p:txBody>
          <a:bodyPr>
            <a:normAutofit/>
          </a:bodyPr>
          <a:lstStyle/>
          <a:p>
            <a:r>
              <a:rPr lang="ru-RU" dirty="0"/>
              <a:t>Архитектурное проектирование – декомпозиция структуры (статической) и организации (динамической) компонент;</a:t>
            </a:r>
          </a:p>
          <a:p>
            <a:r>
              <a:rPr lang="ru-RU" dirty="0"/>
              <a:t>Детализация архитектуры – описывает специфическое поведение и характеристики отдельных компонент.</a:t>
            </a:r>
          </a:p>
        </p:txBody>
      </p:sp>
    </p:spTree>
    <p:extLst>
      <p:ext uri="{BB962C8B-B14F-4D97-AF65-F5344CB8AC3E}">
        <p14:creationId xmlns:p14="http://schemas.microsoft.com/office/powerpoint/2010/main" val="183209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a:bodyPr>
          <a:lstStyle/>
          <a:p>
            <a:r>
              <a:rPr lang="ru-RU" sz="2800" dirty="0"/>
              <a:t>Техники применения (</a:t>
            </a:r>
            <a:r>
              <a:rPr lang="en-GB" sz="2800" dirty="0"/>
              <a:t>Enabling Techniques)</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9</a:t>
            </a:fld>
            <a:endParaRPr lang="en-US" dirty="0"/>
          </a:p>
        </p:txBody>
      </p:sp>
      <p:sp>
        <p:nvSpPr>
          <p:cNvPr id="8" name="Объект 7">
            <a:extLst>
              <a:ext uri="{FF2B5EF4-FFF2-40B4-BE49-F238E27FC236}">
                <a16:creationId xmlns:a16="http://schemas.microsoft.com/office/drawing/2014/main" id="{6F30A236-5958-4047-B63C-12269226F357}"/>
              </a:ext>
            </a:extLst>
          </p:cNvPr>
          <p:cNvSpPr>
            <a:spLocks noGrp="1"/>
          </p:cNvSpPr>
          <p:nvPr>
            <p:ph idx="1"/>
          </p:nvPr>
        </p:nvSpPr>
        <p:spPr>
          <a:xfrm>
            <a:off x="1133631" y="710877"/>
            <a:ext cx="10762938" cy="5689923"/>
          </a:xfrm>
        </p:spPr>
        <p:txBody>
          <a:bodyPr>
            <a:normAutofit/>
          </a:bodyPr>
          <a:lstStyle/>
          <a:p>
            <a:r>
              <a:rPr lang="ru-RU" dirty="0"/>
              <a:t>Абстракция (</a:t>
            </a:r>
            <a:r>
              <a:rPr lang="ru-RU" dirty="0" err="1"/>
              <a:t>Abstraction</a:t>
            </a:r>
            <a:r>
              <a:rPr lang="ru-RU" dirty="0"/>
              <a:t>)</a:t>
            </a:r>
          </a:p>
          <a:p>
            <a:r>
              <a:rPr lang="ru-RU" sz="2700" dirty="0"/>
              <a:t>Связанность и соединение (</a:t>
            </a:r>
            <a:r>
              <a:rPr lang="ru-RU" sz="2700" dirty="0" err="1"/>
              <a:t>Coupling</a:t>
            </a:r>
            <a:r>
              <a:rPr lang="ru-RU" sz="2700" dirty="0"/>
              <a:t> </a:t>
            </a:r>
            <a:r>
              <a:rPr lang="ru-RU" sz="2700" dirty="0" err="1"/>
              <a:t>and</a:t>
            </a:r>
            <a:r>
              <a:rPr lang="ru-RU" sz="2700" dirty="0"/>
              <a:t> </a:t>
            </a:r>
            <a:r>
              <a:rPr lang="ru-RU" sz="2700" dirty="0" err="1"/>
              <a:t>Cohesion</a:t>
            </a:r>
            <a:r>
              <a:rPr lang="ru-RU" sz="2700" dirty="0"/>
              <a:t>)</a:t>
            </a:r>
          </a:p>
          <a:p>
            <a:r>
              <a:rPr lang="ru-RU" dirty="0"/>
              <a:t>Декомпозиция и разбиение на модули (</a:t>
            </a:r>
            <a:r>
              <a:rPr lang="ru-RU" dirty="0" err="1"/>
              <a:t>Decomposition</a:t>
            </a:r>
            <a:r>
              <a:rPr lang="ru-RU" dirty="0"/>
              <a:t> </a:t>
            </a:r>
            <a:r>
              <a:rPr lang="ru-RU" dirty="0" err="1"/>
              <a:t>and</a:t>
            </a:r>
            <a:r>
              <a:rPr lang="ru-RU" dirty="0"/>
              <a:t> </a:t>
            </a:r>
            <a:r>
              <a:rPr lang="ru-RU" dirty="0" err="1"/>
              <a:t>Modularization</a:t>
            </a:r>
            <a:r>
              <a:rPr lang="ru-RU" dirty="0"/>
              <a:t>)</a:t>
            </a:r>
          </a:p>
          <a:p>
            <a:r>
              <a:rPr lang="ru-RU" dirty="0"/>
              <a:t>Инкапсуляция/сокрытие информации (</a:t>
            </a:r>
            <a:r>
              <a:rPr lang="ru-RU" dirty="0" err="1"/>
              <a:t>Encapsulation</a:t>
            </a:r>
            <a:r>
              <a:rPr lang="ru-RU" dirty="0"/>
              <a:t> / </a:t>
            </a:r>
            <a:r>
              <a:rPr lang="ru-RU" dirty="0" err="1"/>
              <a:t>information</a:t>
            </a:r>
            <a:r>
              <a:rPr lang="ru-RU" dirty="0"/>
              <a:t> </a:t>
            </a:r>
            <a:r>
              <a:rPr lang="ru-RU" dirty="0" err="1"/>
              <a:t>hiding</a:t>
            </a:r>
            <a:r>
              <a:rPr lang="ru-RU" dirty="0"/>
              <a:t>)</a:t>
            </a:r>
          </a:p>
          <a:p>
            <a:r>
              <a:rPr lang="ru-RU" dirty="0"/>
              <a:t>Разделение интерфейса и реализации (</a:t>
            </a:r>
            <a:r>
              <a:rPr lang="ru-RU" dirty="0" err="1"/>
              <a:t>Separation</a:t>
            </a:r>
            <a:r>
              <a:rPr lang="ru-RU" dirty="0"/>
              <a:t> </a:t>
            </a:r>
            <a:r>
              <a:rPr lang="ru-RU" dirty="0" err="1"/>
              <a:t>of</a:t>
            </a:r>
            <a:r>
              <a:rPr lang="ru-RU" dirty="0"/>
              <a:t> </a:t>
            </a:r>
            <a:r>
              <a:rPr lang="ru-RU" dirty="0" err="1"/>
              <a:t>interface</a:t>
            </a:r>
            <a:r>
              <a:rPr lang="ru-RU" dirty="0"/>
              <a:t> </a:t>
            </a:r>
            <a:r>
              <a:rPr lang="ru-RU" dirty="0" err="1"/>
              <a:t>and</a:t>
            </a:r>
            <a:r>
              <a:rPr lang="ru-RU" dirty="0"/>
              <a:t> </a:t>
            </a:r>
            <a:r>
              <a:rPr lang="ru-RU" dirty="0" err="1"/>
              <a:t>implementation</a:t>
            </a:r>
            <a:r>
              <a:rPr lang="ru-RU" dirty="0"/>
              <a:t>)</a:t>
            </a:r>
          </a:p>
          <a:p>
            <a:r>
              <a:rPr lang="ru-RU" dirty="0"/>
              <a:t>Достаточность, полнота и простота (</a:t>
            </a:r>
            <a:r>
              <a:rPr lang="ru-RU" dirty="0" err="1"/>
              <a:t>Sufficiency</a:t>
            </a:r>
            <a:r>
              <a:rPr lang="ru-RU" dirty="0"/>
              <a:t>, </a:t>
            </a:r>
            <a:r>
              <a:rPr lang="ru-RU" dirty="0" err="1"/>
              <a:t>completeness</a:t>
            </a:r>
            <a:r>
              <a:rPr lang="ru-RU" dirty="0"/>
              <a:t> </a:t>
            </a:r>
            <a:r>
              <a:rPr lang="ru-RU" dirty="0" err="1"/>
              <a:t>and</a:t>
            </a:r>
            <a:r>
              <a:rPr lang="ru-RU" dirty="0"/>
              <a:t> </a:t>
            </a:r>
            <a:r>
              <a:rPr lang="ru-RU" dirty="0" err="1"/>
              <a:t>primitiveness</a:t>
            </a:r>
            <a:r>
              <a:rPr lang="ru-RU" dirty="0"/>
              <a:t>)</a:t>
            </a:r>
          </a:p>
        </p:txBody>
      </p:sp>
    </p:spTree>
    <p:extLst>
      <p:ext uri="{BB962C8B-B14F-4D97-AF65-F5344CB8AC3E}">
        <p14:creationId xmlns:p14="http://schemas.microsoft.com/office/powerpoint/2010/main" val="2827960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a:bodyPr>
          <a:lstStyle/>
          <a:p>
            <a:r>
              <a:rPr lang="ru-RU" sz="2800" dirty="0"/>
              <a:t>Ключевые вопросы проектирования (Key </a:t>
            </a:r>
            <a:r>
              <a:rPr lang="ru-RU" sz="2800" dirty="0" err="1"/>
              <a:t>Issues</a:t>
            </a:r>
            <a:r>
              <a:rPr lang="ru-RU" sz="2800" dirty="0"/>
              <a:t> </a:t>
            </a:r>
            <a:r>
              <a:rPr lang="ru-RU" sz="2800" dirty="0" err="1"/>
              <a:t>in</a:t>
            </a:r>
            <a:r>
              <a:rPr lang="ru-RU" sz="2800" dirty="0"/>
              <a:t> Software Design)</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10</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955017" y="697730"/>
            <a:ext cx="10515600" cy="5766569"/>
          </a:xfrm>
        </p:spPr>
        <p:txBody>
          <a:bodyPr>
            <a:normAutofit/>
          </a:bodyPr>
          <a:lstStyle/>
          <a:p>
            <a:r>
              <a:rPr lang="ru-RU" b="1" dirty="0"/>
              <a:t>Параллелизм (</a:t>
            </a:r>
            <a:r>
              <a:rPr lang="ru-RU" b="1" dirty="0" err="1"/>
              <a:t>Concurrency</a:t>
            </a:r>
            <a:r>
              <a:rPr lang="ru-RU" b="1" dirty="0"/>
              <a:t>)</a:t>
            </a:r>
          </a:p>
          <a:p>
            <a:r>
              <a:rPr lang="ru-RU" b="1" dirty="0"/>
              <a:t>Контроль и обработка событий (Control </a:t>
            </a:r>
            <a:r>
              <a:rPr lang="ru-RU" b="1" dirty="0" err="1"/>
              <a:t>and</a:t>
            </a:r>
            <a:r>
              <a:rPr lang="ru-RU" b="1" dirty="0"/>
              <a:t> </a:t>
            </a:r>
            <a:r>
              <a:rPr lang="ru-RU" b="1" dirty="0" err="1"/>
              <a:t>Handling</a:t>
            </a:r>
            <a:r>
              <a:rPr lang="ru-RU" b="1" dirty="0"/>
              <a:t> </a:t>
            </a:r>
            <a:r>
              <a:rPr lang="ru-RU" b="1" dirty="0" err="1"/>
              <a:t>of</a:t>
            </a:r>
            <a:r>
              <a:rPr lang="ru-RU" b="1" dirty="0"/>
              <a:t> </a:t>
            </a:r>
            <a:r>
              <a:rPr lang="ru-RU" b="1" dirty="0" err="1"/>
              <a:t>Events</a:t>
            </a:r>
            <a:r>
              <a:rPr lang="ru-RU" b="1" dirty="0"/>
              <a:t>)</a:t>
            </a:r>
          </a:p>
          <a:p>
            <a:r>
              <a:rPr lang="ru-RU" b="1" dirty="0"/>
              <a:t>Распределение компонентов (Distribution </a:t>
            </a:r>
            <a:r>
              <a:rPr lang="ru-RU" b="1" dirty="0" err="1"/>
              <a:t>of</a:t>
            </a:r>
            <a:r>
              <a:rPr lang="ru-RU" b="1" dirty="0"/>
              <a:t> </a:t>
            </a:r>
            <a:r>
              <a:rPr lang="ru-RU" b="1" dirty="0" err="1"/>
              <a:t>Components</a:t>
            </a:r>
            <a:r>
              <a:rPr lang="ru-RU" b="1" dirty="0"/>
              <a:t>)</a:t>
            </a:r>
          </a:p>
          <a:p>
            <a:r>
              <a:rPr lang="ru-RU" b="1" dirty="0"/>
              <a:t>Обработка ошибок и исключительных ситуаций и обеспечение отказоустойчивости (</a:t>
            </a:r>
            <a:r>
              <a:rPr lang="ru-RU" b="1" dirty="0" err="1"/>
              <a:t>Errors</a:t>
            </a:r>
            <a:r>
              <a:rPr lang="ru-RU" b="1" dirty="0"/>
              <a:t> </a:t>
            </a:r>
            <a:r>
              <a:rPr lang="ru-RU" b="1" dirty="0" err="1"/>
              <a:t>and</a:t>
            </a:r>
            <a:r>
              <a:rPr lang="ru-RU" b="1" dirty="0"/>
              <a:t> </a:t>
            </a:r>
            <a:r>
              <a:rPr lang="ru-RU" b="1" dirty="0" err="1"/>
              <a:t>Exception</a:t>
            </a:r>
            <a:r>
              <a:rPr lang="ru-RU" b="1" dirty="0"/>
              <a:t> </a:t>
            </a:r>
            <a:r>
              <a:rPr lang="ru-RU" b="1" dirty="0" err="1"/>
              <a:t>Handling</a:t>
            </a:r>
            <a:r>
              <a:rPr lang="ru-RU" b="1" dirty="0"/>
              <a:t> </a:t>
            </a:r>
            <a:r>
              <a:rPr lang="ru-RU" b="1" dirty="0" err="1"/>
              <a:t>and</a:t>
            </a:r>
            <a:r>
              <a:rPr lang="ru-RU" b="1" dirty="0"/>
              <a:t> </a:t>
            </a:r>
            <a:r>
              <a:rPr lang="ru-RU" b="1" dirty="0" err="1"/>
              <a:t>Fault</a:t>
            </a:r>
            <a:r>
              <a:rPr lang="ru-RU" b="1" dirty="0"/>
              <a:t> </a:t>
            </a:r>
            <a:r>
              <a:rPr lang="ru-RU" b="1" dirty="0" err="1"/>
              <a:t>Tolerance</a:t>
            </a:r>
            <a:r>
              <a:rPr lang="ru-RU" b="1" dirty="0"/>
              <a:t>)</a:t>
            </a:r>
          </a:p>
          <a:p>
            <a:r>
              <a:rPr lang="ru-RU" b="1" dirty="0"/>
              <a:t>Взаимодействие и представление (</a:t>
            </a:r>
            <a:r>
              <a:rPr lang="ru-RU" b="1" dirty="0" err="1"/>
              <a:t>Interaction</a:t>
            </a:r>
            <a:r>
              <a:rPr lang="ru-RU" b="1" dirty="0"/>
              <a:t> </a:t>
            </a:r>
            <a:r>
              <a:rPr lang="ru-RU" b="1" dirty="0" err="1"/>
              <a:t>and</a:t>
            </a:r>
            <a:r>
              <a:rPr lang="ru-RU" b="1" dirty="0"/>
              <a:t> </a:t>
            </a:r>
            <a:r>
              <a:rPr lang="ru-RU" b="1" dirty="0" err="1"/>
              <a:t>Presentation</a:t>
            </a:r>
            <a:r>
              <a:rPr lang="ru-RU" b="1" dirty="0"/>
              <a:t>)</a:t>
            </a:r>
          </a:p>
          <a:p>
            <a:r>
              <a:rPr lang="ru-RU" b="1" dirty="0"/>
              <a:t>Сохраняемость данных (Data </a:t>
            </a:r>
            <a:r>
              <a:rPr lang="ru-RU" b="1" dirty="0" err="1"/>
              <a:t>Persistence</a:t>
            </a:r>
            <a:r>
              <a:rPr lang="ru-RU" b="1" dirty="0"/>
              <a:t>)</a:t>
            </a:r>
          </a:p>
          <a:p>
            <a:pPr lvl="1"/>
            <a:r>
              <a:rPr lang="ru-RU" b="1" dirty="0"/>
              <a:t>Именно сохраняемость, а не сохранность, так как тема касается не доступа к базам данных, как такового, а также не гарантий сохранности информации. Суть вопроса – как должны обрабатываться “долгоживущие” данные.</a:t>
            </a:r>
          </a:p>
          <a:p>
            <a:endParaRPr lang="ru-RU" b="1" dirty="0"/>
          </a:p>
          <a:p>
            <a:endParaRPr lang="ru-RU" b="1" dirty="0"/>
          </a:p>
          <a:p>
            <a:endParaRPr lang="ru-RU" b="1" dirty="0"/>
          </a:p>
        </p:txBody>
      </p:sp>
    </p:spTree>
    <p:extLst>
      <p:ext uri="{BB962C8B-B14F-4D97-AF65-F5344CB8AC3E}">
        <p14:creationId xmlns:p14="http://schemas.microsoft.com/office/powerpoint/2010/main" val="1135742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fontScale="90000"/>
          </a:bodyPr>
          <a:lstStyle/>
          <a:p>
            <a:r>
              <a:rPr lang="ru-RU" sz="2800" dirty="0"/>
              <a:t>Структура и архитектура программного обеспечения (Software </a:t>
            </a:r>
            <a:r>
              <a:rPr lang="ru-RU" sz="2800" dirty="0" err="1"/>
              <a:t>Structure</a:t>
            </a:r>
            <a:r>
              <a:rPr lang="ru-RU" sz="2800" dirty="0"/>
              <a:t> </a:t>
            </a:r>
            <a:r>
              <a:rPr lang="ru-RU" sz="2800" dirty="0" err="1"/>
              <a:t>and</a:t>
            </a:r>
            <a:r>
              <a:rPr lang="ru-RU" sz="2800" dirty="0"/>
              <a:t> Architecture)</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11</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955016" y="697731"/>
            <a:ext cx="10790515" cy="3809876"/>
          </a:xfrm>
        </p:spPr>
        <p:txBody>
          <a:bodyPr>
            <a:normAutofit lnSpcReduction="10000"/>
          </a:bodyPr>
          <a:lstStyle/>
          <a:p>
            <a:r>
              <a:rPr lang="en-GB" b="1" dirty="0"/>
              <a:t>TOGAF [TOGAF81, 2003] – The Open Group Architecture Framework (</a:t>
            </a:r>
            <a:r>
              <a:rPr lang="ru-RU" b="1" dirty="0"/>
              <a:t>на момент первичного написания данной главы доступен в версии 8.1, впервые опубликованной в декабре 2003 года; в 2009 году вышла версия </a:t>
            </a:r>
            <a:r>
              <a:rPr lang="en-GB" b="1" dirty="0"/>
              <a:t>TOGAF 9)</a:t>
            </a:r>
          </a:p>
          <a:p>
            <a:r>
              <a:rPr lang="ru-RU" b="1" dirty="0"/>
              <a:t>Модель </a:t>
            </a:r>
            <a:r>
              <a:rPr lang="ru-RU" b="1" dirty="0" err="1"/>
              <a:t>Захмана</a:t>
            </a:r>
            <a:r>
              <a:rPr lang="ru-RU" b="1" dirty="0"/>
              <a:t> – </a:t>
            </a:r>
            <a:r>
              <a:rPr lang="en-GB" b="1" dirty="0"/>
              <a:t>Zachman Framework [Zachman]</a:t>
            </a:r>
            <a:endParaRPr lang="ru-RU" b="1" dirty="0"/>
          </a:p>
          <a:p>
            <a:endParaRPr lang="ru-RU" b="1" dirty="0"/>
          </a:p>
          <a:p>
            <a:r>
              <a:rPr lang="ru-RU" b="1" dirty="0"/>
              <a:t>Архитектуры больших организаций</a:t>
            </a:r>
            <a:endParaRPr lang="en-GB" b="1" dirty="0"/>
          </a:p>
          <a:p>
            <a:pPr lvl="1"/>
            <a:r>
              <a:rPr lang="ru-RU" b="1" dirty="0"/>
              <a:t>Руководство по архитектуре электронного правительства </a:t>
            </a:r>
            <a:r>
              <a:rPr lang="en-GB" b="1" dirty="0"/>
              <a:t>E-Gov Enterprise Architecture Guidance [E-Gov, 2002]</a:t>
            </a:r>
            <a:endParaRPr lang="ru-RU" b="1" dirty="0"/>
          </a:p>
        </p:txBody>
      </p:sp>
      <p:sp>
        <p:nvSpPr>
          <p:cNvPr id="3" name="TextBox 2">
            <a:extLst>
              <a:ext uri="{FF2B5EF4-FFF2-40B4-BE49-F238E27FC236}">
                <a16:creationId xmlns:a16="http://schemas.microsoft.com/office/drawing/2014/main" id="{3FFF9B99-9939-4313-8917-1D0AC020531E}"/>
              </a:ext>
            </a:extLst>
          </p:cNvPr>
          <p:cNvSpPr txBox="1"/>
          <p:nvPr/>
        </p:nvSpPr>
        <p:spPr>
          <a:xfrm>
            <a:off x="1081824" y="4507607"/>
            <a:ext cx="9537879" cy="1200329"/>
          </a:xfrm>
          <a:prstGeom prst="rect">
            <a:avLst/>
          </a:prstGeom>
          <a:noFill/>
        </p:spPr>
        <p:txBody>
          <a:bodyPr wrap="square" rtlCol="0">
            <a:spAutoFit/>
          </a:bodyPr>
          <a:lstStyle/>
          <a:p>
            <a:pPr marL="285750" indent="-285750">
              <a:buFont typeface="Arial" panose="020B0604020202020204" pitchFamily="34" charset="0"/>
              <a:buChar char="•"/>
            </a:pPr>
            <a:r>
              <a:rPr lang="ru-RU" dirty="0"/>
              <a:t>Архитектурные структуры и точки зрения (</a:t>
            </a:r>
            <a:r>
              <a:rPr lang="en-GB" dirty="0"/>
              <a:t>Architectural Structures and Viewpoints)</a:t>
            </a:r>
            <a:endParaRPr lang="ru-RU" dirty="0"/>
          </a:p>
          <a:p>
            <a:pPr marL="285750" indent="-285750">
              <a:buFont typeface="Arial" panose="020B0604020202020204" pitchFamily="34" charset="0"/>
              <a:buChar char="•"/>
            </a:pPr>
            <a:r>
              <a:rPr lang="ru-RU" dirty="0"/>
              <a:t>Архитектурные стили (</a:t>
            </a:r>
            <a:r>
              <a:rPr lang="en-GB" dirty="0"/>
              <a:t>Architectural Styles)</a:t>
            </a:r>
            <a:endParaRPr lang="ru-RU" dirty="0"/>
          </a:p>
          <a:p>
            <a:pPr marL="285750" indent="-285750">
              <a:buFont typeface="Arial" panose="020B0604020202020204" pitchFamily="34" charset="0"/>
              <a:buChar char="•"/>
            </a:pPr>
            <a:r>
              <a:rPr lang="ru-RU" dirty="0"/>
              <a:t>Шаблоны проектирования (</a:t>
            </a:r>
            <a:r>
              <a:rPr lang="en-GB" dirty="0"/>
              <a:t>Design Patterns)</a:t>
            </a:r>
            <a:endParaRPr lang="ru-RU" dirty="0"/>
          </a:p>
          <a:p>
            <a:pPr marL="285750" indent="-285750">
              <a:buFont typeface="Arial" panose="020B0604020202020204" pitchFamily="34" charset="0"/>
              <a:buChar char="•"/>
            </a:pPr>
            <a:r>
              <a:rPr lang="ru-RU" dirty="0"/>
              <a:t>Семейства программ и фреймворков (</a:t>
            </a:r>
            <a:r>
              <a:rPr lang="en-GB" dirty="0"/>
              <a:t>Families of Programs and Frameworks)</a:t>
            </a:r>
            <a:endParaRPr lang="ru-RU" dirty="0"/>
          </a:p>
        </p:txBody>
      </p:sp>
    </p:spTree>
    <p:extLst>
      <p:ext uri="{BB962C8B-B14F-4D97-AF65-F5344CB8AC3E}">
        <p14:creationId xmlns:p14="http://schemas.microsoft.com/office/powerpoint/2010/main" val="2394800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fontScale="90000"/>
          </a:bodyPr>
          <a:lstStyle/>
          <a:p>
            <a:r>
              <a:rPr lang="ru-RU" sz="2800" dirty="0"/>
              <a:t>Анализ качества и оценка программного дизайна (</a:t>
            </a:r>
            <a:r>
              <a:rPr lang="en-GB" sz="2800" dirty="0"/>
              <a:t>Software Design Quality Analysis and Evaluation)</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12</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955017" y="697730"/>
            <a:ext cx="10515600" cy="5766569"/>
          </a:xfrm>
        </p:spPr>
        <p:txBody>
          <a:bodyPr>
            <a:normAutofit/>
          </a:bodyPr>
          <a:lstStyle/>
          <a:p>
            <a:r>
              <a:rPr lang="ru-RU" b="1" dirty="0"/>
              <a:t>Атрибуты качества (</a:t>
            </a:r>
            <a:r>
              <a:rPr lang="en-GB" b="1" dirty="0"/>
              <a:t>Quality Attributes)</a:t>
            </a:r>
            <a:endParaRPr lang="ru-RU" b="1" dirty="0"/>
          </a:p>
          <a:p>
            <a:r>
              <a:rPr lang="ru-RU" b="1" dirty="0"/>
              <a:t>Анализ качества и техники оценки (</a:t>
            </a:r>
            <a:r>
              <a:rPr lang="en-GB" b="1" dirty="0"/>
              <a:t>Quality Analysis and Evaluation Techniques)</a:t>
            </a:r>
            <a:endParaRPr lang="ru-RU" b="1" dirty="0"/>
          </a:p>
          <a:p>
            <a:r>
              <a:rPr lang="ru-RU" b="1" dirty="0"/>
              <a:t>Измерения (</a:t>
            </a:r>
            <a:r>
              <a:rPr lang="en-GB" b="1" dirty="0"/>
              <a:t>Measures)</a:t>
            </a:r>
            <a:endParaRPr lang="ru-RU" b="1" dirty="0"/>
          </a:p>
          <a:p>
            <a:r>
              <a:rPr lang="ru-RU" b="1" dirty="0"/>
              <a:t>Нотации проектирования (Software Design </a:t>
            </a:r>
            <a:r>
              <a:rPr lang="ru-RU" b="1" dirty="0" err="1"/>
              <a:t>Notations</a:t>
            </a:r>
            <a:r>
              <a:rPr lang="ru-RU" b="1" dirty="0"/>
              <a:t>)</a:t>
            </a:r>
          </a:p>
          <a:p>
            <a:endParaRPr lang="ru-RU" b="1" dirty="0"/>
          </a:p>
          <a:p>
            <a:endParaRPr lang="ru-RU" b="1" dirty="0"/>
          </a:p>
          <a:p>
            <a:endParaRPr lang="ru-RU" b="1" dirty="0"/>
          </a:p>
        </p:txBody>
      </p:sp>
    </p:spTree>
    <p:extLst>
      <p:ext uri="{BB962C8B-B14F-4D97-AF65-F5344CB8AC3E}">
        <p14:creationId xmlns:p14="http://schemas.microsoft.com/office/powerpoint/2010/main" val="1862152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a:bodyPr>
          <a:lstStyle/>
          <a:p>
            <a:r>
              <a:rPr lang="ru-RU" sz="2800" dirty="0"/>
              <a:t>Нотации проектирования (Software Design </a:t>
            </a:r>
            <a:r>
              <a:rPr lang="ru-RU" sz="2800" dirty="0" err="1"/>
              <a:t>Notations</a:t>
            </a:r>
            <a:r>
              <a:rPr lang="ru-RU" sz="2800" dirty="0"/>
              <a:t>)</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13</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955017" y="697730"/>
            <a:ext cx="10515600" cy="5766569"/>
          </a:xfrm>
        </p:spPr>
        <p:txBody>
          <a:bodyPr>
            <a:normAutofit/>
          </a:bodyPr>
          <a:lstStyle/>
          <a:p>
            <a:endParaRPr lang="ru-RU" b="1" dirty="0"/>
          </a:p>
          <a:p>
            <a:r>
              <a:rPr lang="ru-RU" b="1" dirty="0"/>
              <a:t>Структурные описания, статический взгляд (</a:t>
            </a:r>
            <a:r>
              <a:rPr lang="ru-RU" b="1" dirty="0" err="1"/>
              <a:t>Structural</a:t>
            </a:r>
            <a:r>
              <a:rPr lang="ru-RU" b="1" dirty="0"/>
              <a:t> </a:t>
            </a:r>
            <a:r>
              <a:rPr lang="ru-RU" b="1" dirty="0" err="1"/>
              <a:t>Descriptions</a:t>
            </a:r>
            <a:r>
              <a:rPr lang="ru-RU" b="1" dirty="0"/>
              <a:t>, </a:t>
            </a:r>
            <a:r>
              <a:rPr lang="ru-RU" b="1" dirty="0" err="1"/>
              <a:t>static</a:t>
            </a:r>
            <a:r>
              <a:rPr lang="ru-RU" b="1" dirty="0"/>
              <a:t> </a:t>
            </a:r>
            <a:r>
              <a:rPr lang="ru-RU" b="1" dirty="0" err="1"/>
              <a:t>view</a:t>
            </a:r>
            <a:r>
              <a:rPr lang="ru-RU" b="1" dirty="0"/>
              <a:t>)</a:t>
            </a:r>
          </a:p>
          <a:p>
            <a:endParaRPr lang="ru-RU" b="1" dirty="0"/>
          </a:p>
          <a:p>
            <a:r>
              <a:rPr lang="ru-RU" b="1" dirty="0"/>
              <a:t>Поведенческие описания, динамический взгляд (</a:t>
            </a:r>
            <a:r>
              <a:rPr lang="en-GB" b="1" dirty="0" err="1"/>
              <a:t>Behavioral</a:t>
            </a:r>
            <a:r>
              <a:rPr lang="en-GB" b="1" dirty="0"/>
              <a:t> Descriptions, dynamic view)</a:t>
            </a:r>
            <a:endParaRPr lang="ru-RU" b="1" dirty="0"/>
          </a:p>
          <a:p>
            <a:endParaRPr lang="ru-RU" b="1" dirty="0"/>
          </a:p>
          <a:p>
            <a:endParaRPr lang="ru-RU" b="1" dirty="0"/>
          </a:p>
          <a:p>
            <a:endParaRPr lang="ru-RU" b="1" dirty="0"/>
          </a:p>
          <a:p>
            <a:endParaRPr lang="ru-RU" b="1" dirty="0"/>
          </a:p>
          <a:p>
            <a:endParaRPr lang="ru-RU" b="1" dirty="0"/>
          </a:p>
        </p:txBody>
      </p:sp>
    </p:spTree>
    <p:extLst>
      <p:ext uri="{BB962C8B-B14F-4D97-AF65-F5344CB8AC3E}">
        <p14:creationId xmlns:p14="http://schemas.microsoft.com/office/powerpoint/2010/main" val="1835506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fontScale="90000"/>
          </a:bodyPr>
          <a:lstStyle/>
          <a:p>
            <a:r>
              <a:rPr lang="ru-RU" sz="2800" dirty="0"/>
              <a:t>Стратегии и методы проектирования программного обеспечения (Software Design </a:t>
            </a:r>
            <a:r>
              <a:rPr lang="ru-RU" sz="2800" dirty="0" err="1"/>
              <a:t>Startegies</a:t>
            </a:r>
            <a:r>
              <a:rPr lang="ru-RU" sz="2800" dirty="0"/>
              <a:t> </a:t>
            </a:r>
            <a:r>
              <a:rPr lang="ru-RU" sz="2800" dirty="0" err="1"/>
              <a:t>and</a:t>
            </a:r>
            <a:r>
              <a:rPr lang="ru-RU" sz="2800" dirty="0"/>
              <a:t> </a:t>
            </a:r>
            <a:r>
              <a:rPr lang="ru-RU" sz="2800" dirty="0" err="1"/>
              <a:t>Methods</a:t>
            </a:r>
            <a:r>
              <a:rPr lang="ru-RU" sz="2800" dirty="0"/>
              <a:t>)</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14</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955017" y="697730"/>
            <a:ext cx="10515600" cy="5766569"/>
          </a:xfrm>
        </p:spPr>
        <p:txBody>
          <a:bodyPr>
            <a:normAutofit/>
          </a:bodyPr>
          <a:lstStyle/>
          <a:p>
            <a:r>
              <a:rPr lang="ru-RU" b="1" dirty="0"/>
              <a:t>Общие стратегии (General </a:t>
            </a:r>
            <a:r>
              <a:rPr lang="ru-RU" b="1" dirty="0" err="1"/>
              <a:t>Strategies</a:t>
            </a:r>
            <a:r>
              <a:rPr lang="ru-RU" b="1" dirty="0"/>
              <a:t>)</a:t>
            </a:r>
          </a:p>
          <a:p>
            <a:r>
              <a:rPr lang="ru-RU" b="1" dirty="0"/>
              <a:t>Функционально-ориентированное или структурное проектирование (</a:t>
            </a:r>
            <a:r>
              <a:rPr lang="ru-RU" b="1" dirty="0" err="1"/>
              <a:t>Function-Oriented</a:t>
            </a:r>
            <a:r>
              <a:rPr lang="ru-RU" b="1" dirty="0"/>
              <a:t> – </a:t>
            </a:r>
            <a:r>
              <a:rPr lang="ru-RU" b="1" dirty="0" err="1"/>
              <a:t>Structured</a:t>
            </a:r>
            <a:r>
              <a:rPr lang="ru-RU" b="1" dirty="0"/>
              <a:t> Design)</a:t>
            </a:r>
          </a:p>
          <a:p>
            <a:r>
              <a:rPr lang="ru-RU" b="1" dirty="0"/>
              <a:t>Объектно-ориентированное проектирование (Object-</a:t>
            </a:r>
            <a:r>
              <a:rPr lang="ru-RU" b="1" dirty="0" err="1"/>
              <a:t>Oriented</a:t>
            </a:r>
            <a:r>
              <a:rPr lang="ru-RU" b="1" dirty="0"/>
              <a:t> Design)</a:t>
            </a:r>
          </a:p>
          <a:p>
            <a:r>
              <a:rPr lang="ru-RU" b="1" dirty="0"/>
              <a:t>Проектирование на основе структур данных (Data-</a:t>
            </a:r>
            <a:r>
              <a:rPr lang="ru-RU" b="1" dirty="0" err="1"/>
              <a:t>Structure</a:t>
            </a:r>
            <a:r>
              <a:rPr lang="ru-RU" b="1" dirty="0"/>
              <a:t>-</a:t>
            </a:r>
            <a:r>
              <a:rPr lang="ru-RU" b="1" dirty="0" err="1"/>
              <a:t>Centered</a:t>
            </a:r>
            <a:r>
              <a:rPr lang="ru-RU" b="1" dirty="0"/>
              <a:t> Design)</a:t>
            </a:r>
          </a:p>
          <a:p>
            <a:r>
              <a:rPr lang="ru-RU" b="1" dirty="0"/>
              <a:t>Компонентное проектирование (</a:t>
            </a:r>
            <a:r>
              <a:rPr lang="ru-RU" b="1" dirty="0" err="1"/>
              <a:t>Component</a:t>
            </a:r>
            <a:r>
              <a:rPr lang="ru-RU" b="1" dirty="0"/>
              <a:t>-Based Design)</a:t>
            </a:r>
          </a:p>
          <a:p>
            <a:r>
              <a:rPr lang="ru-RU" b="1" dirty="0"/>
              <a:t>Другие методы (</a:t>
            </a:r>
            <a:r>
              <a:rPr lang="ru-RU" b="1" dirty="0" err="1"/>
              <a:t>Other</a:t>
            </a:r>
            <a:r>
              <a:rPr lang="ru-RU" b="1" dirty="0"/>
              <a:t> </a:t>
            </a:r>
            <a:r>
              <a:rPr lang="ru-RU" b="1" dirty="0" err="1"/>
              <a:t>Methods</a:t>
            </a:r>
            <a:r>
              <a:rPr lang="ru-RU" b="1" dirty="0"/>
              <a:t>) - </a:t>
            </a:r>
            <a:r>
              <a:rPr lang="ru-RU" b="1" i="1" dirty="0"/>
              <a:t>интересные, но менее распространенные подходы, в основном, представляют собой формальные и точные (строгие) методы, а также, методы трансформации</a:t>
            </a:r>
            <a:endParaRPr lang="ru-RU" b="1" dirty="0"/>
          </a:p>
        </p:txBody>
      </p:sp>
    </p:spTree>
    <p:extLst>
      <p:ext uri="{BB962C8B-B14F-4D97-AF65-F5344CB8AC3E}">
        <p14:creationId xmlns:p14="http://schemas.microsoft.com/office/powerpoint/2010/main" val="1583683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F3CB39AC-FFD8-AA0A-4EDA-2A528BCCCF35}"/>
              </a:ext>
            </a:extLst>
          </p:cNvPr>
          <p:cNvSpPr>
            <a:spLocks noGrp="1"/>
          </p:cNvSpPr>
          <p:nvPr>
            <p:ph type="title"/>
          </p:nvPr>
        </p:nvSpPr>
        <p:spPr>
          <a:xfrm>
            <a:off x="1000284" y="490185"/>
            <a:ext cx="3300784" cy="1600200"/>
          </a:xfrm>
        </p:spPr>
        <p:txBody>
          <a:bodyPr/>
          <a:lstStyle/>
          <a:p>
            <a:r>
              <a:rPr lang="ru-RU" dirty="0"/>
              <a:t>Домашнее задание</a:t>
            </a:r>
          </a:p>
        </p:txBody>
      </p:sp>
      <p:sp>
        <p:nvSpPr>
          <p:cNvPr id="7" name="Объект 6">
            <a:extLst>
              <a:ext uri="{FF2B5EF4-FFF2-40B4-BE49-F238E27FC236}">
                <a16:creationId xmlns:a16="http://schemas.microsoft.com/office/drawing/2014/main" id="{27B2198E-E11A-2291-54CA-20C29E430DDA}"/>
              </a:ext>
            </a:extLst>
          </p:cNvPr>
          <p:cNvSpPr>
            <a:spLocks noGrp="1"/>
          </p:cNvSpPr>
          <p:nvPr>
            <p:ph idx="1"/>
          </p:nvPr>
        </p:nvSpPr>
        <p:spPr>
          <a:xfrm>
            <a:off x="3543300" y="987425"/>
            <a:ext cx="8382000" cy="4873625"/>
          </a:xfrm>
        </p:spPr>
        <p:txBody>
          <a:bodyPr>
            <a:noAutofit/>
          </a:bodyPr>
          <a:lstStyle/>
          <a:p>
            <a:r>
              <a:rPr lang="ru-RU" sz="1600" dirty="0"/>
              <a:t>Процессы жизненного цикла программных средств. ГОСТ Р ИСОМЭК 12207-2010</a:t>
            </a:r>
          </a:p>
          <a:p>
            <a:r>
              <a:rPr lang="ru-RU" sz="1600" dirty="0"/>
              <a:t>ГОСТ Р ИСО/МЭК 15288 — 2005 Стандарт Информационная технология. Системная инженерия. Процессы жизненного цикла систем</a:t>
            </a:r>
          </a:p>
          <a:p>
            <a:r>
              <a:rPr lang="ru-RU" sz="1600" dirty="0"/>
              <a:t>Открытые публикация по методам проектирования</a:t>
            </a:r>
          </a:p>
        </p:txBody>
      </p:sp>
      <p:pic>
        <p:nvPicPr>
          <p:cNvPr id="17" name="Рисунок 16">
            <a:extLst>
              <a:ext uri="{FF2B5EF4-FFF2-40B4-BE49-F238E27FC236}">
                <a16:creationId xmlns:a16="http://schemas.microsoft.com/office/drawing/2014/main" id="{4413BD20-0A0D-65D3-8535-FB888B77064D}"/>
              </a:ext>
            </a:extLst>
          </p:cNvPr>
          <p:cNvPicPr>
            <a:picLocks noChangeAspect="1"/>
          </p:cNvPicPr>
          <p:nvPr/>
        </p:nvPicPr>
        <p:blipFill>
          <a:blip r:embed="rId2"/>
          <a:stretch>
            <a:fillRect/>
          </a:stretch>
        </p:blipFill>
        <p:spPr>
          <a:xfrm>
            <a:off x="162141" y="3592160"/>
            <a:ext cx="3973612" cy="2594679"/>
          </a:xfrm>
          <a:prstGeom prst="rect">
            <a:avLst/>
          </a:prstGeom>
        </p:spPr>
      </p:pic>
      <p:sp>
        <p:nvSpPr>
          <p:cNvPr id="4" name="Нижний колонтитул 3">
            <a:extLst>
              <a:ext uri="{FF2B5EF4-FFF2-40B4-BE49-F238E27FC236}">
                <a16:creationId xmlns:a16="http://schemas.microsoft.com/office/drawing/2014/main" id="{BA62E7A7-EA3D-F783-7964-85D5A8C7C331}"/>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5F7BEC99-DC93-DFFC-D3A9-08F9489AA3A1}"/>
              </a:ext>
            </a:extLst>
          </p:cNvPr>
          <p:cNvSpPr>
            <a:spLocks noGrp="1"/>
          </p:cNvSpPr>
          <p:nvPr>
            <p:ph type="sldNum" sz="quarter" idx="12"/>
          </p:nvPr>
        </p:nvSpPr>
        <p:spPr/>
        <p:txBody>
          <a:bodyPr/>
          <a:lstStyle/>
          <a:p>
            <a:fld id="{DFA5D71E-5CDF-4C93-8A75-5B916FDC5BEA}" type="slidenum">
              <a:rPr lang="en-US" smtClean="0"/>
              <a:pPr/>
              <a:t>15</a:t>
            </a:fld>
            <a:endParaRPr lang="en-US" dirty="0"/>
          </a:p>
        </p:txBody>
      </p:sp>
    </p:spTree>
    <p:extLst>
      <p:ext uri="{BB962C8B-B14F-4D97-AF65-F5344CB8AC3E}">
        <p14:creationId xmlns:p14="http://schemas.microsoft.com/office/powerpoint/2010/main" val="4145715031"/>
      </p:ext>
    </p:extLst>
  </p:cSld>
  <p:clrMapOvr>
    <a:masterClrMapping/>
  </p:clrMapOvr>
</p:sld>
</file>

<file path=ppt/theme/theme1.xml><?xml version="1.0" encoding="utf-8"?>
<a:theme xmlns:a="http://schemas.openxmlformats.org/drawingml/2006/main" name="MinimalXOVTI">
  <a:themeElements>
    <a:clrScheme name="Синий">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0">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XOVTI" id="{DC540DBD-7FF5-4942-921A-CFF95ECB90AA}" vid="{E72E4198-D957-48FD-B88D-6DAFC89EAFA2}"/>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1421</TotalTime>
  <Words>2556</Words>
  <Application>Microsoft Office PowerPoint</Application>
  <PresentationFormat>Широкоэкранный</PresentationFormat>
  <Paragraphs>178</Paragraphs>
  <Slides>15</Slides>
  <Notes>3</Notes>
  <HiddenSlides>0</HiddenSlides>
  <MMClips>0</MMClips>
  <ScaleCrop>false</ScaleCrop>
  <HeadingPairs>
    <vt:vector size="6" baseType="variant">
      <vt:variant>
        <vt:lpstr>Использованные шрифты</vt:lpstr>
      </vt:variant>
      <vt:variant>
        <vt:i4>11</vt:i4>
      </vt:variant>
      <vt:variant>
        <vt:lpstr>Тема</vt:lpstr>
      </vt:variant>
      <vt:variant>
        <vt:i4>1</vt:i4>
      </vt:variant>
      <vt:variant>
        <vt:lpstr>Заголовки слайдов</vt:lpstr>
      </vt:variant>
      <vt:variant>
        <vt:i4>15</vt:i4>
      </vt:variant>
    </vt:vector>
  </HeadingPairs>
  <TitlesOfParts>
    <vt:vector size="27" baseType="lpstr">
      <vt:lpstr>Arial</vt:lpstr>
      <vt:lpstr>Arial Black</vt:lpstr>
      <vt:lpstr>Arial Narrow</vt:lpstr>
      <vt:lpstr>Calibri</vt:lpstr>
      <vt:lpstr>Courier New</vt:lpstr>
      <vt:lpstr>Impact</vt:lpstr>
      <vt:lpstr>Open sans</vt:lpstr>
      <vt:lpstr>Segoe UI</vt:lpstr>
      <vt:lpstr>Symbol</vt:lpstr>
      <vt:lpstr>Times New Roman</vt:lpstr>
      <vt:lpstr>Verdana</vt:lpstr>
      <vt:lpstr>MinimalXOVTI</vt:lpstr>
      <vt:lpstr>Программная инженерия</vt:lpstr>
      <vt:lpstr>Тема 3: Проектирование программного обеспечения</vt:lpstr>
      <vt:lpstr>Место проектирования программного обеспечения в программной инженерии</vt:lpstr>
      <vt:lpstr>Определение проектирования в программной инженерии</vt:lpstr>
      <vt:lpstr>Объем понятия проектирования в программной инженерии</vt:lpstr>
      <vt:lpstr>Общие понятия</vt:lpstr>
      <vt:lpstr>Контекст проектирования (Context of Software Design)</vt:lpstr>
      <vt:lpstr>Процесс проектирования (Software Design Process)</vt:lpstr>
      <vt:lpstr>Техники применения (Enabling Techniques)</vt:lpstr>
      <vt:lpstr>Ключевые вопросы проектирования (Key Issues in Software Design)</vt:lpstr>
      <vt:lpstr>Структура и архитектура программного обеспечения (Software Structure and Architecture)</vt:lpstr>
      <vt:lpstr>Анализ качества и оценка программного дизайна (Software Design Quality Analysis and Evaluation)</vt:lpstr>
      <vt:lpstr>Нотации проектирования (Software Design Notations)</vt:lpstr>
      <vt:lpstr>Стратегии и методы проектирования программного обеспечения (Software Design Startegies and Methods)</vt:lpstr>
      <vt:lpstr>Домашнее задание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Технологии проектирования, развертывания и  сопровождения информационных систем</dc:title>
  <dc:creator>4562</dc:creator>
  <cp:lastModifiedBy>KDV</cp:lastModifiedBy>
  <cp:revision>39</cp:revision>
  <dcterms:created xsi:type="dcterms:W3CDTF">2023-02-07T19:37:43Z</dcterms:created>
  <dcterms:modified xsi:type="dcterms:W3CDTF">2025-10-15T13:07:52Z</dcterms:modified>
</cp:coreProperties>
</file>