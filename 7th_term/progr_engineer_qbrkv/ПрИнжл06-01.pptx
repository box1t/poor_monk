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29"/>
  </p:notesMasterIdLst>
  <p:sldIdLst>
    <p:sldId id="256" r:id="rId2"/>
    <p:sldId id="274" r:id="rId3"/>
    <p:sldId id="257" r:id="rId4"/>
    <p:sldId id="272" r:id="rId5"/>
    <p:sldId id="273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4" r:id="rId15"/>
    <p:sldId id="285" r:id="rId16"/>
    <p:sldId id="283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63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DV" initials="K" lastIdx="1" clrIdx="0">
    <p:extLst>
      <p:ext uri="{19B8F6BF-5375-455C-9EA6-DF929625EA0E}">
        <p15:presenceInfo xmlns:p15="http://schemas.microsoft.com/office/powerpoint/2012/main" userId="KD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166" autoAdjust="0"/>
  </p:normalViewPr>
  <p:slideViewPr>
    <p:cSldViewPr snapToGrid="0">
      <p:cViewPr varScale="1">
        <p:scale>
          <a:sx n="85" d="100"/>
          <a:sy n="85" d="100"/>
        </p:scale>
        <p:origin x="82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6020B3-367F-41BF-A5D2-D2C6898A67B3}" type="datetimeFigureOut">
              <a:rPr lang="ru-RU" smtClean="0"/>
              <a:t>25.11.2025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9912B-E66D-4A8E-8CDB-D0164B49BF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34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9912B-E66D-4A8E-8CDB-D0164B49BF8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6918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9912B-E66D-4A8E-8CDB-D0164B49BF8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465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9912B-E66D-4A8E-8CDB-D0164B49BF8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128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59912B-E66D-4A8E-8CDB-D0164B49BF8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103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aseline="0"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 Narrow" panose="020B0606020202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0805-E946-49A1-A715-7C9D8C1CD6FE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ern="0" cap="none" spc="0" baseline="0"/>
            </a:lvl1pPr>
          </a:lstStyle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9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rgbClr val="0070C0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arrow" panose="020B060602020203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 Narrow" panose="020B0606020202030204" pitchFamily="34" charset="0"/>
              </a:defRPr>
            </a:lvl2pPr>
            <a:lvl3pPr>
              <a:defRPr>
                <a:latin typeface="Arial Narrow" panose="020B060602020203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>
                <a:latin typeface="Arial Narrow" panose="020B0606020202030204" pitchFamily="34" charset="0"/>
              </a:defRPr>
            </a:lvl4pPr>
            <a:lvl5pPr>
              <a:defRPr>
                <a:latin typeface="Arial Narrow" panose="020B0606020202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B0E72-E0A4-4D7B-815B-6413EF16F25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kern="0" cap="none" spc="0" baseline="0"/>
            </a:lvl1pPr>
          </a:lstStyle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6BB1964A-EEF4-7C34-0A53-E047F16555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8996" r="44914"/>
          <a:stretch/>
        </p:blipFill>
        <p:spPr>
          <a:xfrm flipH="1">
            <a:off x="2959" y="5629"/>
            <a:ext cx="835241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4B8041D-61A8-6E8D-B1A0-9F40D3F9F17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04" y="478053"/>
            <a:ext cx="742950" cy="714375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0BF58049-EBA6-6666-4932-E3FF1741EF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918"/>
            <a:ext cx="843280" cy="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5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3EA5A-1AE2-458D-9AE6-FF6025E0C491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220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C53A-BD8C-4CF4-B47F-135838B79B0F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63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8A838-72D8-44E7-9178-64A7CE5C804D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86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827D9-E4EA-4EB0-8ED6-C829077BE1AC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376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BFE2-EF3F-417A-903C-9A93937A924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99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E38BA-0E5D-4FC3-AC73-BA0F12FAEDF1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4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E0786-E990-492E-AE6E-66BD6C6E2D32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7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AB7EE-B52D-4FD2-A1CD-223903584E4A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DFF47-8CB5-4F0A-88AE-CAE1CC8C1576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36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7780B-8D62-4CAC-B30D-4811E6CDB64A}" type="datetime1">
              <a:rPr lang="en-US" smtClean="0"/>
              <a:t>11/25/2025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008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kern="0" cap="none" spc="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spc="150" baseline="0">
                <a:solidFill>
                  <a:srgbClr val="0070C0"/>
                </a:solidFill>
                <a:latin typeface="Arial Black" panose="020B0A04020102020204" pitchFamily="34" charset="0"/>
              </a:defRPr>
            </a:lvl1pPr>
          </a:lstStyle>
          <a:p>
            <a:fld id="{DFA5D71E-5CDF-4C93-8A75-5B916FDC5B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F01306B9-4B5A-554A-3E05-3740307511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8996" r="44914"/>
          <a:stretch/>
        </p:blipFill>
        <p:spPr>
          <a:xfrm flipH="1">
            <a:off x="2959" y="5629"/>
            <a:ext cx="835241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6460162-D4D7-727E-4087-A21E1BC61EA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9104" y="478053"/>
            <a:ext cx="742950" cy="7143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C66A050-02AF-9111-FA5E-72472BBA9342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2918"/>
            <a:ext cx="843280" cy="83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17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070C0"/>
          </a:solidFill>
          <a:latin typeface="Impact" panose="020B080603090205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Segoe UI" panose="020B0502040204020203" pitchFamily="34" charset="0"/>
        <a:buChar char="+"/>
        <a:defRPr sz="2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20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Segoe UI" panose="020B0502040204020203" pitchFamily="34" charset="0"/>
        <a:buChar char="+"/>
        <a:defRPr sz="1800" kern="1200">
          <a:solidFill>
            <a:schemeClr val="tx1"/>
          </a:solidFill>
          <a:latin typeface="Arial Narrow" panose="020B0606020202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dvkubrakov@yandex.ru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1EF4E8-5513-4BF5-BC41-04645281C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1EA5BB-A258-4E22-94F4-C79A44136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D4ABA013-0939-4293-B39F-3B85576FB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2422250" y="1219200"/>
            <a:ext cx="373689" cy="373689"/>
          </a:xfrm>
          <a:prstGeom prst="ellipse">
            <a:avLst/>
          </a:pr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5" name="Graphic 10">
            <a:extLst>
              <a:ext uri="{FF2B5EF4-FFF2-40B4-BE49-F238E27FC236}">
                <a16:creationId xmlns:a16="http://schemas.microsoft.com/office/drawing/2014/main" id="{51E206C0-387B-4108-8BD3-D98A4DA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5890" y="28456"/>
            <a:ext cx="1977027" cy="1977027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887982-DD03-CD60-C60E-D06357F40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634" y="1181668"/>
            <a:ext cx="6332586" cy="3184274"/>
          </a:xfrm>
        </p:spPr>
        <p:txBody>
          <a:bodyPr anchor="b">
            <a:noAutofit/>
          </a:bodyPr>
          <a:lstStyle/>
          <a:p>
            <a:pPr algn="l"/>
            <a:r>
              <a:rPr lang="ru-RU" dirty="0"/>
              <a:t>Программная инженерия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AAB4E2-8F8F-A87E-1CD0-D82B1A4E6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2753" y="4524807"/>
            <a:ext cx="6353035" cy="1495379"/>
          </a:xfrm>
        </p:spPr>
        <p:txBody>
          <a:bodyPr>
            <a:normAutofit/>
          </a:bodyPr>
          <a:lstStyle/>
          <a:p>
            <a:pPr algn="l"/>
            <a:r>
              <a:rPr lang="ru-RU" sz="2200" dirty="0"/>
              <a:t>Дмитрий Владимирович </a:t>
            </a:r>
            <a:r>
              <a:rPr lang="ru-RU" sz="2200" dirty="0" err="1"/>
              <a:t>Кубраков</a:t>
            </a:r>
            <a:br>
              <a:rPr lang="ru-RU" sz="2200" dirty="0"/>
            </a:br>
            <a:r>
              <a:rPr lang="en-US" sz="2200" dirty="0">
                <a:hlinkClick r:id="rId2"/>
              </a:rPr>
              <a:t>dvkubrakov@yandex.ru</a:t>
            </a:r>
            <a:br>
              <a:rPr lang="ru-RU" sz="2200" dirty="0"/>
            </a:br>
            <a:endParaRPr lang="ru-RU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81D93-1CCB-D99A-90E3-80BEE3ED79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52" r="35580"/>
          <a:stretch/>
        </p:blipFill>
        <p:spPr>
          <a:xfrm>
            <a:off x="7330303" y="1"/>
            <a:ext cx="4851171" cy="6858000"/>
          </a:xfrm>
          <a:prstGeom prst="rect">
            <a:avLst/>
          </a:prstGeom>
        </p:spPr>
      </p:pic>
      <p:sp useBgFill="1">
        <p:nvSpPr>
          <p:cNvPr id="17" name="Graphic 10">
            <a:extLst>
              <a:ext uri="{FF2B5EF4-FFF2-40B4-BE49-F238E27FC236}">
                <a16:creationId xmlns:a16="http://schemas.microsoft.com/office/drawing/2014/main" id="{74A68384-D945-4F45-B9FB-C5A00DCC9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6967314" y="5207478"/>
            <a:ext cx="719888" cy="719888"/>
          </a:xfrm>
          <a:custGeom>
            <a:avLst/>
            <a:gdLst>
              <a:gd name="connsiteX0" fmla="*/ 4053340 w 6859500"/>
              <a:gd name="connsiteY0" fmla="*/ 6235893 h 6859500"/>
              <a:gd name="connsiteX1" fmla="*/ 4053340 w 6859500"/>
              <a:gd name="connsiteY1" fmla="*/ 4053340 h 6859500"/>
              <a:gd name="connsiteX2" fmla="*/ 6235893 w 6859500"/>
              <a:gd name="connsiteY2" fmla="*/ 4053340 h 6859500"/>
              <a:gd name="connsiteX3" fmla="*/ 6859501 w 6859500"/>
              <a:gd name="connsiteY3" fmla="*/ 3429731 h 6859500"/>
              <a:gd name="connsiteX4" fmla="*/ 6235893 w 6859500"/>
              <a:gd name="connsiteY4" fmla="*/ 2806123 h 6859500"/>
              <a:gd name="connsiteX5" fmla="*/ 4053340 w 6859500"/>
              <a:gd name="connsiteY5" fmla="*/ 2806123 h 6859500"/>
              <a:gd name="connsiteX6" fmla="*/ 4053340 w 6859500"/>
              <a:gd name="connsiteY6" fmla="*/ 623608 h 6859500"/>
              <a:gd name="connsiteX7" fmla="*/ 3429731 w 6859500"/>
              <a:gd name="connsiteY7" fmla="*/ 0 h 6859500"/>
              <a:gd name="connsiteX8" fmla="*/ 2806123 w 6859500"/>
              <a:gd name="connsiteY8" fmla="*/ 623608 h 6859500"/>
              <a:gd name="connsiteX9" fmla="*/ 2806123 w 6859500"/>
              <a:gd name="connsiteY9" fmla="*/ 2806161 h 6859500"/>
              <a:gd name="connsiteX10" fmla="*/ 623608 w 6859500"/>
              <a:gd name="connsiteY10" fmla="*/ 2806161 h 6859500"/>
              <a:gd name="connsiteX11" fmla="*/ 0 w 6859500"/>
              <a:gd name="connsiteY11" fmla="*/ 3429731 h 6859500"/>
              <a:gd name="connsiteX12" fmla="*/ 623608 w 6859500"/>
              <a:gd name="connsiteY12" fmla="*/ 4053340 h 6859500"/>
              <a:gd name="connsiteX13" fmla="*/ 2806161 w 6859500"/>
              <a:gd name="connsiteY13" fmla="*/ 4053340 h 6859500"/>
              <a:gd name="connsiteX14" fmla="*/ 2806161 w 6859500"/>
              <a:gd name="connsiteY14" fmla="*/ 6235893 h 6859500"/>
              <a:gd name="connsiteX15" fmla="*/ 3429770 w 6859500"/>
              <a:gd name="connsiteY15" fmla="*/ 6859501 h 6859500"/>
              <a:gd name="connsiteX16" fmla="*/ 4053340 w 6859500"/>
              <a:gd name="connsiteY16" fmla="*/ 6235893 h 685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59500" h="6859500">
                <a:moveTo>
                  <a:pt x="4053340" y="6235893"/>
                </a:moveTo>
                <a:lnTo>
                  <a:pt x="4053340" y="4053340"/>
                </a:lnTo>
                <a:lnTo>
                  <a:pt x="6235893" y="4053340"/>
                </a:lnTo>
                <a:cubicBezTo>
                  <a:pt x="6580293" y="4053340"/>
                  <a:pt x="6859501" y="3774132"/>
                  <a:pt x="6859501" y="3429731"/>
                </a:cubicBezTo>
                <a:cubicBezTo>
                  <a:pt x="6859501" y="3085330"/>
                  <a:pt x="6580332" y="2806123"/>
                  <a:pt x="6235893" y="2806123"/>
                </a:cubicBezTo>
                <a:lnTo>
                  <a:pt x="4053340" y="2806123"/>
                </a:lnTo>
                <a:lnTo>
                  <a:pt x="4053340" y="623608"/>
                </a:lnTo>
                <a:cubicBezTo>
                  <a:pt x="4053340" y="279208"/>
                  <a:pt x="3774171" y="0"/>
                  <a:pt x="3429731" y="0"/>
                </a:cubicBezTo>
                <a:cubicBezTo>
                  <a:pt x="3085330" y="0"/>
                  <a:pt x="2806123" y="279208"/>
                  <a:pt x="2806123" y="623608"/>
                </a:cubicBezTo>
                <a:lnTo>
                  <a:pt x="2806123" y="2806161"/>
                </a:lnTo>
                <a:lnTo>
                  <a:pt x="623608" y="2806161"/>
                </a:lnTo>
                <a:cubicBezTo>
                  <a:pt x="279208" y="2806161"/>
                  <a:pt x="0" y="3085369"/>
                  <a:pt x="0" y="3429731"/>
                </a:cubicBezTo>
                <a:cubicBezTo>
                  <a:pt x="0" y="3774132"/>
                  <a:pt x="279208" y="4053340"/>
                  <a:pt x="623608" y="4053340"/>
                </a:cubicBezTo>
                <a:lnTo>
                  <a:pt x="2806161" y="4053340"/>
                </a:lnTo>
                <a:lnTo>
                  <a:pt x="2806161" y="6235893"/>
                </a:lnTo>
                <a:cubicBezTo>
                  <a:pt x="2806161" y="6580293"/>
                  <a:pt x="3085369" y="6859501"/>
                  <a:pt x="3429770" y="6859501"/>
                </a:cubicBezTo>
                <a:cubicBezTo>
                  <a:pt x="3774171" y="6859501"/>
                  <a:pt x="4053340" y="6580293"/>
                  <a:pt x="4053340" y="6235893"/>
                </a:cubicBezTo>
                <a:close/>
              </a:path>
            </a:pathLst>
          </a:custGeom>
          <a:ln w="3848" cap="flat">
            <a:noFill/>
            <a:prstDash val="solid"/>
            <a:miter/>
          </a:ln>
          <a:effectLst>
            <a:glow rad="152400">
              <a:srgbClr val="000000">
                <a:alpha val="4000"/>
              </a:srgbClr>
            </a:glow>
            <a:outerShdw blurRad="101600" dist="38100" dir="16200000" rotWithShape="0">
              <a:srgbClr val="000000">
                <a:alpha val="5000"/>
              </a:srgb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147AE8-D193-9BCD-E6F6-8537542F2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14" y="570040"/>
            <a:ext cx="7429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06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207" y="92075"/>
            <a:ext cx="11353800" cy="1414672"/>
          </a:xfrm>
        </p:spPr>
        <p:txBody>
          <a:bodyPr>
            <a:normAutofit fontScale="90000"/>
          </a:bodyPr>
          <a:lstStyle/>
          <a:p>
            <a:r>
              <a:rPr lang="ru-RU" sz="6000" dirty="0"/>
              <a:t>Тема 6: Сопровождение программного обеспечения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612" y="2073377"/>
            <a:ext cx="10965168" cy="4019284"/>
          </a:xfrm>
        </p:spPr>
        <p:txBody>
          <a:bodyPr>
            <a:normAutofit/>
          </a:bodyPr>
          <a:lstStyle/>
          <a:p>
            <a:r>
              <a:rPr lang="ru-RU" sz="3200" dirty="0"/>
              <a:t>Основы сопровождения программного обеспечения (</a:t>
            </a:r>
            <a:r>
              <a:rPr lang="en-US" sz="3200" dirty="0"/>
              <a:t>Software Maintenance Fundamentals</a:t>
            </a:r>
            <a:r>
              <a:rPr lang="ru-RU" sz="3200" dirty="0"/>
              <a:t>)</a:t>
            </a:r>
          </a:p>
          <a:p>
            <a:r>
              <a:rPr lang="ru-RU" sz="3200" dirty="0"/>
              <a:t>Ключевые вопросы сопровождения программного обеспечения (</a:t>
            </a:r>
            <a:r>
              <a:rPr lang="en-US" sz="3200" dirty="0"/>
              <a:t>Key Issues in Software Maintenance</a:t>
            </a:r>
            <a:r>
              <a:rPr lang="ru-RU" sz="3200" dirty="0"/>
              <a:t>)</a:t>
            </a:r>
          </a:p>
          <a:p>
            <a:r>
              <a:rPr lang="ru-RU" sz="3200" dirty="0"/>
              <a:t>Процесс сопровождения (</a:t>
            </a:r>
            <a:r>
              <a:rPr lang="en-GB" sz="3200" dirty="0"/>
              <a:t>Maintenance Process)</a:t>
            </a:r>
            <a:endParaRPr lang="ru-RU" sz="3200" dirty="0"/>
          </a:p>
          <a:p>
            <a:r>
              <a:rPr lang="ru-RU" sz="3200" dirty="0"/>
              <a:t>Техники сопровождения (</a:t>
            </a:r>
            <a:r>
              <a:rPr lang="en-GB" sz="3200" dirty="0"/>
              <a:t>Techniques for Maintenance)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329347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046E068-6A8E-4252-AE5C-9FA3D896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3" y="492336"/>
            <a:ext cx="9659938" cy="616317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525"/>
            <a:ext cx="11353800" cy="560493"/>
          </a:xfrm>
        </p:spPr>
        <p:txBody>
          <a:bodyPr>
            <a:normAutofit fontScale="90000"/>
          </a:bodyPr>
          <a:lstStyle/>
          <a:p>
            <a:r>
              <a:rPr lang="ru-RU" sz="2800" dirty="0"/>
              <a:t>Место тестирования программного обеспечения в программной инженерии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2FD9986B-08C9-43B4-AD92-08B85B465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3800" y="286813"/>
            <a:ext cx="669159" cy="4334985"/>
          </a:xfrm>
        </p:spPr>
        <p:txBody>
          <a:bodyPr>
            <a:normAutofit/>
          </a:bodyPr>
          <a:lstStyle/>
          <a:p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2545307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4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Определение сопровождения в программной инженерии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982" y="652567"/>
            <a:ext cx="11148417" cy="6205433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Сопровождение программного обеспечения определяется стандартом IEEE Standard </a:t>
            </a:r>
            <a:r>
              <a:rPr lang="ru-RU" b="1" dirty="0" err="1"/>
              <a:t>for</a:t>
            </a:r>
            <a:r>
              <a:rPr lang="ru-RU" b="1" dirty="0"/>
              <a:t> Software </a:t>
            </a:r>
            <a:r>
              <a:rPr lang="ru-RU" b="1" dirty="0" err="1"/>
              <a:t>Maintenance</a:t>
            </a:r>
            <a:r>
              <a:rPr lang="ru-RU" b="1" dirty="0"/>
              <a:t> (IEEE 1219) как модификация программного продукта после передачи в эксплуатацию для устранения сбоев, улучшения показателей производительности и/или других характеристик (атрибутов) продукта, или адаптации продукта для использования в модифицированном окружении. </a:t>
            </a:r>
          </a:p>
          <a:p>
            <a:r>
              <a:rPr lang="ru-RU" dirty="0"/>
              <a:t>стандарт жизненного цикла 12207 (IEEE, ISO/IEC, ГОСТ Р ИСО/МЭК) позиционирует сопровождение как один из главных процессов жизненного цикла. Этот стандарт описывает </a:t>
            </a:r>
            <a:r>
              <a:rPr lang="ru-RU" b="1" dirty="0"/>
              <a:t>сопровождение как процесс модификации программного продукта в части его кода и документации для решения возникающих проблем &lt;при эксплуатации&gt; или реализации потребностей в улучшениях &lt;тех или иных характеристик продукта&gt;.</a:t>
            </a:r>
            <a:endParaRPr lang="en-US" b="1" dirty="0"/>
          </a:p>
          <a:p>
            <a:r>
              <a:rPr lang="ru-RU" b="1" dirty="0"/>
              <a:t>Международный стандарт ISO/IEC 14764 (Standard </a:t>
            </a:r>
            <a:r>
              <a:rPr lang="ru-RU" b="1" dirty="0" err="1"/>
              <a:t>for</a:t>
            </a:r>
            <a:r>
              <a:rPr lang="ru-RU" b="1" dirty="0"/>
              <a:t> Software Engineering - Software </a:t>
            </a:r>
            <a:r>
              <a:rPr lang="en-US" b="1" dirty="0"/>
              <a:t>Maintenance</a:t>
            </a:r>
            <a:r>
              <a:rPr lang="ru-RU" b="1" dirty="0"/>
              <a:t>) определяет сопровождение программного обеспечения в тех же терминах, что и стандарт 12207, придавая особое значение работам по подготовке к деятельности по сопровождению до передачи системы в реальную эксплуатацию</a:t>
            </a:r>
            <a:endParaRPr lang="en-US" b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33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42AF258-A0D1-4F34-9120-A1DB39EB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70" y="514457"/>
            <a:ext cx="9114672" cy="626341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7349CA-6D1A-6B46-C7EA-73B00B5CD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40"/>
            <a:ext cx="11353800" cy="560493"/>
          </a:xfrm>
        </p:spPr>
        <p:txBody>
          <a:bodyPr>
            <a:normAutofit/>
          </a:bodyPr>
          <a:lstStyle/>
          <a:p>
            <a:r>
              <a:rPr lang="ru-RU" sz="2800" dirty="0"/>
              <a:t>Объем понятия тестирования в программной инженерии</a:t>
            </a:r>
            <a:endParaRPr lang="ru-RU" sz="6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19F52A1-AC2E-E477-4355-2E154740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2025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8F4C57-B0B4-6810-690E-95E3D3B95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85B71C-1C3A-4099-8641-F733E7C8A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017" y="697731"/>
            <a:ext cx="10515600" cy="4019284"/>
          </a:xfrm>
        </p:spPr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545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F66501-0A1E-4452-A38E-64F5756E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Основы сопровождения программного обеспечения (Software </a:t>
            </a:r>
            <a:r>
              <a:rPr lang="ru-RU" dirty="0" err="1"/>
              <a:t>Maintenance</a:t>
            </a:r>
            <a:r>
              <a:rPr lang="ru-RU" dirty="0"/>
              <a:t> </a:t>
            </a:r>
            <a:r>
              <a:rPr lang="ru-RU" dirty="0" err="1"/>
              <a:t>Fundamentals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4A0EE-E5F8-4150-A13F-0DCCF7397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Определения и терминология (</a:t>
            </a:r>
            <a:r>
              <a:rPr lang="ru-RU" dirty="0" err="1"/>
              <a:t>Definitions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Terminology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Природа сопровождения (Nature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Потребность в сопровождении (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Приоритет стоимости сопровождения (</a:t>
            </a:r>
            <a:r>
              <a:rPr lang="ru-RU" dirty="0" err="1"/>
              <a:t>Majority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 </a:t>
            </a:r>
            <a:r>
              <a:rPr lang="ru-RU" dirty="0" err="1"/>
              <a:t>Costs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Эволюция программного обеспечения (Evolution </a:t>
            </a:r>
            <a:r>
              <a:rPr lang="ru-RU" dirty="0" err="1"/>
              <a:t>of</a:t>
            </a:r>
            <a:r>
              <a:rPr lang="ru-RU" dirty="0"/>
              <a:t> Software)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490F7F-133F-40C7-ACB7-F60B65A16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CC1F87-4B77-4DB3-8A61-D331C1AD5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4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E8D461-5E35-4D4B-BF75-9ADA06D2C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891821"/>
          </a:xfrm>
        </p:spPr>
        <p:txBody>
          <a:bodyPr/>
          <a:lstStyle/>
          <a:p>
            <a:r>
              <a:rPr lang="ru-RU" dirty="0"/>
              <a:t>Природа сопровождения (Nature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7BA6A2-7599-4512-ABC5-D8595BDE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91822"/>
            <a:ext cx="11353799" cy="5285141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на протяжении всего операционного жизненного цикла, то есть периода его эксплуатации</a:t>
            </a:r>
            <a:endParaRPr lang="en-US" dirty="0"/>
          </a:p>
          <a:p>
            <a:r>
              <a:rPr lang="ru-RU" dirty="0"/>
              <a:t>запросы на модификацию (также называемые “запросами на изменения” – </a:t>
            </a:r>
            <a:r>
              <a:rPr lang="ru-RU" dirty="0" err="1"/>
              <a:t>change</a:t>
            </a:r>
            <a:r>
              <a:rPr lang="ru-RU" dirty="0"/>
              <a:t> </a:t>
            </a:r>
            <a:r>
              <a:rPr lang="ru-RU" dirty="0" err="1"/>
              <a:t>requests</a:t>
            </a:r>
            <a:endParaRPr lang="en-US" dirty="0"/>
          </a:p>
          <a:p>
            <a:r>
              <a:rPr lang="ru-RU" dirty="0"/>
              <a:t>оценивается влияние предлагаемых изменений, </a:t>
            </a:r>
            <a:endParaRPr lang="en-US" dirty="0"/>
          </a:p>
          <a:p>
            <a:r>
              <a:rPr lang="ru-RU" dirty="0"/>
              <a:t>модифицируется код и другие активы (артефакты) продукта, </a:t>
            </a:r>
            <a:endParaRPr lang="en-US" dirty="0"/>
          </a:p>
          <a:p>
            <a:r>
              <a:rPr lang="ru-RU" dirty="0"/>
              <a:t>проводится необходимое тестирование и, наконец, </a:t>
            </a:r>
            <a:endParaRPr lang="en-US" dirty="0"/>
          </a:p>
          <a:p>
            <a:r>
              <a:rPr lang="ru-RU" dirty="0"/>
              <a:t>выпускается обновленная версия продукта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NB </a:t>
            </a:r>
            <a:r>
              <a:rPr lang="ru-RU" dirty="0">
                <a:effectLst/>
                <a:ea typeface="Calibri" panose="020F0502020204030204" pitchFamily="34" charset="0"/>
              </a:rPr>
              <a:t>Стандарт жизненного цикла 12207 также идентифицирует основные работы по сопровождению: </a:t>
            </a:r>
            <a:endParaRPr lang="en-US" dirty="0">
              <a:effectLst/>
              <a:ea typeface="Calibri" panose="020F0502020204030204" pitchFamily="34" charset="0"/>
            </a:endParaRPr>
          </a:p>
          <a:p>
            <a:r>
              <a:rPr lang="ru-RU" dirty="0"/>
              <a:t>реализация процесса &lt;сопровождения&gt;, </a:t>
            </a:r>
            <a:endParaRPr lang="en-US" dirty="0"/>
          </a:p>
          <a:p>
            <a:r>
              <a:rPr lang="ru-RU" b="1" dirty="0"/>
              <a:t>анализ проблем и модификаций (изменений), реализаций модификаций</a:t>
            </a:r>
            <a:r>
              <a:rPr lang="ru-RU" dirty="0"/>
              <a:t>,</a:t>
            </a:r>
            <a:endParaRPr lang="en-US" dirty="0"/>
          </a:p>
          <a:p>
            <a:r>
              <a:rPr lang="ru-RU" dirty="0"/>
              <a:t> обзор (оценка)/принятие &lt;решений&gt; по сопровождению, </a:t>
            </a:r>
            <a:endParaRPr lang="en-US" dirty="0"/>
          </a:p>
          <a:p>
            <a:r>
              <a:rPr lang="ru-RU" b="1" dirty="0"/>
              <a:t>миграция</a:t>
            </a:r>
            <a:r>
              <a:rPr lang="ru-RU" dirty="0"/>
              <a:t> (с одной версии программного продукта на другую, с одного продукта на другой) и </a:t>
            </a:r>
            <a:r>
              <a:rPr lang="ru-RU" b="1" dirty="0"/>
              <a:t>вывод системы из эксплуатации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9D38C8-0CA7-4D5A-9B84-7EDC88ED8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57A482-A488-47C9-9157-4DE41307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27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FECFFB-D571-417D-A63B-DF1C9E5F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"/>
            <a:ext cx="11353800" cy="681036"/>
          </a:xfrm>
        </p:spPr>
        <p:txBody>
          <a:bodyPr>
            <a:normAutofit fontScale="90000"/>
          </a:bodyPr>
          <a:lstStyle/>
          <a:p>
            <a:r>
              <a:rPr lang="ru-RU" dirty="0"/>
              <a:t>Потребность в сопровождении (</a:t>
            </a:r>
            <a:r>
              <a:rPr lang="ru-RU" dirty="0" err="1"/>
              <a:t>Need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BD7B81-8266-4010-97E1-EA842DED9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1173178" cy="60848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Работы по сопровождению должны проводиться для решения следующих задач:</a:t>
            </a:r>
          </a:p>
          <a:p>
            <a:pPr marL="0" indent="0">
              <a:buNone/>
            </a:pPr>
            <a:r>
              <a:rPr lang="ru-RU" dirty="0"/>
              <a:t>•	устранение сбоев</a:t>
            </a:r>
          </a:p>
          <a:p>
            <a:pPr marL="0" indent="0">
              <a:buNone/>
            </a:pPr>
            <a:r>
              <a:rPr lang="ru-RU" dirty="0"/>
              <a:t>•	улучшение дизайна</a:t>
            </a:r>
          </a:p>
          <a:p>
            <a:pPr marL="0" indent="0">
              <a:buNone/>
            </a:pPr>
            <a:r>
              <a:rPr lang="ru-RU" dirty="0"/>
              <a:t>•	реализация расширений &lt;функциональных возможностей&gt;</a:t>
            </a:r>
          </a:p>
          <a:p>
            <a:pPr marL="0" indent="0">
              <a:buNone/>
            </a:pPr>
            <a:r>
              <a:rPr lang="ru-RU" dirty="0"/>
              <a:t>•	создание интерфейсов взаимодействия с другими (внешними) системами</a:t>
            </a:r>
          </a:p>
          <a:p>
            <a:pPr marL="0" indent="0">
              <a:buNone/>
            </a:pPr>
            <a:r>
              <a:rPr lang="ru-RU" dirty="0"/>
              <a:t>•	адаптация (например, портирование) для возможности работы на другой аппаратной платформе (или обновленной платформе), применения новых системных возможностей, функционирования в среде обновленной телекоммуникационной инфраструктуры и т.п.</a:t>
            </a:r>
          </a:p>
          <a:p>
            <a:pPr marL="0" indent="0">
              <a:buNone/>
            </a:pPr>
            <a:r>
              <a:rPr lang="ru-RU" dirty="0"/>
              <a:t>•	миграции унаследованного (</a:t>
            </a:r>
            <a:r>
              <a:rPr lang="ru-RU" dirty="0" err="1"/>
              <a:t>legacy</a:t>
            </a:r>
            <a:r>
              <a:rPr lang="ru-RU" dirty="0"/>
              <a:t>) программного обеспечения</a:t>
            </a:r>
          </a:p>
          <a:p>
            <a:pPr marL="0" indent="0">
              <a:buNone/>
            </a:pPr>
            <a:r>
              <a:rPr lang="ru-RU" dirty="0"/>
              <a:t>•	вывода программного обеспечения из эксплуатации</a:t>
            </a:r>
          </a:p>
          <a:p>
            <a:pPr marL="0" indent="0">
              <a:buNone/>
            </a:pPr>
            <a:r>
              <a:rPr lang="ru-RU" dirty="0"/>
              <a:t>Деятельность персонала сопровождения включает четыре ключевых аспекта:</a:t>
            </a:r>
          </a:p>
          <a:p>
            <a:pPr marL="0" indent="0">
              <a:buNone/>
            </a:pPr>
            <a:r>
              <a:rPr lang="ru-RU" dirty="0"/>
              <a:t>•	поддержка контроля (управляемости) программного обеспечения в течение всего цикла эксплуатации</a:t>
            </a:r>
          </a:p>
          <a:p>
            <a:pPr marL="0" indent="0">
              <a:buNone/>
            </a:pPr>
            <a:r>
              <a:rPr lang="ru-RU" dirty="0"/>
              <a:t>•	поддержка модификаций программных систем</a:t>
            </a:r>
          </a:p>
          <a:p>
            <a:pPr marL="0" indent="0">
              <a:buNone/>
            </a:pPr>
            <a:r>
              <a:rPr lang="ru-RU" dirty="0"/>
              <a:t>•	совершенствование существующих функций (судя по всему, SWEBOK в данном случае подразумевает функции не программного обеспечения, а процессов сопровождения и функции персонала сопровождения, как таковые)</a:t>
            </a:r>
          </a:p>
          <a:p>
            <a:pPr marL="0" indent="0">
              <a:buNone/>
            </a:pPr>
            <a:r>
              <a:rPr lang="ru-RU" dirty="0"/>
              <a:t>•	предотвращение падения производительности программной системы до неприемлемого уровня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D864A81-27A7-480C-82BD-6AD3C6BE0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53DB47C-A251-4D00-916A-75854C74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708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913FA0-E867-4135-B3F7-BB3E0FD0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5"/>
            <a:ext cx="11150600" cy="1325563"/>
          </a:xfrm>
        </p:spPr>
        <p:txBody>
          <a:bodyPr/>
          <a:lstStyle/>
          <a:p>
            <a:r>
              <a:rPr lang="ru-RU" dirty="0"/>
              <a:t>Приоритет стоимости сопровождения (</a:t>
            </a:r>
            <a:r>
              <a:rPr lang="ru-RU" dirty="0" err="1"/>
              <a:t>Majority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 </a:t>
            </a:r>
            <a:r>
              <a:rPr lang="ru-RU" dirty="0" err="1"/>
              <a:t>Costs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94E79D-4080-4D76-998A-C1658065E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638"/>
            <a:ext cx="11150600" cy="534828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факторы, оказывающие влияние на стоимость сопровождения, в целом:</a:t>
            </a:r>
          </a:p>
          <a:p>
            <a:pPr marL="0" indent="0">
              <a:buNone/>
            </a:pPr>
            <a:r>
              <a:rPr lang="ru-RU" dirty="0"/>
              <a:t>•	тип приложения</a:t>
            </a:r>
          </a:p>
          <a:p>
            <a:pPr marL="0" indent="0">
              <a:buNone/>
            </a:pPr>
            <a:r>
              <a:rPr lang="ru-RU" dirty="0"/>
              <a:t>•	новизна программного обеспечения</a:t>
            </a:r>
          </a:p>
          <a:p>
            <a:pPr marL="0" indent="0">
              <a:buNone/>
            </a:pPr>
            <a:r>
              <a:rPr lang="ru-RU" dirty="0"/>
              <a:t>•	наличие и квалификация персонала по сопровождению</a:t>
            </a:r>
          </a:p>
          <a:p>
            <a:pPr marL="0" indent="0">
              <a:buNone/>
            </a:pPr>
            <a:r>
              <a:rPr lang="ru-RU" dirty="0"/>
              <a:t>•	длительность использования программной системы</a:t>
            </a:r>
          </a:p>
          <a:p>
            <a:pPr marL="0" indent="0">
              <a:buNone/>
            </a:pPr>
            <a:r>
              <a:rPr lang="ru-RU" dirty="0"/>
              <a:t>•	характеристики и специфика аппаратной части (а также телекоммуникационной инфраструктуры)</a:t>
            </a:r>
          </a:p>
          <a:p>
            <a:pPr marL="0" indent="0">
              <a:buNone/>
            </a:pPr>
            <a:r>
              <a:rPr lang="ru-RU" dirty="0"/>
              <a:t>•	качество дизайна (например, модульность или масштабируемость), кода, документации и соответствующих работ по тестированию системы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6D0D35-C8C7-42FA-8799-4BF3B943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6B2B56-0ED4-4979-B132-04AC67E4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06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7B631-AB23-47E4-8055-8B91A1BF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программного обеспечения (Evolution </a:t>
            </a:r>
            <a:r>
              <a:rPr lang="ru-RU" dirty="0" err="1"/>
              <a:t>of</a:t>
            </a:r>
            <a:r>
              <a:rPr lang="ru-RU" dirty="0"/>
              <a:t> Software)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032601-C6FF-44DA-8C6C-677338C34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b="1" dirty="0"/>
              <a:t>деятельность по сопровождению представляет собой эволюционную разработку программных систем. </a:t>
            </a:r>
          </a:p>
          <a:p>
            <a:r>
              <a:rPr lang="ru-RU" dirty="0"/>
              <a:t>Принятию тех или иных решений в процессе сопровождения, помогает понимание того, что происходит с программной системой в процессе ее эксплуатации. </a:t>
            </a:r>
            <a:r>
              <a:rPr lang="ru-RU" b="1" dirty="0"/>
              <a:t>Существующее (особенно, корпоративное) программное обеспечение никогда не бывает полностью завершенным и продолжает эволюционировать в течение всего срока эксплуатации. </a:t>
            </a:r>
          </a:p>
          <a:p>
            <a:r>
              <a:rPr lang="ru-RU" b="1" dirty="0"/>
              <a:t>В процессе эволюционирования программная система становится все более сложной</a:t>
            </a:r>
            <a:r>
              <a:rPr lang="ru-RU" dirty="0"/>
              <a:t> до тех пор, пока не предпринимаются специальные усилия (в том числе, в рамках специального проекта по модификации) по уменьшению его сложности.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02B379-043D-41AA-953B-929BD068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F35178A-F216-47F1-94F8-6037352B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05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06DA5-CAE8-4263-B12B-4A1AA80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1274778" cy="756355"/>
          </a:xfrm>
        </p:spPr>
        <p:txBody>
          <a:bodyPr>
            <a:normAutofit/>
          </a:bodyPr>
          <a:lstStyle/>
          <a:p>
            <a:r>
              <a:rPr lang="ru-RU" sz="3600" dirty="0"/>
              <a:t>Категории сопровождения (</a:t>
            </a:r>
            <a:r>
              <a:rPr lang="ru-RU" sz="3600" dirty="0" err="1"/>
              <a:t>Categories</a:t>
            </a:r>
            <a:r>
              <a:rPr lang="ru-RU" sz="3600" dirty="0"/>
              <a:t> </a:t>
            </a:r>
            <a:r>
              <a:rPr lang="ru-RU" sz="3600" dirty="0" err="1"/>
              <a:t>of</a:t>
            </a:r>
            <a:r>
              <a:rPr lang="ru-RU" sz="3600" dirty="0"/>
              <a:t> </a:t>
            </a:r>
            <a:r>
              <a:rPr lang="ru-RU" sz="3600" dirty="0" err="1"/>
              <a:t>Maintenance</a:t>
            </a:r>
            <a:r>
              <a:rPr lang="ru-RU" sz="36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A8C6E8-DF86-43C4-A68C-DC63E53F1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56357"/>
            <a:ext cx="11116734" cy="47300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сегодня говорят о четырех категориях сопровождения:</a:t>
            </a:r>
          </a:p>
          <a:p>
            <a:pPr marL="0" indent="0">
              <a:buNone/>
            </a:pPr>
            <a:r>
              <a:rPr lang="ru-RU" dirty="0"/>
              <a:t>• Корректирующее сопровождение (</a:t>
            </a:r>
            <a:r>
              <a:rPr lang="ru-RU" dirty="0" err="1"/>
              <a:t>corrective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): “реактивная” модификация программного продукта, выполняемая уже после передачи в эксплуатацию для устранения сбоев;</a:t>
            </a:r>
          </a:p>
          <a:p>
            <a:pPr marL="0" indent="0">
              <a:buNone/>
            </a:pPr>
            <a:r>
              <a:rPr lang="ru-RU" dirty="0"/>
              <a:t>• Адаптирующее сопровождение (</a:t>
            </a:r>
            <a:r>
              <a:rPr lang="ru-RU" dirty="0" err="1"/>
              <a:t>adaptive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): модификация программного продукта на этапе эксплуатации для обеспечения продолжения его использования с заданной эффективностью (с точки зрения удовлетворения потребностей пользователей) в изменившемся или находящемся в процессе изменения окружении; в первую очередь, подразумевается изменение бизнес-окружения, порождающее новые требования к системе;</a:t>
            </a:r>
          </a:p>
          <a:p>
            <a:pPr marL="0" indent="0">
              <a:buNone/>
            </a:pPr>
            <a:r>
              <a:rPr lang="ru-RU" dirty="0"/>
              <a:t>• Совершенствующее сопровождение (</a:t>
            </a:r>
            <a:r>
              <a:rPr lang="ru-RU" dirty="0" err="1"/>
              <a:t>perfective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): модификация программного продукта на этапе эксплуатации для повышения характеристик производительности и удобства сопровождения;</a:t>
            </a:r>
          </a:p>
          <a:p>
            <a:pPr marL="0" indent="0">
              <a:buNone/>
            </a:pPr>
            <a:r>
              <a:rPr lang="ru-RU" dirty="0"/>
              <a:t>• Профилактическое сопровождение (</a:t>
            </a:r>
            <a:r>
              <a:rPr lang="ru-RU" dirty="0" err="1"/>
              <a:t>preventive</a:t>
            </a:r>
            <a:r>
              <a:rPr lang="ru-RU" dirty="0"/>
              <a:t> </a:t>
            </a:r>
            <a:r>
              <a:rPr lang="ru-RU" dirty="0" err="1"/>
              <a:t>maintenance</a:t>
            </a:r>
            <a:r>
              <a:rPr lang="ru-RU" dirty="0"/>
              <a:t>): модификация программного продукта на этапе эксплуатации для идентификации и предотвращения скрытых дефектов до того, когда они приведут к реальным сбоям.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6C9F1E-9090-4CD7-BB2C-1155ACDE3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2D8464-B309-4105-9916-E0174547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12820A-1332-45EF-AD02-D2B722940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53" y="5260622"/>
            <a:ext cx="7673573" cy="1232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56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D4720-42E0-49E2-96E5-F8728C960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вопросы сопровождения программного обеспечения (Key </a:t>
            </a:r>
            <a:r>
              <a:rPr lang="ru-RU" dirty="0" err="1"/>
              <a:t>Issues</a:t>
            </a:r>
            <a:r>
              <a:rPr lang="ru-RU" dirty="0"/>
              <a:t> </a:t>
            </a:r>
            <a:r>
              <a:rPr lang="ru-RU" dirty="0" err="1"/>
              <a:t>in</a:t>
            </a:r>
            <a:r>
              <a:rPr lang="ru-RU" dirty="0"/>
              <a:t> Software </a:t>
            </a:r>
            <a:r>
              <a:rPr lang="ru-RU" dirty="0" err="1"/>
              <a:t>Maintenance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EBB8EE-FE27-4682-B171-30F36FC83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Технические вопросы (</a:t>
            </a:r>
            <a:r>
              <a:rPr lang="en-GB" dirty="0"/>
              <a:t>Technical Issues)</a:t>
            </a:r>
            <a:endParaRPr lang="ru-RU" dirty="0"/>
          </a:p>
          <a:p>
            <a:r>
              <a:rPr lang="ru-RU" dirty="0"/>
              <a:t>Управленческие вопросы (</a:t>
            </a:r>
            <a:r>
              <a:rPr lang="en-GB" dirty="0"/>
              <a:t>Management Issues)</a:t>
            </a:r>
            <a:endParaRPr lang="ru-RU" dirty="0"/>
          </a:p>
          <a:p>
            <a:r>
              <a:rPr lang="ru-RU" dirty="0"/>
              <a:t>Оценка стоимости сопровождения (</a:t>
            </a:r>
            <a:r>
              <a:rPr lang="ru-RU" dirty="0" err="1"/>
              <a:t>Maintenance</a:t>
            </a:r>
            <a:r>
              <a:rPr lang="ru-RU" dirty="0"/>
              <a:t> Cost </a:t>
            </a:r>
            <a:r>
              <a:rPr lang="ru-RU" dirty="0" err="1"/>
              <a:t>Estimation</a:t>
            </a:r>
            <a:r>
              <a:rPr lang="ru-RU" dirty="0"/>
              <a:t>)</a:t>
            </a:r>
          </a:p>
          <a:p>
            <a:r>
              <a:rPr lang="ru-RU" dirty="0"/>
              <a:t>Измерения в сопровождении программного обеспечения (Software </a:t>
            </a:r>
            <a:r>
              <a:rPr lang="ru-RU" dirty="0" err="1"/>
              <a:t>Maintenance</a:t>
            </a:r>
            <a:r>
              <a:rPr lang="ru-RU" dirty="0"/>
              <a:t> </a:t>
            </a:r>
            <a:r>
              <a:rPr lang="ru-RU" dirty="0" err="1"/>
              <a:t>Measurement</a:t>
            </a:r>
            <a:r>
              <a:rPr lang="ru-RU" dirty="0"/>
              <a:t>)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56F65E-BFE2-460E-8EB6-F729B768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009CF1-D8F7-4392-AB4C-6A0A4AB4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35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4ACBE-A17F-472D-A49D-467B36F2A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8578"/>
          </a:xfrm>
        </p:spPr>
        <p:txBody>
          <a:bodyPr/>
          <a:lstStyle/>
          <a:p>
            <a:r>
              <a:rPr lang="ru-RU" dirty="0"/>
              <a:t>Технические вопросы (</a:t>
            </a:r>
            <a:r>
              <a:rPr lang="en-GB" dirty="0"/>
              <a:t>Technical Issues)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FD1ACC-7CE6-4247-9D89-DB1E99F34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46667"/>
            <a:ext cx="11082867" cy="5768622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Ограниченное понимание (</a:t>
            </a:r>
            <a:r>
              <a:rPr lang="en-GB" dirty="0"/>
              <a:t>Limited understanding)</a:t>
            </a:r>
            <a:endParaRPr lang="ru-RU" dirty="0"/>
          </a:p>
          <a:p>
            <a:pPr lvl="1"/>
            <a:r>
              <a:rPr lang="ru-RU" dirty="0"/>
              <a:t>Формирование целостного взгляда о системе представляет большое значение для инженеров</a:t>
            </a:r>
          </a:p>
          <a:p>
            <a:pPr lvl="1"/>
            <a:r>
              <a:rPr lang="ru-RU" dirty="0"/>
              <a:t>При таком понимании, даже не заглядывая в код системы или фреймворка, инженер способен с очень большой вероятностью предположить возможные причины сбоя, а, в общем случае, и любых аспектов поведения системы</a:t>
            </a:r>
          </a:p>
          <a:p>
            <a:r>
              <a:rPr lang="ru-RU" dirty="0"/>
              <a:t>Тестирование (</a:t>
            </a:r>
            <a:r>
              <a:rPr lang="en-GB" dirty="0"/>
              <a:t>Testing)</a:t>
            </a:r>
            <a:endParaRPr lang="ru-RU" dirty="0"/>
          </a:p>
          <a:p>
            <a:r>
              <a:rPr lang="ru-RU" dirty="0"/>
              <a:t>Анализ влияния (</a:t>
            </a:r>
            <a:r>
              <a:rPr lang="en-GB" dirty="0"/>
              <a:t>Impact analysis)</a:t>
            </a:r>
            <a:endParaRPr lang="ru-RU" dirty="0"/>
          </a:p>
          <a:p>
            <a:r>
              <a:rPr lang="ru-RU" dirty="0"/>
              <a:t>Возможность сопровождения (</a:t>
            </a:r>
            <a:r>
              <a:rPr lang="en-GB" dirty="0"/>
              <a:t>Maintainability)</a:t>
            </a:r>
            <a:endParaRPr lang="ru-RU" dirty="0"/>
          </a:p>
          <a:p>
            <a:pPr lvl="1"/>
            <a:r>
              <a:rPr lang="ru-RU" dirty="0"/>
              <a:t>Возможность сопровождения или </a:t>
            </a:r>
            <a:r>
              <a:rPr lang="ru-RU" dirty="0" err="1"/>
              <a:t>сопровождаемость</a:t>
            </a:r>
            <a:r>
              <a:rPr lang="ru-RU" dirty="0"/>
              <a:t> программной системы определяется, например, глоссарием IEEE (стандарт 610.12-90 Standard </a:t>
            </a:r>
            <a:r>
              <a:rPr lang="ru-RU" dirty="0" err="1"/>
              <a:t>Glossary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Software Engineering </a:t>
            </a:r>
            <a:r>
              <a:rPr lang="ru-RU" dirty="0" err="1"/>
              <a:t>Terminology</a:t>
            </a:r>
            <a:r>
              <a:rPr lang="ru-RU" dirty="0"/>
              <a:t>, обновление 2002 года) как легкость сопровождения, расширения, адаптации и корректировки для удовлетворения заданных требований</a:t>
            </a:r>
          </a:p>
          <a:p>
            <a:pPr lvl="1"/>
            <a:r>
              <a:rPr lang="ru-RU" dirty="0"/>
              <a:t>Для уменьшения стоимости дальнейшего сопровождения, на протяжении всего процесса разработки необходимо специфицировать, оценивать и контролировать характеристики, влияющие на возможность сопровождения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8C6568B-73C3-478C-9248-9CCD4FDE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9185B1-3B49-4225-B3BF-FFFB0971F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497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AA842-0E77-4B3D-8330-62735B544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5"/>
            <a:ext cx="11128022" cy="899231"/>
          </a:xfrm>
        </p:spPr>
        <p:txBody>
          <a:bodyPr/>
          <a:lstStyle/>
          <a:p>
            <a:r>
              <a:rPr lang="ru-RU" dirty="0"/>
              <a:t>Управленческие вопросы (</a:t>
            </a:r>
            <a:r>
              <a:rPr lang="en-GB" dirty="0"/>
              <a:t>Management Issues)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E3EF76-A5E2-4B41-A86B-578EFA3E6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110" y="888647"/>
            <a:ext cx="11128021" cy="587727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Согласование с организационными целями (</a:t>
            </a:r>
            <a:r>
              <a:rPr lang="en-GB" dirty="0"/>
              <a:t>Alignment with organizational </a:t>
            </a:r>
            <a:r>
              <a:rPr lang="en-GB" dirty="0" err="1"/>
              <a:t>objectivies</a:t>
            </a:r>
            <a:r>
              <a:rPr lang="en-GB" dirty="0"/>
              <a:t>)</a:t>
            </a:r>
            <a:endParaRPr lang="ru-RU" dirty="0"/>
          </a:p>
          <a:p>
            <a:r>
              <a:rPr lang="ru-RU" dirty="0"/>
              <a:t>Проблемы кадрового обеспечения 3 (</a:t>
            </a:r>
            <a:r>
              <a:rPr lang="ru-RU" dirty="0" err="1"/>
              <a:t>Staffing</a:t>
            </a:r>
            <a:r>
              <a:rPr lang="ru-RU" dirty="0"/>
              <a:t>)</a:t>
            </a:r>
          </a:p>
          <a:p>
            <a:r>
              <a:rPr lang="ru-RU" dirty="0"/>
              <a:t>Процесс (</a:t>
            </a:r>
            <a:r>
              <a:rPr lang="en-GB" dirty="0"/>
              <a:t>Process)</a:t>
            </a:r>
            <a:endParaRPr lang="ru-RU" dirty="0"/>
          </a:p>
          <a:p>
            <a:r>
              <a:rPr lang="ru-RU" dirty="0"/>
              <a:t>Организационные аспекты сопровождения (</a:t>
            </a:r>
            <a:r>
              <a:rPr lang="en-GB" dirty="0"/>
              <a:t>Organizational aspects of maintenance)</a:t>
            </a:r>
            <a:endParaRPr lang="ru-RU" dirty="0"/>
          </a:p>
          <a:p>
            <a:r>
              <a:rPr lang="ru-RU" dirty="0" err="1"/>
              <a:t>Аутсоурсинг</a:t>
            </a:r>
            <a:r>
              <a:rPr lang="ru-RU" dirty="0"/>
              <a:t> (</a:t>
            </a:r>
            <a:r>
              <a:rPr lang="en-GB" dirty="0"/>
              <a:t>Outsourcing)</a:t>
            </a:r>
            <a:endParaRPr lang="ru-RU" dirty="0"/>
          </a:p>
          <a:p>
            <a:pPr lvl="1"/>
            <a:r>
              <a:rPr lang="ru-RU" sz="1300" dirty="0"/>
              <a:t>контроль сложно измерить. В свою очередь, перед </a:t>
            </a:r>
            <a:r>
              <a:rPr lang="ru-RU" sz="1300" dirty="0" err="1"/>
              <a:t>аутсоурсером</a:t>
            </a:r>
            <a:r>
              <a:rPr lang="ru-RU" sz="1300" dirty="0"/>
              <a:t> (организацией, принимающей на себя ответственность по сопровождению) стоит серьезная проблема по определению содержания соответствующих работ, в том числе, для описания содержания соответствующего контракта. Отмечается, что около 50% сервисов, предоставляемых </a:t>
            </a:r>
            <a:r>
              <a:rPr lang="ru-RU" sz="1300" dirty="0" err="1"/>
              <a:t>аутсоурсером</a:t>
            </a:r>
            <a:r>
              <a:rPr lang="ru-RU" sz="1300" dirty="0"/>
              <a:t>, проводятся без соответствующего детального и однозначно интерпретируемого соглашения (</a:t>
            </a:r>
            <a:r>
              <a:rPr lang="ru-RU" sz="1300" dirty="0" err="1"/>
              <a:t>service</a:t>
            </a:r>
            <a:r>
              <a:rPr lang="ru-RU" sz="1300" dirty="0"/>
              <a:t> </a:t>
            </a:r>
            <a:r>
              <a:rPr lang="ru-RU" sz="1300" dirty="0" err="1"/>
              <a:t>level</a:t>
            </a:r>
            <a:r>
              <a:rPr lang="ru-RU" sz="1300" dirty="0"/>
              <a:t> </a:t>
            </a:r>
            <a:r>
              <a:rPr lang="ru-RU" sz="1300" dirty="0" err="1"/>
              <a:t>agreement</a:t>
            </a:r>
            <a:r>
              <a:rPr lang="ru-RU" sz="1300" dirty="0"/>
              <a:t>, SLA). Компании, занимающиеся </a:t>
            </a:r>
            <a:r>
              <a:rPr lang="ru-RU" sz="1300" dirty="0" err="1"/>
              <a:t>аутсоурсингом</a:t>
            </a:r>
            <a:r>
              <a:rPr lang="ru-RU" sz="1300" dirty="0"/>
              <a:t>, обычно затрачивают несколько месяцев на оценку программного обеспечения прежде, чем заключают соответствующий контракт. Еще один вопрос, требующий специального внимания, заключается в необходимости определения процесса и процедур передачи программного обеспечения на внешнее сопровождение.</a:t>
            </a:r>
          </a:p>
          <a:p>
            <a:r>
              <a:rPr lang="ru-RU" dirty="0"/>
              <a:t>Оценка стоимости сопровождения (</a:t>
            </a:r>
            <a:r>
              <a:rPr lang="ru-RU" dirty="0" err="1"/>
              <a:t>Maintenance</a:t>
            </a:r>
            <a:r>
              <a:rPr lang="ru-RU" dirty="0"/>
              <a:t> Cost </a:t>
            </a:r>
            <a:r>
              <a:rPr lang="ru-RU" dirty="0" err="1"/>
              <a:t>Estimation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Оценка стоимости (</a:t>
            </a:r>
            <a:r>
              <a:rPr lang="en-GB" dirty="0"/>
              <a:t>Cost Estimation)</a:t>
            </a:r>
            <a:endParaRPr lang="ru-RU" dirty="0"/>
          </a:p>
          <a:p>
            <a:pPr lvl="1"/>
            <a:r>
              <a:rPr lang="ru-RU" dirty="0"/>
              <a:t>Параметрические модели (</a:t>
            </a:r>
            <a:r>
              <a:rPr lang="en-GB" dirty="0"/>
              <a:t>Parametric models)</a:t>
            </a:r>
            <a:endParaRPr lang="ru-RU" dirty="0"/>
          </a:p>
          <a:p>
            <a:pPr lvl="1"/>
            <a:r>
              <a:rPr lang="ru-RU" dirty="0"/>
              <a:t>Опыт (</a:t>
            </a:r>
            <a:r>
              <a:rPr lang="en-GB" dirty="0"/>
              <a:t>Experience)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FCA51C-7E0D-4B8E-A03D-90702087E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© </a:t>
            </a:r>
            <a:r>
              <a:rPr lang="ru-RU" dirty="0" err="1"/>
              <a:t>Д.В.Кубраков</a:t>
            </a:r>
            <a:r>
              <a:rPr lang="ru-RU" dirty="0"/>
              <a:t>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8C3163-D3C5-4EFC-9DAF-C3A7433C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37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BC6E9-3499-48EE-B7EF-91F2EB85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Измерения в сопровождении программного обеспечения (Software </a:t>
            </a:r>
            <a:r>
              <a:rPr lang="ru-RU" dirty="0" err="1"/>
              <a:t>Maintenance</a:t>
            </a:r>
            <a:r>
              <a:rPr lang="ru-RU" dirty="0"/>
              <a:t> </a:t>
            </a:r>
            <a:r>
              <a:rPr lang="ru-RU" dirty="0" err="1"/>
              <a:t>Measurement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4FB4AD-AA7C-48D1-A235-4EDA5592E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5563"/>
            <a:ext cx="11240911" cy="5440362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Формы и данные измерений в процессе сопровождения могут объединяться в </a:t>
            </a:r>
            <a:r>
              <a:rPr lang="ru-RU" b="1" dirty="0"/>
              <a:t>единую программу корпоративную программу количественных оценок</a:t>
            </a:r>
            <a:r>
              <a:rPr lang="ru-RU" dirty="0"/>
              <a:t>, проводимых в отношении программного обеспечения. </a:t>
            </a:r>
          </a:p>
          <a:p>
            <a:r>
              <a:rPr lang="ru-RU" dirty="0"/>
              <a:t>Многие организации используют </a:t>
            </a:r>
            <a:r>
              <a:rPr lang="ru-RU" b="1" dirty="0"/>
              <a:t>популярный и практичный подход для измерений, базирующийся на оценке количества проблем и статуса их решений (</a:t>
            </a:r>
            <a:r>
              <a:rPr lang="ru-RU" b="1" dirty="0" err="1"/>
              <a:t>issue-driven</a:t>
            </a:r>
            <a:r>
              <a:rPr lang="ru-RU" b="1" dirty="0"/>
              <a:t> </a:t>
            </a:r>
            <a:r>
              <a:rPr lang="ru-RU" b="1" dirty="0" err="1"/>
              <a:t>measurement</a:t>
            </a:r>
            <a:r>
              <a:rPr lang="ru-RU" b="1" dirty="0"/>
              <a:t>)</a:t>
            </a:r>
            <a:r>
              <a:rPr lang="ru-RU" dirty="0"/>
              <a:t>. Идеи этого подхода систематизированы в проекте </a:t>
            </a:r>
            <a:r>
              <a:rPr lang="ru-RU" dirty="0" err="1"/>
              <a:t>Practical</a:t>
            </a:r>
            <a:r>
              <a:rPr lang="ru-RU" dirty="0"/>
              <a:t> Software </a:t>
            </a:r>
            <a:r>
              <a:rPr lang="ru-RU" dirty="0" err="1"/>
              <a:t>and</a:t>
            </a:r>
            <a:r>
              <a:rPr lang="ru-RU" dirty="0"/>
              <a:t> Systems </a:t>
            </a:r>
            <a:r>
              <a:rPr lang="ru-RU" dirty="0" err="1"/>
              <a:t>Measurement</a:t>
            </a:r>
            <a:r>
              <a:rPr lang="ru-RU" dirty="0"/>
              <a:t> (PSM). </a:t>
            </a:r>
          </a:p>
          <a:p>
            <a:r>
              <a:rPr lang="ru-RU" b="1" dirty="0"/>
              <a:t>Существуют общие (для всего жизненного цикла) метрики </a:t>
            </a:r>
            <a:r>
              <a:rPr lang="ru-RU" dirty="0"/>
              <a:t>и, соответственно, их категории, в частности, определяемые Институтом Программной Инженерии университета Карнеги-Меллон (Software Engineering Institute, </a:t>
            </a:r>
            <a:r>
              <a:rPr lang="ru-RU" dirty="0" err="1"/>
              <a:t>Carnegie-Mellon</a:t>
            </a:r>
            <a:r>
              <a:rPr lang="ru-RU" dirty="0"/>
              <a:t> University – SEI CMU): </a:t>
            </a:r>
            <a:r>
              <a:rPr lang="ru-RU" b="1" dirty="0"/>
              <a:t>размер, усилия, расписание и качество</a:t>
            </a:r>
            <a:r>
              <a:rPr lang="ru-RU" dirty="0"/>
              <a:t>. Применение этих метрик является хорошей отправной точкой для оценки работ со стороны организации, отвечающей за сопровождение.</a:t>
            </a:r>
          </a:p>
          <a:p>
            <a:r>
              <a:rPr lang="ru-RU" dirty="0"/>
              <a:t>Специализированные метрики (</a:t>
            </a:r>
            <a:r>
              <a:rPr lang="en-GB" dirty="0"/>
              <a:t>Specific Measures)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типичные метрики оценки работ по сопровождению, соответствующих распространенной классификации эксплуатационных характеристик программного обеспечения:</a:t>
            </a:r>
          </a:p>
          <a:p>
            <a:pPr marL="0" indent="0">
              <a:buNone/>
            </a:pPr>
            <a:r>
              <a:rPr lang="ru-RU" dirty="0"/>
              <a:t>•	</a:t>
            </a:r>
            <a:r>
              <a:rPr lang="ru-RU" dirty="0" err="1"/>
              <a:t>Анализируемость</a:t>
            </a:r>
            <a:r>
              <a:rPr lang="ru-RU" dirty="0"/>
              <a:t> (</a:t>
            </a:r>
            <a:r>
              <a:rPr lang="ru-RU" dirty="0" err="1"/>
              <a:t>Analyzability</a:t>
            </a:r>
            <a:r>
              <a:rPr lang="ru-RU" dirty="0"/>
              <a:t>): оценка (в первую очередь, дополнительных) усилий или ресурсов, необходимых для диагностики недостатков или причин сбоев, а также для идентификации тех фрагментов программной системы, которые должны быть модифицированы.</a:t>
            </a:r>
          </a:p>
          <a:p>
            <a:pPr marL="0" indent="0">
              <a:buNone/>
            </a:pPr>
            <a:r>
              <a:rPr lang="ru-RU" dirty="0"/>
              <a:t>•	Изменяемость (</a:t>
            </a:r>
            <a:r>
              <a:rPr lang="ru-RU" dirty="0" err="1"/>
              <a:t>Changeability</a:t>
            </a:r>
            <a:r>
              <a:rPr lang="ru-RU" dirty="0"/>
              <a:t>): оценка усилий, необходимых для проведения заданных модификаций.</a:t>
            </a:r>
          </a:p>
          <a:p>
            <a:pPr marL="0" indent="0">
              <a:buNone/>
            </a:pPr>
            <a:r>
              <a:rPr lang="ru-RU" dirty="0"/>
              <a:t>•	Стабильность (</a:t>
            </a:r>
            <a:r>
              <a:rPr lang="ru-RU" dirty="0" err="1"/>
              <a:t>Stability</a:t>
            </a:r>
            <a:r>
              <a:rPr lang="ru-RU" dirty="0"/>
              <a:t>): оценка случаев непредусмотренного поведения системы, включая ситуации, обнаруженные в процессе тестирования.</a:t>
            </a:r>
          </a:p>
          <a:p>
            <a:pPr marL="0" indent="0">
              <a:buNone/>
            </a:pPr>
            <a:r>
              <a:rPr lang="ru-RU" dirty="0"/>
              <a:t>•	Тестируемость (</a:t>
            </a:r>
            <a:r>
              <a:rPr lang="ru-RU" dirty="0" err="1"/>
              <a:t>Testability</a:t>
            </a:r>
            <a:r>
              <a:rPr lang="ru-RU" dirty="0"/>
              <a:t>): оценка усилий персонала сопровождения и пользователей по тестированию модифицированного программного обеспечения.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6D417DC-B5BE-4304-9605-810FB8422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FD0D4E-4CBB-4F44-8048-C3D714A5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1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0FDB83-92E9-4AC1-92ED-A16EBBC5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207044" cy="790222"/>
          </a:xfrm>
        </p:spPr>
        <p:txBody>
          <a:bodyPr/>
          <a:lstStyle/>
          <a:p>
            <a:r>
              <a:rPr lang="ru-RU" dirty="0"/>
              <a:t>Процесс сопровождения (</a:t>
            </a:r>
            <a:r>
              <a:rPr lang="en-GB" dirty="0"/>
              <a:t>Maintenance Process)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88E5F1-3D1F-4617-8FA6-E4BBDA988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533"/>
            <a:ext cx="11105444" cy="529643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Одна из наиболее детально проработанных и распространенных (на уровне стандарта </a:t>
            </a:r>
            <a:r>
              <a:rPr lang="ru-RU" dirty="0" err="1"/>
              <a:t>de</a:t>
            </a:r>
            <a:r>
              <a:rPr lang="ru-RU" dirty="0"/>
              <a:t> </a:t>
            </a:r>
            <a:r>
              <a:rPr lang="ru-RU" dirty="0" err="1"/>
              <a:t>facto</a:t>
            </a:r>
            <a:r>
              <a:rPr lang="ru-RU" dirty="0"/>
              <a:t>) процессных моделей, изначально созданных с ориентацией на программное обеспечение – </a:t>
            </a:r>
            <a:r>
              <a:rPr lang="ru-RU" b="1" dirty="0"/>
              <a:t>CMMI (</a:t>
            </a:r>
            <a:r>
              <a:rPr lang="ru-RU" b="1" dirty="0" err="1"/>
              <a:t>Capability</a:t>
            </a:r>
            <a:r>
              <a:rPr lang="ru-RU" b="1" dirty="0"/>
              <a:t> </a:t>
            </a:r>
            <a:r>
              <a:rPr lang="ru-RU" b="1" dirty="0" err="1"/>
              <a:t>Maturity</a:t>
            </a:r>
            <a:r>
              <a:rPr lang="ru-RU" b="1" dirty="0"/>
              <a:t> Model </a:t>
            </a:r>
            <a:r>
              <a:rPr lang="ru-RU" b="1" dirty="0" err="1"/>
              <a:t>Integration</a:t>
            </a:r>
            <a:r>
              <a:rPr lang="ru-RU" b="1" dirty="0"/>
              <a:t> – интегрированная модель зрелости)</a:t>
            </a:r>
            <a:r>
              <a:rPr lang="ru-RU" dirty="0"/>
              <a:t>, разработанная в </a:t>
            </a:r>
            <a:r>
              <a:rPr lang="ru-RU" i="1" dirty="0"/>
              <a:t>Институте программной инженерии университета Карнеги-Меллон (SEI CMU)</a:t>
            </a:r>
            <a:r>
              <a:rPr lang="ru-RU" dirty="0"/>
              <a:t>. CMMI, в частности, уделяет специальное внимание процессам сопровождения. Существуют и другие, менее распространенные, но тем не менее развивающиеся модели.</a:t>
            </a:r>
            <a:endParaRPr lang="en-US" dirty="0"/>
          </a:p>
          <a:p>
            <a:endParaRPr lang="en-US" dirty="0"/>
          </a:p>
          <a:p>
            <a:r>
              <a:rPr lang="ru-RU" sz="3200" dirty="0"/>
              <a:t>Процессы сопровождения (</a:t>
            </a:r>
            <a:r>
              <a:rPr lang="en-GB" sz="3200" dirty="0"/>
              <a:t>Maintenance Processes)</a:t>
            </a:r>
          </a:p>
          <a:p>
            <a:r>
              <a:rPr lang="ru-RU" sz="3200" dirty="0"/>
              <a:t>Работы по сопровождению (</a:t>
            </a:r>
            <a:r>
              <a:rPr lang="ru-RU" sz="3200" dirty="0" err="1"/>
              <a:t>Maintenance</a:t>
            </a:r>
            <a:r>
              <a:rPr lang="ru-RU" sz="3200" dirty="0"/>
              <a:t> </a:t>
            </a:r>
            <a:r>
              <a:rPr lang="ru-RU" sz="3200" dirty="0" err="1"/>
              <a:t>Activities</a:t>
            </a:r>
            <a:r>
              <a:rPr lang="ru-RU" sz="3200" dirty="0"/>
              <a:t>)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ADA258-CB2B-4F1F-AA77-9E0475AD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F5D59A1-EE81-4A42-831D-9FDE20EE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97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AB950-5A37-4C66-8818-E67276C2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1184467" cy="7302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Процессы сопровождения (</a:t>
            </a:r>
            <a:r>
              <a:rPr lang="en-GB" dirty="0"/>
              <a:t>Maintenance Processes)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39508AC6-A781-4DBC-B094-70B2CBDA77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488" y="1207445"/>
            <a:ext cx="7022644" cy="5104519"/>
          </a:xfr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B3DF2C-0747-4FB9-922D-1009423B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E8E7248-7CE8-4658-895A-A883144F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76738A-FA74-48CD-9362-EE1EFB2590F8}"/>
              </a:ext>
            </a:extLst>
          </p:cNvPr>
          <p:cNvSpPr txBox="1"/>
          <p:nvPr/>
        </p:nvSpPr>
        <p:spPr>
          <a:xfrm>
            <a:off x="4029424" y="749278"/>
            <a:ext cx="765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Работы в процессе сопровождения по стандарту IEEE 1219</a:t>
            </a:r>
          </a:p>
        </p:txBody>
      </p:sp>
    </p:spTree>
    <p:extLst>
      <p:ext uri="{BB962C8B-B14F-4D97-AF65-F5344CB8AC3E}">
        <p14:creationId xmlns:p14="http://schemas.microsoft.com/office/powerpoint/2010/main" val="1105275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AB950-5A37-4C66-8818-E67276C23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1184467" cy="7302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Процессы сопровождения (</a:t>
            </a:r>
            <a:r>
              <a:rPr lang="en-GB" dirty="0"/>
              <a:t>Maintenance Processes)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B3DF2C-0747-4FB9-922D-1009423B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E8E7248-7CE8-4658-895A-A883144F5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76738A-FA74-48CD-9362-EE1EFB2590F8}"/>
              </a:ext>
            </a:extLst>
          </p:cNvPr>
          <p:cNvSpPr txBox="1"/>
          <p:nvPr/>
        </p:nvSpPr>
        <p:spPr>
          <a:xfrm>
            <a:off x="3927824" y="645683"/>
            <a:ext cx="7880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Стандарт ISO/IEC 14764 уточняет положения, связанные с процессом сопровождения, стандарта жизненного цикла 12207</a:t>
            </a:r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16DC43C3-1B1C-42F4-801D-EB10CAE2C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5860" y="1487699"/>
            <a:ext cx="7699696" cy="5279792"/>
          </a:xfrm>
        </p:spPr>
      </p:pic>
    </p:spTree>
    <p:extLst>
      <p:ext uri="{BB962C8B-B14F-4D97-AF65-F5344CB8AC3E}">
        <p14:creationId xmlns:p14="http://schemas.microsoft.com/office/powerpoint/2010/main" val="2246023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83B62-71B7-4337-8749-A44FE48D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6"/>
            <a:ext cx="11274778" cy="811036"/>
          </a:xfrm>
        </p:spPr>
        <p:txBody>
          <a:bodyPr>
            <a:normAutofit/>
          </a:bodyPr>
          <a:lstStyle/>
          <a:p>
            <a:r>
              <a:rPr lang="ru-RU" sz="3600" dirty="0"/>
              <a:t>Работы по сопровождению (</a:t>
            </a:r>
            <a:r>
              <a:rPr lang="ru-RU" sz="3600" dirty="0" err="1"/>
              <a:t>Maintenance</a:t>
            </a:r>
            <a:r>
              <a:rPr lang="ru-RU" sz="3600" dirty="0"/>
              <a:t> </a:t>
            </a:r>
            <a:r>
              <a:rPr lang="ru-RU" sz="3600" dirty="0" err="1"/>
              <a:t>Activities</a:t>
            </a:r>
            <a:r>
              <a:rPr lang="ru-RU" sz="3600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FFE759-A446-4968-9F3E-420443866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3422"/>
            <a:ext cx="10515600" cy="5183541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необходимо проводить анализ, проектирование, кодирование, тестирование и документирование</a:t>
            </a:r>
            <a:r>
              <a:rPr lang="ru-RU" dirty="0"/>
              <a:t>. </a:t>
            </a:r>
          </a:p>
          <a:p>
            <a:r>
              <a:rPr lang="ru-RU" dirty="0"/>
              <a:t>Специалисты по сопровождению должны отслеживать требования так же, как и инженеры-разработчики и обновлять документацию по мере разработки и/или выпуска обновленных или новых релизов продукта. </a:t>
            </a:r>
            <a:r>
              <a:rPr lang="ru-RU" b="1" dirty="0"/>
              <a:t>Стандарт ISO/IEC 14764 рекомендует, чтобы персонал или организации, отвечающие за сопровождение, в случае использования элементов процессов разработки в своей деятельности, адаптировали эти процессы &lt;целиком&gt; в соответствии со своими потребностями</a:t>
            </a:r>
            <a:r>
              <a:rPr lang="ru-RU" dirty="0"/>
              <a:t>. В то же время, деятельность по сопровождению обладает и определенными уникальными чертами, что приводит к необходимости использования специализированных процессов.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BD7973B-AB3F-4A2E-9426-94D72B409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63DF660-8E40-490B-AFAD-5987AD47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316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73CB8-77E0-46A9-8A9F-1459468A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1353800" cy="662782"/>
          </a:xfrm>
        </p:spPr>
        <p:txBody>
          <a:bodyPr/>
          <a:lstStyle/>
          <a:p>
            <a:r>
              <a:rPr lang="ru-RU" dirty="0"/>
              <a:t>Уникальные работы (</a:t>
            </a:r>
            <a:r>
              <a:rPr lang="en-GB" dirty="0"/>
              <a:t>Unique activities)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9DE655-91FC-40C0-8997-F4FC4F704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8933"/>
            <a:ext cx="11173178" cy="59869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b="1" dirty="0"/>
              <a:t>Передача (</a:t>
            </a:r>
            <a:r>
              <a:rPr lang="ru-RU" sz="2000" b="1" dirty="0" err="1"/>
              <a:t>Transition</a:t>
            </a:r>
            <a:r>
              <a:rPr lang="ru-RU" sz="2000" b="1" dirty="0"/>
              <a:t>): </a:t>
            </a:r>
            <a:r>
              <a:rPr lang="ru-RU" sz="2000" dirty="0"/>
              <a:t>контролируемая и координируемая деятельность по передаче </a:t>
            </a:r>
            <a:r>
              <a:rPr lang="ru-RU" sz="2000" b="1" dirty="0"/>
              <a:t>программного обеспечения от разработчиков группе, службе или организации, отвечающей за дальнейшую поддержку</a:t>
            </a:r>
            <a:r>
              <a:rPr lang="ru-RU" sz="2000" dirty="0"/>
              <a:t>;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b="1" dirty="0"/>
              <a:t>Принятие/отклонение запросов на модификацию </a:t>
            </a:r>
            <a:r>
              <a:rPr lang="ru-RU" sz="2000" dirty="0"/>
              <a:t>(</a:t>
            </a:r>
            <a:r>
              <a:rPr lang="ru-RU" sz="2000" dirty="0" err="1"/>
              <a:t>Modification</a:t>
            </a:r>
            <a:r>
              <a:rPr lang="ru-RU" sz="2000" dirty="0"/>
              <a:t> </a:t>
            </a:r>
            <a:r>
              <a:rPr lang="ru-RU" sz="2000" dirty="0" err="1"/>
              <a:t>Request</a:t>
            </a:r>
            <a:r>
              <a:rPr lang="ru-RU" sz="2000" dirty="0"/>
              <a:t> </a:t>
            </a:r>
            <a:r>
              <a:rPr lang="ru-RU" sz="2000" dirty="0" err="1"/>
              <a:t>Acceptance</a:t>
            </a:r>
            <a:r>
              <a:rPr lang="ru-RU" sz="2000" dirty="0"/>
              <a:t>/</a:t>
            </a:r>
            <a:r>
              <a:rPr lang="ru-RU" sz="2000" dirty="0" err="1"/>
              <a:t>Rejection</a:t>
            </a:r>
            <a:r>
              <a:rPr lang="ru-RU" sz="2000" dirty="0"/>
              <a:t>): запросы на изменения могут как приниматься и передаваться в работу, так и отклоняться по различным обоснованным причинам – объему и/или сложности требуемых изменений, а также необходимых для этого усилий. Соответствующие решения могут также приниматься на основе приоритетности, оценке обоснованности, отсутствии ресурсов (в том числе, отсутствия возможности привлечения разработчиков к решению задач по модификации, при реальном наличии такой потребности), утвержденной </a:t>
            </a:r>
            <a:r>
              <a:rPr lang="ru-RU" sz="2000" dirty="0" err="1"/>
              <a:t>запланированности</a:t>
            </a:r>
            <a:r>
              <a:rPr lang="ru-RU" sz="2000" dirty="0"/>
              <a:t> к реализации в следующем релизе и т.п.;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b="1" dirty="0"/>
              <a:t>Средства извещения персонала сопровождения и отслеживания статуса запросов на модификацию и отчетов об ошибках</a:t>
            </a:r>
            <a:r>
              <a:rPr lang="ru-RU" sz="2000" dirty="0"/>
              <a:t> (</a:t>
            </a:r>
            <a:r>
              <a:rPr lang="ru-RU" sz="2000" dirty="0" err="1"/>
              <a:t>Modification</a:t>
            </a:r>
            <a:r>
              <a:rPr lang="ru-RU" sz="2000" dirty="0"/>
              <a:t> </a:t>
            </a:r>
            <a:r>
              <a:rPr lang="ru-RU" sz="2000" dirty="0" err="1"/>
              <a:t>Request</a:t>
            </a:r>
            <a:r>
              <a:rPr lang="ru-RU" sz="2000" dirty="0"/>
              <a:t> </a:t>
            </a:r>
            <a:r>
              <a:rPr lang="ru-RU" sz="2000" dirty="0" err="1"/>
              <a:t>and</a:t>
            </a:r>
            <a:r>
              <a:rPr lang="ru-RU" sz="2000" dirty="0"/>
              <a:t> </a:t>
            </a:r>
            <a:r>
              <a:rPr lang="ru-RU" sz="2000" dirty="0" err="1"/>
              <a:t>Problem</a:t>
            </a:r>
            <a:r>
              <a:rPr lang="ru-RU" sz="2000" dirty="0"/>
              <a:t> Report Help Desk): функция поддержки конечных пользователей, инициирующая работы по оценке (</a:t>
            </a:r>
            <a:r>
              <a:rPr lang="ru-RU" sz="2000" dirty="0" err="1"/>
              <a:t>assessment</a:t>
            </a:r>
            <a:r>
              <a:rPr lang="ru-RU" sz="2000" dirty="0"/>
              <a:t>, подразумевая в том числе оценку необходимости), анализу приоритетности и стоимости модификаций, связанных с поступившим запросом или сообщенной проблемой;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b="1" dirty="0"/>
              <a:t>Анализ влияния (Impact Analysis)</a:t>
            </a:r>
            <a:r>
              <a:rPr lang="ru-RU" sz="2000" dirty="0"/>
              <a:t>: анализ возможных последствий изменений, вносимых в существующую систему - рассматривался выше в теме 2.1.3.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b="1" dirty="0"/>
              <a:t>Поддержка программного обеспечения (Software Support)</a:t>
            </a:r>
            <a:r>
              <a:rPr lang="ru-RU" sz="2000" dirty="0"/>
              <a:t>: работы по консультированию пользователей, проводимые в ответ на их информационные запросы (</a:t>
            </a:r>
            <a:r>
              <a:rPr lang="ru-RU" sz="2000" dirty="0" err="1"/>
              <a:t>request</a:t>
            </a:r>
            <a:r>
              <a:rPr lang="ru-RU" sz="2000" dirty="0"/>
              <a:t> </a:t>
            </a:r>
            <a:r>
              <a:rPr lang="ru-RU" sz="2000" dirty="0" err="1"/>
              <a:t>for</a:t>
            </a:r>
            <a:r>
              <a:rPr lang="ru-RU" sz="2000" dirty="0"/>
              <a:t> </a:t>
            </a:r>
            <a:r>
              <a:rPr lang="ru-RU" sz="2000" dirty="0" err="1"/>
              <a:t>information</a:t>
            </a:r>
            <a:r>
              <a:rPr lang="ru-RU" sz="2000" dirty="0"/>
              <a:t>), например, касающиеся соответствующих бизнес-правил (см. область знаний “Требования к программному обеспечению”), проверки, содержания данных и специфических (</a:t>
            </a:r>
            <a:r>
              <a:rPr lang="ru-RU" sz="2000" dirty="0" err="1"/>
              <a:t>ad</a:t>
            </a:r>
            <a:r>
              <a:rPr lang="ru-RU" sz="2000" dirty="0"/>
              <a:t> </a:t>
            </a:r>
            <a:r>
              <a:rPr lang="ru-RU" sz="2000" dirty="0" err="1"/>
              <a:t>hoc</a:t>
            </a:r>
            <a:r>
              <a:rPr lang="ru-RU" sz="2000" dirty="0"/>
              <a:t>) вопросов пользователей и их сообщений о проблемах (ошибках, сбоях, непредусмотренному поведению, непониманию аспектов работы с системой и т.п.).</a:t>
            </a:r>
          </a:p>
          <a:p>
            <a:pPr marL="0" indent="0">
              <a:buNone/>
            </a:pPr>
            <a:r>
              <a:rPr lang="ru-RU" sz="2000" dirty="0"/>
              <a:t>•	</a:t>
            </a:r>
            <a:r>
              <a:rPr lang="ru-RU" sz="2000" b="1" dirty="0"/>
              <a:t>Контракты и обязательства</a:t>
            </a:r>
            <a:r>
              <a:rPr lang="ru-RU" sz="2000" dirty="0"/>
              <a:t>: к ним относятся классическое соглашение об уровне предоставляемого сервиса - Service Level Agreement (SLA), а также другие договорные аспекты, на основании которых, группа/служба/организация по сопровождению выполняет соответствующие работы.</a:t>
            </a:r>
          </a:p>
          <a:p>
            <a:endParaRPr lang="ru-RU" sz="2000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58916E-1C98-46CF-AD5C-58224EB8A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80DB823-304F-4FF7-BA24-A86F966A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583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A6433-87DD-49F0-BF5B-F30134955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Дополнительные работы, поддерживающие процесс сопровождения (Support </a:t>
            </a:r>
            <a:r>
              <a:rPr lang="ru-RU" dirty="0" err="1"/>
              <a:t>activities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087B0-4E22-4A8C-82DD-A06D5FD6D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711" y="1325562"/>
            <a:ext cx="10890956" cy="5221993"/>
          </a:xfrm>
        </p:spPr>
        <p:txBody>
          <a:bodyPr>
            <a:normAutofit/>
          </a:bodyPr>
          <a:lstStyle/>
          <a:p>
            <a:r>
              <a:rPr lang="ru-RU" dirty="0"/>
              <a:t>работы персонала сопровождения, не включающие явного взаимодействия с пользователями, но необходимые для осуществления соответствующей деятельности. К таким работам относятся:</a:t>
            </a:r>
            <a:endParaRPr lang="en-US" dirty="0"/>
          </a:p>
          <a:p>
            <a:pPr lvl="1"/>
            <a:r>
              <a:rPr lang="ru-RU" dirty="0"/>
              <a:t>планирование сопровождения</a:t>
            </a:r>
            <a:r>
              <a:rPr lang="en-US" dirty="0"/>
              <a:t>,</a:t>
            </a:r>
            <a:r>
              <a:rPr lang="ru-RU" dirty="0"/>
              <a:t> </a:t>
            </a:r>
            <a:endParaRPr lang="en-US" dirty="0"/>
          </a:p>
          <a:p>
            <a:pPr lvl="1"/>
            <a:r>
              <a:rPr lang="ru-RU" dirty="0"/>
              <a:t>Конфигурационное управление (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configuration</a:t>
            </a:r>
            <a:r>
              <a:rPr lang="ru-RU" dirty="0"/>
              <a:t> </a:t>
            </a:r>
            <a:r>
              <a:rPr lang="ru-RU" dirty="0" err="1"/>
              <a:t>management</a:t>
            </a:r>
            <a:r>
              <a:rPr lang="ru-RU" dirty="0"/>
              <a:t>), </a:t>
            </a:r>
            <a:endParaRPr lang="en-US" dirty="0"/>
          </a:p>
          <a:p>
            <a:pPr lvl="1"/>
            <a:r>
              <a:rPr lang="ru-RU" dirty="0"/>
              <a:t>проверка и аттестация (V&amp;V – </a:t>
            </a:r>
            <a:r>
              <a:rPr lang="ru-RU" dirty="0" err="1"/>
              <a:t>verification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validation</a:t>
            </a:r>
            <a:r>
              <a:rPr lang="ru-RU" dirty="0"/>
              <a:t>), </a:t>
            </a:r>
            <a:endParaRPr lang="en-US" dirty="0"/>
          </a:p>
          <a:p>
            <a:pPr lvl="1"/>
            <a:r>
              <a:rPr lang="ru-RU" dirty="0"/>
              <a:t>оценка качества программного обеспечения (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quality</a:t>
            </a:r>
            <a:r>
              <a:rPr lang="ru-RU" dirty="0"/>
              <a:t> </a:t>
            </a:r>
            <a:r>
              <a:rPr lang="ru-RU" dirty="0" err="1"/>
              <a:t>assessment</a:t>
            </a:r>
            <a:r>
              <a:rPr lang="ru-RU" dirty="0"/>
              <a:t>),</a:t>
            </a:r>
            <a:endParaRPr lang="en-US" dirty="0"/>
          </a:p>
          <a:p>
            <a:pPr lvl="1"/>
            <a:r>
              <a:rPr lang="ru-RU" dirty="0"/>
              <a:t>различные аспекты обзора, анализа и оценки (</a:t>
            </a:r>
            <a:r>
              <a:rPr lang="ru-RU" dirty="0" err="1"/>
              <a:t>reviews</a:t>
            </a:r>
            <a:r>
              <a:rPr lang="ru-RU" dirty="0"/>
              <a:t>), </a:t>
            </a:r>
            <a:endParaRPr lang="en-US" dirty="0"/>
          </a:p>
          <a:p>
            <a:pPr lvl="1"/>
            <a:r>
              <a:rPr lang="ru-RU" dirty="0"/>
              <a:t>аудит (</a:t>
            </a:r>
            <a:r>
              <a:rPr lang="ru-RU" dirty="0" err="1"/>
              <a:t>audit</a:t>
            </a:r>
            <a:r>
              <a:rPr lang="ru-RU" dirty="0"/>
              <a:t>), </a:t>
            </a:r>
            <a:endParaRPr lang="en-US" dirty="0"/>
          </a:p>
          <a:p>
            <a:pPr lvl="1"/>
            <a:r>
              <a:rPr lang="ru-RU" dirty="0"/>
              <a:t>обучение (</a:t>
            </a:r>
            <a:r>
              <a:rPr lang="ru-RU" dirty="0" err="1"/>
              <a:t>training</a:t>
            </a:r>
            <a:r>
              <a:rPr lang="ru-RU" dirty="0"/>
              <a:t>) пользователей,</a:t>
            </a:r>
          </a:p>
          <a:p>
            <a:pPr lvl="1"/>
            <a:r>
              <a:rPr lang="ru-RU" dirty="0"/>
              <a:t>обучение персонала сопровождения.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F67495C-5573-475E-8AA1-D70802BF0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AE42C6-8421-4D9F-A335-05CE2756A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045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30BD35-0FA2-44A8-A34A-E32774674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229622" cy="1325563"/>
          </a:xfrm>
        </p:spPr>
        <p:txBody>
          <a:bodyPr/>
          <a:lstStyle/>
          <a:p>
            <a:r>
              <a:rPr lang="ru-RU" dirty="0"/>
              <a:t>Работы по планированию сопровождения (</a:t>
            </a:r>
            <a:r>
              <a:rPr lang="ru-RU" dirty="0" err="1"/>
              <a:t>Maintenance</a:t>
            </a:r>
            <a:r>
              <a:rPr lang="ru-RU" dirty="0"/>
              <a:t> </a:t>
            </a:r>
            <a:r>
              <a:rPr lang="ru-RU" dirty="0" err="1"/>
              <a:t>planning</a:t>
            </a:r>
            <a:r>
              <a:rPr lang="ru-RU" dirty="0"/>
              <a:t> </a:t>
            </a:r>
            <a:r>
              <a:rPr lang="ru-RU" dirty="0" err="1"/>
              <a:t>activity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AD6E0-1DC4-4333-8CD3-EB289C46B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2"/>
            <a:ext cx="11229622" cy="515425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•	Бизнес-планирование (организационный уровень)</a:t>
            </a:r>
          </a:p>
          <a:p>
            <a:pPr marL="0" indent="0">
              <a:buNone/>
            </a:pPr>
            <a:r>
              <a:rPr lang="ru-RU" dirty="0"/>
              <a:t>•	Планирование непосредственных работ по сопровождению (уровень передачи программного обеспечения – см. выше 3.2.1)</a:t>
            </a:r>
          </a:p>
          <a:p>
            <a:pPr marL="0" indent="0">
              <a:buNone/>
            </a:pPr>
            <a:r>
              <a:rPr lang="ru-RU" dirty="0"/>
              <a:t>•	Планирование релизов/версий (уровень программного обеспечения)</a:t>
            </a:r>
          </a:p>
          <a:p>
            <a:pPr marL="0" indent="0">
              <a:buNone/>
            </a:pPr>
            <a:r>
              <a:rPr lang="ru-RU" dirty="0"/>
              <a:t>•	</a:t>
            </a:r>
            <a:r>
              <a:rPr lang="ru-RU" u="sng" dirty="0"/>
              <a:t>Планирование обработки конкретных запросов на изменение (уровень запроса)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4B7BE3A-62ED-4851-BC66-871BDE643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71D47A-427A-40F4-984D-633964C6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977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472C3-58DD-4F30-9267-B57B8DB2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07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Планирование обработки конкретных запросов на изменение (уровень запроса)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B8E640-6E74-45C4-8F23-CEBF84F6E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На уровне индивидуального запроса, работы по планированию проводятся вместе с проведением анализа влияния. В свою очередь, планирование релизов/версий требует от персонала сопровождения выполнения задач:</a:t>
            </a:r>
          </a:p>
          <a:p>
            <a:r>
              <a:rPr lang="ru-RU" dirty="0"/>
              <a:t>•	Получения и сбора информации о датах размещения индивидуальных запросов и отчетов</a:t>
            </a:r>
          </a:p>
          <a:p>
            <a:r>
              <a:rPr lang="ru-RU" dirty="0"/>
              <a:t>•	Достижения соглашения с пользователями о содержании (функциональности, поведении и т.п.) последующих релизов/версий программного обеспечения</a:t>
            </a:r>
          </a:p>
          <a:p>
            <a:r>
              <a:rPr lang="ru-RU" dirty="0"/>
              <a:t>•	Идентификации потенциальных конфликтов и возможных альтернатив &lt;реализации необходимых запросов&gt;</a:t>
            </a:r>
          </a:p>
          <a:p>
            <a:r>
              <a:rPr lang="ru-RU" dirty="0"/>
              <a:t>•	Оценки рисков для &lt;функционирования&gt; текущего релиза и разработки плана “отката” на </a:t>
            </a:r>
            <a:r>
              <a:rPr lang="ru-RU" dirty="0" err="1"/>
              <a:t>немодифицированный</a:t>
            </a:r>
            <a:r>
              <a:rPr lang="ru-RU" dirty="0"/>
              <a:t> (текущий, до внесения изменений, касающихся рассматриваемого запроса) вариант системы, в случае возникновения проблем, связанных с модификацией</a:t>
            </a:r>
          </a:p>
          <a:p>
            <a:r>
              <a:rPr lang="ru-RU" dirty="0"/>
              <a:t>•	Информирования всех заинтересованных лиц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FA618B-3FB4-41D2-BE73-6F7FB7A4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E2776D-7930-410A-9885-BBF62A1F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70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EFF901-3DF5-45B0-B8DF-A52890C7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Конфигурационное управление (</a:t>
            </a:r>
            <a:r>
              <a:rPr lang="en-GB" dirty="0"/>
              <a:t>Software configuration management)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503EF-A694-41B4-81D3-476CF2057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Область знаний “Конфигурационное управление” подробно описывает и обсуждает процессы, в соответствии с которыми, размещаются, оцениваются и утверждаются запросы на изменения. В ряде отдельных аспектов и характеристик, конфигурационное управление при сопровождении и разработке несколько отличается, что должно контролироваться уже на операционном уровне. 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936F81D-40BE-44EC-A882-20E98D23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88635D-EFE2-4D14-9A3E-5ADBEC10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9079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0CB0DA-4D90-400D-BA6F-B8BECD14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Качество программного обеспечения (Software </a:t>
            </a:r>
            <a:r>
              <a:rPr lang="ru-RU" dirty="0" err="1"/>
              <a:t>quality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1A408F-3F08-40A4-ADD7-C9747AD5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61889" cy="48348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/>
              <a:t>Недостаточно, всего лишь, надеяться, что в процессе и результате сопровождения, качество программного обеспечения будет повышаться.</a:t>
            </a:r>
          </a:p>
          <a:p>
            <a:pPr marL="0" indent="0">
              <a:buNone/>
            </a:pPr>
            <a:r>
              <a:rPr lang="ru-RU" b="1" dirty="0"/>
              <a:t> </a:t>
            </a:r>
            <a:r>
              <a:rPr lang="ru-RU" dirty="0"/>
              <a:t>Для поддержки процесса сопровождения должны планироваться и реализовываться соответствующие процедуры и процессы, направленные на повышение качества. Работы и техники по обеспечению качества (Software Quality </a:t>
            </a:r>
            <a:r>
              <a:rPr lang="ru-RU" dirty="0" err="1"/>
              <a:t>Assurance</a:t>
            </a:r>
            <a:r>
              <a:rPr lang="ru-RU" dirty="0"/>
              <a:t>, SQA), проверке и аттестации (V&amp;V, </a:t>
            </a:r>
            <a:r>
              <a:rPr lang="ru-RU" dirty="0" err="1"/>
              <a:t>verification</a:t>
            </a:r>
            <a:r>
              <a:rPr lang="ru-RU" dirty="0"/>
              <a:t> </a:t>
            </a:r>
            <a:r>
              <a:rPr lang="ru-RU" dirty="0" err="1"/>
              <a:t>and</a:t>
            </a:r>
            <a:r>
              <a:rPr lang="ru-RU" dirty="0"/>
              <a:t> </a:t>
            </a:r>
            <a:r>
              <a:rPr lang="ru-RU" dirty="0" err="1"/>
              <a:t>validation</a:t>
            </a:r>
            <a:r>
              <a:rPr lang="ru-RU" dirty="0"/>
              <a:t>), обзору, анализу и оценке (</a:t>
            </a:r>
            <a:r>
              <a:rPr lang="ru-RU" dirty="0" err="1"/>
              <a:t>review</a:t>
            </a:r>
            <a:r>
              <a:rPr lang="ru-RU" dirty="0"/>
              <a:t>), а также аудиту, должны отбираться в контексте взаимодействия и согласования со всеми другими процессами, направленными на достижение желаемого уровня качества. SWEBOK, основываясь на </a:t>
            </a:r>
            <a:r>
              <a:rPr lang="ru-RU" b="1" dirty="0"/>
              <a:t>стандарте ISO/IEC 14764 (Standard </a:t>
            </a:r>
            <a:r>
              <a:rPr lang="ru-RU" b="1" dirty="0" err="1"/>
              <a:t>for</a:t>
            </a:r>
            <a:r>
              <a:rPr lang="ru-RU" b="1" dirty="0"/>
              <a:t> Software Engineering - Software </a:t>
            </a:r>
            <a:r>
              <a:rPr lang="ru-RU" b="1" dirty="0" err="1"/>
              <a:t>Maintenance</a:t>
            </a:r>
            <a:r>
              <a:rPr lang="ru-RU" b="1" dirty="0"/>
              <a:t>), рекомендует адаптировать соответствующие процессы, техники и активы, относящиеся к разработке программного обеспечения</a:t>
            </a:r>
            <a:r>
              <a:rPr lang="ru-RU" dirty="0"/>
              <a:t>. К ним, например, относятся документация по тестированию и результаты тестов. Дополнительные подробности можно найти в соответствующей области знаний “Качество программного обеспечения” (Software Quality).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E0562D-FBBA-41E6-835A-352C99BC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130ED2-DACE-4B3D-9B43-C2FB6EF08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652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E32869-EEC9-4804-BDB1-14CEDD80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1353800" cy="681037"/>
          </a:xfrm>
        </p:spPr>
        <p:txBody>
          <a:bodyPr>
            <a:normAutofit/>
          </a:bodyPr>
          <a:lstStyle/>
          <a:p>
            <a:r>
              <a:rPr lang="ru-RU" sz="3600" dirty="0"/>
              <a:t>Техники сопровождения (</a:t>
            </a:r>
            <a:r>
              <a:rPr lang="en-GB" sz="3600" dirty="0"/>
              <a:t>Techniques for Maintenance)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CF3F18-7C55-4F53-9557-397C431CB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1128022" cy="591167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Понимание программных систем (Program </a:t>
            </a:r>
            <a:r>
              <a:rPr lang="ru-RU" dirty="0" err="1"/>
              <a:t>Comprehension</a:t>
            </a:r>
            <a:r>
              <a:rPr lang="ru-RU" dirty="0"/>
              <a:t>)</a:t>
            </a:r>
          </a:p>
          <a:p>
            <a:pPr lvl="1"/>
            <a:r>
              <a:rPr lang="ru-RU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Для реализации изменений программисты </a:t>
            </a:r>
            <a:r>
              <a:rPr lang="ru-RU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тратят значительную часть времени на чтение и формирование понимани</a:t>
            </a:r>
            <a:r>
              <a:rPr lang="ru-RU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я программного продукта. Средства работы с кодом являются ключевым инструментом для решения этой задачи. </a:t>
            </a:r>
            <a:r>
              <a:rPr lang="ru-RU" sz="18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Четкая, однозначная и лаконичная документация обеспечивает адекватное понимание </a:t>
            </a:r>
            <a:r>
              <a:rPr lang="ru-RU" sz="18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программных систем.</a:t>
            </a:r>
            <a:endParaRPr lang="ru-RU" dirty="0"/>
          </a:p>
          <a:p>
            <a:r>
              <a:rPr lang="ru-RU" dirty="0"/>
              <a:t>Реинжиниринг* (</a:t>
            </a:r>
            <a:r>
              <a:rPr lang="en-GB" dirty="0"/>
              <a:t>Reengineering)</a:t>
            </a:r>
            <a:endParaRPr lang="ru-RU" dirty="0"/>
          </a:p>
          <a:p>
            <a:pPr lvl="1"/>
            <a:r>
              <a:rPr lang="ru-RU" dirty="0"/>
              <a:t>Реинжиниринг определяется как детальная оценка (</a:t>
            </a:r>
            <a:r>
              <a:rPr lang="ru-RU" dirty="0" err="1"/>
              <a:t>examination</a:t>
            </a:r>
            <a:r>
              <a:rPr lang="ru-RU" dirty="0"/>
              <a:t>) и перестройка программного обеспечения для формирования понимания, воссоздания (на уровне модели и, в ряде случаев, требований) и дальнейшей реализации его &lt;функций&gt; в новой форме (например, с использованием новых технологий и платформ, при сохранении существующей и расширением и облегчением возможностей добавлений новой функциональности). </a:t>
            </a:r>
          </a:p>
          <a:p>
            <a:r>
              <a:rPr lang="ru-RU" dirty="0"/>
              <a:t>Обратный инжиниринг* (</a:t>
            </a:r>
            <a:r>
              <a:rPr lang="en-GB" dirty="0"/>
              <a:t>Reverse engineering)</a:t>
            </a:r>
            <a:endParaRPr lang="ru-RU" dirty="0"/>
          </a:p>
          <a:p>
            <a:pPr lvl="1"/>
            <a:r>
              <a:rPr lang="ru-RU" dirty="0"/>
              <a:t>“Обратный” инжиниринг - процесс анализа программного обеспечения с целью идентификации программных компонент и связей между ними, а также формирования представления о программном обеспечении, с дальнейшей перестройкой в новой форме (уже, в процессе реинжиниринга). Обратный инжиниринг является пассивным, предполагая отсутствие деятельности по изменению или созданию нового программного обеспечения. Обычно, в результате усилий по обратному инжинирингу создаются </a:t>
            </a:r>
            <a:r>
              <a:rPr lang="ru-RU" dirty="0">
                <a:highlight>
                  <a:srgbClr val="FFFF00"/>
                </a:highlight>
              </a:rPr>
              <a:t>модели вызовов (</a:t>
            </a:r>
            <a:r>
              <a:rPr lang="ru-RU" dirty="0" err="1">
                <a:highlight>
                  <a:srgbClr val="FFFF00"/>
                </a:highlight>
              </a:rPr>
              <a:t>call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graphs</a:t>
            </a:r>
            <a:r>
              <a:rPr lang="ru-RU" dirty="0">
                <a:highlight>
                  <a:srgbClr val="FFFF00"/>
                </a:highlight>
              </a:rPr>
              <a:t>) </a:t>
            </a:r>
            <a:r>
              <a:rPr lang="ru-RU" dirty="0"/>
              <a:t>и </a:t>
            </a:r>
            <a:r>
              <a:rPr lang="ru-RU" dirty="0">
                <a:highlight>
                  <a:srgbClr val="FFFF00"/>
                </a:highlight>
              </a:rPr>
              <a:t>потоков управления (</a:t>
            </a:r>
            <a:r>
              <a:rPr lang="ru-RU" dirty="0" err="1">
                <a:highlight>
                  <a:srgbClr val="FFFF00"/>
                </a:highlight>
              </a:rPr>
              <a:t>control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flow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graphs</a:t>
            </a:r>
            <a:r>
              <a:rPr lang="ru-RU" dirty="0">
                <a:highlight>
                  <a:srgbClr val="FFFF00"/>
                </a:highlight>
              </a:rPr>
              <a:t>) </a:t>
            </a:r>
            <a:r>
              <a:rPr lang="ru-RU" dirty="0"/>
              <a:t>на основе исходного кода системы. Один из типов обратного инжиниринга – </a:t>
            </a:r>
            <a:r>
              <a:rPr lang="ru-RU" dirty="0">
                <a:highlight>
                  <a:srgbClr val="FFFF00"/>
                </a:highlight>
              </a:rPr>
              <a:t>создание новой документации на существующую систему (</a:t>
            </a:r>
            <a:r>
              <a:rPr lang="ru-RU" dirty="0" err="1">
                <a:highlight>
                  <a:srgbClr val="FFFF00"/>
                </a:highlight>
              </a:rPr>
              <a:t>redocumentation</a:t>
            </a:r>
            <a:r>
              <a:rPr lang="ru-RU" dirty="0">
                <a:highlight>
                  <a:srgbClr val="FFFF00"/>
                </a:highlight>
              </a:rPr>
              <a:t>)</a:t>
            </a:r>
            <a:r>
              <a:rPr lang="ru-RU" dirty="0"/>
              <a:t>. Другой из распространенных типов – </a:t>
            </a:r>
            <a:r>
              <a:rPr lang="ru-RU" dirty="0">
                <a:highlight>
                  <a:srgbClr val="FFFF00"/>
                </a:highlight>
              </a:rPr>
              <a:t>восстановление дизайна системы (</a:t>
            </a:r>
            <a:r>
              <a:rPr lang="ru-RU" dirty="0" err="1">
                <a:highlight>
                  <a:srgbClr val="FFFF00"/>
                </a:highlight>
              </a:rPr>
              <a:t>design</a:t>
            </a:r>
            <a:r>
              <a:rPr lang="ru-RU" dirty="0">
                <a:highlight>
                  <a:srgbClr val="FFFF00"/>
                </a:highlight>
              </a:rPr>
              <a:t> </a:t>
            </a:r>
            <a:r>
              <a:rPr lang="ru-RU" dirty="0" err="1">
                <a:highlight>
                  <a:srgbClr val="FFFF00"/>
                </a:highlight>
              </a:rPr>
              <a:t>recovery</a:t>
            </a:r>
            <a:r>
              <a:rPr lang="ru-RU" dirty="0">
                <a:highlight>
                  <a:srgbClr val="FFFF00"/>
                </a:highlight>
              </a:rPr>
              <a:t>)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Рефакторинг – трансформация программного обеспечения, в процессе которой программная система реорганизуется (не переписываясь) с целью улучшения структуры, без изменения поведения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35151E0-55BD-4A81-89A2-7682FA34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C5B4C6-5105-4981-95E3-3F1CDD77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59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3CB39AC-FFD8-AA0A-4EDA-2A528BCC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284" y="490185"/>
            <a:ext cx="3300784" cy="1600200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27B2198E-E11A-2291-54CA-20C29E430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0" y="987425"/>
            <a:ext cx="8382000" cy="4873625"/>
          </a:xfrm>
        </p:spPr>
        <p:txBody>
          <a:bodyPr>
            <a:noAutofit/>
          </a:bodyPr>
          <a:lstStyle/>
          <a:p>
            <a:r>
              <a:rPr lang="ru-RU" sz="1600" dirty="0"/>
              <a:t>Процессы жизненного цикла программных средств. ГОСТ Р ИСОМЭК 12207-2010</a:t>
            </a:r>
          </a:p>
          <a:p>
            <a:r>
              <a:rPr lang="ru-RU" sz="1600" dirty="0"/>
              <a:t>ГОСТ Р ИСО/МЭК 15288 — 2005 Стандарт Информационная технология. Системная инженерия. Процессы жизненного цикла систем</a:t>
            </a:r>
          </a:p>
          <a:p>
            <a:r>
              <a:rPr lang="ru-RU" sz="1600" dirty="0"/>
              <a:t>Открытые публикация по технологиям и практике тестирования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413BD20-0A0D-65D3-8535-FB888B770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41" y="3592160"/>
            <a:ext cx="3973612" cy="2594679"/>
          </a:xfrm>
          <a:prstGeom prst="rect">
            <a:avLst/>
          </a:prstGeom>
        </p:spPr>
      </p:pic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62E7A7-EA3D-F783-7964-85D5A8C7C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Д.В.Кубраков, 2023</a:t>
            </a:r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F7BEC99-DC93-DFFC-D3A9-08F9489AA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5D71E-5CDF-4C93-8A75-5B916FDC5BEA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715031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XOVTI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40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XOVTI" id="{DC540DBD-7FF5-4942-921A-CFF95ECB90AA}" vid="{E72E4198-D957-48FD-B88D-6DAFC89EAFA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3904</TotalTime>
  <Words>3074</Words>
  <Application>Microsoft Office PowerPoint</Application>
  <PresentationFormat>Широкоэкранный</PresentationFormat>
  <Paragraphs>213</Paragraphs>
  <Slides>27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6" baseType="lpstr">
      <vt:lpstr>Arial</vt:lpstr>
      <vt:lpstr>Arial Black</vt:lpstr>
      <vt:lpstr>Arial Narrow</vt:lpstr>
      <vt:lpstr>Calibri</vt:lpstr>
      <vt:lpstr>Courier New</vt:lpstr>
      <vt:lpstr>Impact</vt:lpstr>
      <vt:lpstr>Open sans</vt:lpstr>
      <vt:lpstr>Segoe UI</vt:lpstr>
      <vt:lpstr>MinimalXOVTI</vt:lpstr>
      <vt:lpstr>Программная инженерия</vt:lpstr>
      <vt:lpstr>Тема 6: Сопровождение программного обеспечения</vt:lpstr>
      <vt:lpstr>Место тестирования программного обеспечения в программной инженерии</vt:lpstr>
      <vt:lpstr>Определение сопровождения в программной инженерии</vt:lpstr>
      <vt:lpstr>Объем понятия тестирования в программной инженерии</vt:lpstr>
      <vt:lpstr>Основы сопровождения программного обеспечения (Software Maintenance Fundamentals)</vt:lpstr>
      <vt:lpstr>Природа сопровождения (Nature of Maintenance)</vt:lpstr>
      <vt:lpstr>Потребность в сопровождении (Need for Maintenance)</vt:lpstr>
      <vt:lpstr>Приоритет стоимости сопровождения (Majority of Maintenance Costs)</vt:lpstr>
      <vt:lpstr>Эволюция программного обеспечения (Evolution of Software)</vt:lpstr>
      <vt:lpstr>Категории сопровождения (Categories of Maintenance)</vt:lpstr>
      <vt:lpstr>Ключевые вопросы сопровождения программного обеспечения (Key Issues in Software Maintenance)</vt:lpstr>
      <vt:lpstr>Технические вопросы (Technical Issues)</vt:lpstr>
      <vt:lpstr>Управленческие вопросы (Management Issues)</vt:lpstr>
      <vt:lpstr>Измерения в сопровождении программного обеспечения (Software Maintenance Measurement)</vt:lpstr>
      <vt:lpstr>Процесс сопровождения (Maintenance Process)</vt:lpstr>
      <vt:lpstr>Процессы сопровождения (Maintenance Processes)</vt:lpstr>
      <vt:lpstr>Процессы сопровождения (Maintenance Processes)</vt:lpstr>
      <vt:lpstr>Работы по сопровождению (Maintenance Activities)</vt:lpstr>
      <vt:lpstr>Уникальные работы (Unique activities)</vt:lpstr>
      <vt:lpstr>Дополнительные работы, поддерживающие процесс сопровождения (Support activities)</vt:lpstr>
      <vt:lpstr>Работы по планированию сопровождения (Maintenance planning activity)</vt:lpstr>
      <vt:lpstr>Планирование обработки конкретных запросов на изменение (уровень запроса)</vt:lpstr>
      <vt:lpstr>Конфигурационное управление (Software configuration management)</vt:lpstr>
      <vt:lpstr>Качество программного обеспечения (Software quality)</vt:lpstr>
      <vt:lpstr>Техники сопровождения (Techniques for Maintenance)</vt:lpstr>
      <vt:lpstr>Домашнее задание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проектирования, развертывания и  сопровождения информационных систем</dc:title>
  <dc:creator>4562</dc:creator>
  <cp:lastModifiedBy>KDV</cp:lastModifiedBy>
  <cp:revision>83</cp:revision>
  <dcterms:created xsi:type="dcterms:W3CDTF">2023-02-07T19:37:43Z</dcterms:created>
  <dcterms:modified xsi:type="dcterms:W3CDTF">2025-11-26T09:11:49Z</dcterms:modified>
</cp:coreProperties>
</file>