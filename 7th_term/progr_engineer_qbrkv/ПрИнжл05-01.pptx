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1"/>
  </p:sldMasterIdLst>
  <p:notesMasterIdLst>
    <p:notesMasterId r:id="rId24"/>
  </p:notesMasterIdLst>
  <p:sldIdLst>
    <p:sldId id="256" r:id="rId2"/>
    <p:sldId id="274" r:id="rId3"/>
    <p:sldId id="257" r:id="rId4"/>
    <p:sldId id="272" r:id="rId5"/>
    <p:sldId id="289" r:id="rId6"/>
    <p:sldId id="273" r:id="rId7"/>
    <p:sldId id="275" r:id="rId8"/>
    <p:sldId id="290"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263"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DV" initials="K" lastIdx="1" clrIdx="0">
    <p:extLst>
      <p:ext uri="{19B8F6BF-5375-455C-9EA6-DF929625EA0E}">
        <p15:presenceInfo xmlns:p15="http://schemas.microsoft.com/office/powerpoint/2012/main" userId="KD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166" autoAdjust="0"/>
  </p:normalViewPr>
  <p:slideViewPr>
    <p:cSldViewPr snapToGrid="0">
      <p:cViewPr varScale="1">
        <p:scale>
          <a:sx n="85" d="100"/>
          <a:sy n="8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6020B3-367F-41BF-A5D2-D2C6898A67B3}" type="datetimeFigureOut">
              <a:rPr lang="ru-RU" smtClean="0"/>
              <a:t>25.11.2025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9912B-E66D-4A8E-8CDB-D0164B49BF89}" type="slidenum">
              <a:rPr lang="ru-RU" smtClean="0"/>
              <a:t>‹#›</a:t>
            </a:fld>
            <a:endParaRPr lang="ru-RU"/>
          </a:p>
        </p:txBody>
      </p:sp>
    </p:spTree>
    <p:extLst>
      <p:ext uri="{BB962C8B-B14F-4D97-AF65-F5344CB8AC3E}">
        <p14:creationId xmlns:p14="http://schemas.microsoft.com/office/powerpoint/2010/main" val="6053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	Динамичность (</a:t>
            </a:r>
            <a:r>
              <a:rPr lang="ru-RU" sz="1200" dirty="0" err="1">
                <a:solidFill>
                  <a:srgbClr val="000000"/>
                </a:solidFill>
                <a:effectLst/>
                <a:latin typeface="Times New Roman" panose="02020603050405020304" pitchFamily="18" charset="0"/>
                <a:ea typeface="Times New Roman" panose="02020603050405020304" pitchFamily="18" charset="0"/>
              </a:rPr>
              <a:t>dynamic</a:t>
            </a:r>
            <a:r>
              <a:rPr lang="ru-RU" sz="1200" dirty="0">
                <a:solidFill>
                  <a:srgbClr val="000000"/>
                </a:solidFill>
                <a:effectLst/>
                <a:latin typeface="Times New Roman" panose="02020603050405020304" pitchFamily="18" charset="0"/>
                <a:ea typeface="Times New Roman" panose="02020603050405020304" pitchFamily="18" charset="0"/>
              </a:rPr>
              <a:t>): этот термин подразумевает тестирование всегда предполагает выполнение тестируемой программы с заданными входными данными. При этом, величины, задаваемые на вход тестируемому программному обеспечению, не всегда достаточны для определения теста. Сложность и недетерминированность систем приводит к тому, что система может по разному реагировать на одни и те же входные параметры, в зависимости от состояния системы. В данной области знаний термин “вход” (</a:t>
            </a:r>
            <a:r>
              <a:rPr lang="ru-RU" sz="1200" dirty="0" err="1">
                <a:solidFill>
                  <a:srgbClr val="000000"/>
                </a:solidFill>
                <a:effectLst/>
                <a:latin typeface="Times New Roman" panose="02020603050405020304" pitchFamily="18" charset="0"/>
                <a:ea typeface="Times New Roman" panose="02020603050405020304" pitchFamily="18" charset="0"/>
              </a:rPr>
              <a:t>input</a:t>
            </a:r>
            <a:r>
              <a:rPr lang="ru-RU" sz="1200" dirty="0">
                <a:solidFill>
                  <a:srgbClr val="000000"/>
                </a:solidFill>
                <a:effectLst/>
                <a:latin typeface="Times New Roman" panose="02020603050405020304" pitchFamily="18" charset="0"/>
                <a:ea typeface="Times New Roman" panose="02020603050405020304" pitchFamily="18" charset="0"/>
              </a:rPr>
              <a:t>) будет использоваться в рамках соглашения о том, что вход может также специфицировать состояние системы, в тех случаях, когда это необходимо. Кроме динамических техник проверки качества, то есть тестирования, существуют также и статические техники, рассматриваемые в области знаний “Software Quality”.</a:t>
            </a:r>
          </a:p>
          <a:p>
            <a:pPr indent="450215"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	Конечность (ограниченность, </a:t>
            </a:r>
            <a:r>
              <a:rPr lang="ru-RU" sz="1200" dirty="0" err="1">
                <a:solidFill>
                  <a:srgbClr val="000000"/>
                </a:solidFill>
                <a:effectLst/>
                <a:latin typeface="Times New Roman" panose="02020603050405020304" pitchFamily="18" charset="0"/>
                <a:ea typeface="Times New Roman" panose="02020603050405020304" pitchFamily="18" charset="0"/>
              </a:rPr>
              <a:t>finite</a:t>
            </a:r>
            <a:r>
              <a:rPr lang="ru-RU" sz="1200" dirty="0">
                <a:solidFill>
                  <a:srgbClr val="000000"/>
                </a:solidFill>
                <a:effectLst/>
                <a:latin typeface="Times New Roman" panose="02020603050405020304" pitchFamily="18" charset="0"/>
                <a:ea typeface="Times New Roman" panose="02020603050405020304" pitchFamily="18" charset="0"/>
              </a:rPr>
              <a:t>): даже для простых программ теоретически возможно столь большое количество тестовых сценариев, что исчерпывающее тестирование может занять многие месяцы и даже годы. Именно поэтому, с практической точки зрения, всестороннее тестирование считается бесконечным. Тестирование всегда предполагает компромисс между ограниченными ресурсами и заданными сроками, с одной стороны, и практически неограниченными требованиями по тестированию, с другой. То есть мы снова говорим об определении характеристик “приемлемого” качества, на основе которых планируем необходимы объем тестирования.</a:t>
            </a:r>
          </a:p>
          <a:p>
            <a:pPr indent="450215"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	Выбор (</a:t>
            </a:r>
            <a:r>
              <a:rPr lang="ru-RU" sz="1200" dirty="0" err="1">
                <a:solidFill>
                  <a:srgbClr val="000000"/>
                </a:solidFill>
                <a:effectLst/>
                <a:latin typeface="Times New Roman" panose="02020603050405020304" pitchFamily="18" charset="0"/>
                <a:ea typeface="Times New Roman" panose="02020603050405020304" pitchFamily="18" charset="0"/>
              </a:rPr>
              <a:t>selection</a:t>
            </a:r>
            <a:r>
              <a:rPr lang="ru-RU" sz="1200" dirty="0">
                <a:solidFill>
                  <a:srgbClr val="000000"/>
                </a:solidFill>
                <a:effectLst/>
                <a:latin typeface="Times New Roman" panose="02020603050405020304" pitchFamily="18" charset="0"/>
                <a:ea typeface="Times New Roman" panose="02020603050405020304" pitchFamily="18" charset="0"/>
              </a:rPr>
              <a:t>): многие предлагаемые техники тестирования отличаются друг от друга в том, как выбираются сценарии тестирования. Инженеры по программному обеспечению должны обладать представлением о том, что различные критерии выбора тестов могут давать разные результаты, с точки зрения эффективности тестирования. Определение подходящего набора тестов для заданных условий является очень сложной проблемой. Обычно, для выбора соответствующих тестов совместно применяют техники анализа рисков, анализ требований и соответствующую экспертизу в области тестирования и заданной прикладной области.</a:t>
            </a:r>
          </a:p>
          <a:p>
            <a:pPr indent="450215"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	Ожидаемое поведение (</a:t>
            </a:r>
            <a:r>
              <a:rPr lang="ru-RU" sz="1200" dirty="0" err="1">
                <a:solidFill>
                  <a:srgbClr val="000000"/>
                </a:solidFill>
                <a:effectLst/>
                <a:latin typeface="Times New Roman" panose="02020603050405020304" pitchFamily="18" charset="0"/>
                <a:ea typeface="Times New Roman" panose="02020603050405020304" pitchFamily="18" charset="0"/>
              </a:rPr>
              <a:t>expected</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behavior</a:t>
            </a:r>
            <a:r>
              <a:rPr lang="ru-RU" sz="1200" dirty="0">
                <a:solidFill>
                  <a:srgbClr val="000000"/>
                </a:solidFill>
                <a:effectLst/>
                <a:latin typeface="Times New Roman" panose="02020603050405020304" pitchFamily="18" charset="0"/>
                <a:ea typeface="Times New Roman" panose="02020603050405020304" pitchFamily="18" charset="0"/>
              </a:rPr>
              <a:t>): Хотя это не всегда легко, все же необходимо решить, какое наблюдаемое поведение программы будет приемлемо, а какое – нет. В противном случае, усилия по тестированию – бесполезны. Наблюдаемое поведение может рассматриваться в контексте пользовательских ожиданий (подразумевая “тестирования для проверки” - </a:t>
            </a:r>
            <a:r>
              <a:rPr lang="ru-RU" sz="1200" dirty="0" err="1">
                <a:solidFill>
                  <a:srgbClr val="000000"/>
                </a:solidFill>
                <a:effectLst/>
                <a:latin typeface="Times New Roman" panose="02020603050405020304" pitchFamily="18" charset="0"/>
                <a:ea typeface="Times New Roman" panose="02020603050405020304" pitchFamily="18" charset="0"/>
              </a:rPr>
              <a:t>testing</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for</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validation</a:t>
            </a:r>
            <a:r>
              <a:rPr lang="ru-RU" sz="1200" dirty="0">
                <a:solidFill>
                  <a:srgbClr val="000000"/>
                </a:solidFill>
                <a:effectLst/>
                <a:latin typeface="Times New Roman" panose="02020603050405020304" pitchFamily="18" charset="0"/>
                <a:ea typeface="Times New Roman" panose="02020603050405020304" pitchFamily="18" charset="0"/>
              </a:rPr>
              <a:t>), спецификации (“тестирование для аттестации” - </a:t>
            </a:r>
            <a:r>
              <a:rPr lang="ru-RU" sz="1200" dirty="0" err="1">
                <a:solidFill>
                  <a:srgbClr val="000000"/>
                </a:solidFill>
                <a:effectLst/>
                <a:latin typeface="Times New Roman" panose="02020603050405020304" pitchFamily="18" charset="0"/>
                <a:ea typeface="Times New Roman" panose="02020603050405020304" pitchFamily="18" charset="0"/>
              </a:rPr>
              <a:t>testing</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for</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verification</a:t>
            </a:r>
            <a:r>
              <a:rPr lang="ru-RU" sz="1200" dirty="0">
                <a:solidFill>
                  <a:srgbClr val="000000"/>
                </a:solidFill>
                <a:effectLst/>
                <a:latin typeface="Times New Roman" panose="02020603050405020304" pitchFamily="18" charset="0"/>
                <a:ea typeface="Times New Roman" panose="02020603050405020304" pitchFamily="18" charset="0"/>
              </a:rPr>
              <a:t>) или, наконец, в контексте предсказанного поведения на основе неявных требований или обоснованных ожиданий. См. тему SWEBOK 6.4 “Приемочные тесты” области знаний “Software </a:t>
            </a:r>
            <a:r>
              <a:rPr lang="ru-RU" sz="1200" dirty="0" err="1">
                <a:solidFill>
                  <a:srgbClr val="000000"/>
                </a:solidFill>
                <a:effectLst/>
                <a:latin typeface="Times New Roman" panose="02020603050405020304" pitchFamily="18" charset="0"/>
                <a:ea typeface="Times New Roman" panose="02020603050405020304" pitchFamily="18" charset="0"/>
              </a:rPr>
              <a:t>Requirements</a:t>
            </a:r>
            <a:r>
              <a:rPr lang="ru-RU" sz="1200" dirty="0">
                <a:solidFill>
                  <a:srgbClr val="000000"/>
                </a:solidFill>
                <a:effectLst/>
                <a:latin typeface="Times New Roman" panose="02020603050405020304" pitchFamily="18" charset="0"/>
                <a:ea typeface="Times New Roman" panose="02020603050405020304" pitchFamily="18" charset="0"/>
              </a:rPr>
              <a:t>”.</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5</a:t>
            </a:fld>
            <a:endParaRPr lang="ru-RU"/>
          </a:p>
        </p:txBody>
      </p:sp>
    </p:spTree>
    <p:extLst>
      <p:ext uri="{BB962C8B-B14F-4D97-AF65-F5344CB8AC3E}">
        <p14:creationId xmlns:p14="http://schemas.microsoft.com/office/powerpoint/2010/main" val="4207834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Основной причиной того, почему люди используют компьютеры в бизнес-целях, являются ограниченные возможности людей в обработке и хранении сложных структур и больших объемов информации, в частности, на протяжении длительного периода времени. Это соображение является одной из основных движущих сил в конструировании программного обеспечения: минимизация сложности. Потребность в уменьшении сложности влияет на все аспекты конструирования и особенно критична для процессов верификации (проверки) и тестирования результатов конструирования, т.е. самих программных систем.</a:t>
            </a:r>
          </a:p>
        </p:txBody>
      </p:sp>
      <p:sp>
        <p:nvSpPr>
          <p:cNvPr id="4" name="Номер слайда 3"/>
          <p:cNvSpPr>
            <a:spLocks noGrp="1"/>
          </p:cNvSpPr>
          <p:nvPr>
            <p:ph type="sldNum" sz="quarter" idx="5"/>
          </p:nvPr>
        </p:nvSpPr>
        <p:spPr/>
        <p:txBody>
          <a:bodyPr/>
          <a:lstStyle/>
          <a:p>
            <a:fld id="{DF59912B-E66D-4A8E-8CDB-D0164B49BF89}" type="slidenum">
              <a:rPr lang="ru-RU" smtClean="0"/>
              <a:t>7</a:t>
            </a:fld>
            <a:endParaRPr lang="ru-RU"/>
          </a:p>
        </p:txBody>
      </p:sp>
    </p:spTree>
    <p:extLst>
      <p:ext uri="{BB962C8B-B14F-4D97-AF65-F5344CB8AC3E}">
        <p14:creationId xmlns:p14="http://schemas.microsoft.com/office/powerpoint/2010/main" val="4073449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600" dirty="0"/>
              <a:t>Критерии отбора тестов/критерии адекватности тестов, правила прекращения тестирования (Test </a:t>
            </a:r>
            <a:r>
              <a:rPr lang="ru-RU" sz="1600" dirty="0" err="1"/>
              <a:t>selection</a:t>
            </a:r>
            <a:r>
              <a:rPr lang="ru-RU" sz="1600" dirty="0"/>
              <a:t> </a:t>
            </a:r>
            <a:r>
              <a:rPr lang="ru-RU" sz="1600" dirty="0" err="1"/>
              <a:t>criteria</a:t>
            </a:r>
            <a:r>
              <a:rPr lang="ru-RU" sz="1600" dirty="0"/>
              <a:t>/</a:t>
            </a:r>
            <a:r>
              <a:rPr lang="ru-RU" sz="1600" dirty="0" err="1"/>
              <a:t>test</a:t>
            </a:r>
            <a:r>
              <a:rPr lang="ru-RU" sz="1600" dirty="0"/>
              <a:t> </a:t>
            </a:r>
            <a:r>
              <a:rPr lang="ru-RU" sz="1600" dirty="0" err="1"/>
              <a:t>adequacy</a:t>
            </a:r>
            <a:r>
              <a:rPr lang="ru-RU" sz="1600" dirty="0"/>
              <a:t> </a:t>
            </a:r>
            <a:r>
              <a:rPr lang="ru-RU" sz="1600" dirty="0" err="1"/>
              <a:t>criteria</a:t>
            </a:r>
            <a:r>
              <a:rPr lang="ru-RU" sz="1600" dirty="0"/>
              <a:t>, </a:t>
            </a:r>
            <a:r>
              <a:rPr lang="ru-RU" sz="1600" dirty="0" err="1"/>
              <a:t>or</a:t>
            </a:r>
            <a:r>
              <a:rPr lang="ru-RU" sz="1600" dirty="0"/>
              <a:t> </a:t>
            </a:r>
            <a:r>
              <a:rPr lang="ru-RU" sz="1600" dirty="0" err="1"/>
              <a:t>stopping</a:t>
            </a:r>
            <a:r>
              <a:rPr lang="ru-RU" sz="1600" dirty="0"/>
              <a:t> </a:t>
            </a:r>
            <a:r>
              <a:rPr lang="ru-RU" sz="1600" dirty="0" err="1"/>
              <a:t>rules</a:t>
            </a:r>
            <a:r>
              <a:rPr lang="ru-RU" sz="1600" dirty="0"/>
              <a:t>)</a:t>
            </a:r>
          </a:p>
          <a:p>
            <a:pPr lvl="1"/>
            <a:r>
              <a:rPr lang="ru-RU" sz="1600" dirty="0"/>
              <a:t>Критерии отбора тестов могут использоваться как для создания набора тестов, так и для проверки, насколько выбранные тесты адекватны решаемым задачам (тестирования). При этом, обсуждаемые критерии помогают определить, когда можно или необходимо прекратить тестирование.</a:t>
            </a:r>
          </a:p>
          <a:p>
            <a:r>
              <a:rPr lang="ru-RU" sz="1600" dirty="0"/>
              <a:t>Эффективность тестирования/Цели тестирования (Test </a:t>
            </a:r>
            <a:r>
              <a:rPr lang="ru-RU" sz="1600" dirty="0" err="1"/>
              <a:t>effectiveness</a:t>
            </a:r>
            <a:r>
              <a:rPr lang="ru-RU" sz="1600" dirty="0"/>
              <a:t>/</a:t>
            </a:r>
            <a:r>
              <a:rPr lang="ru-RU" sz="1600" dirty="0" err="1"/>
              <a:t>Objectives</a:t>
            </a:r>
            <a:r>
              <a:rPr lang="ru-RU" sz="1600" dirty="0"/>
              <a:t> </a:t>
            </a:r>
            <a:r>
              <a:rPr lang="ru-RU" sz="1600" dirty="0" err="1"/>
              <a:t>for</a:t>
            </a:r>
            <a:r>
              <a:rPr lang="ru-RU" sz="1600" dirty="0"/>
              <a:t> </a:t>
            </a:r>
            <a:r>
              <a:rPr lang="ru-RU" sz="1600" dirty="0" err="1"/>
              <a:t>testing</a:t>
            </a:r>
            <a:r>
              <a:rPr lang="ru-RU" sz="1600" dirty="0"/>
              <a:t>)</a:t>
            </a:r>
          </a:p>
          <a:p>
            <a:pPr lvl="1"/>
            <a:r>
              <a:rPr lang="ru-RU" sz="1600" dirty="0"/>
              <a:t>Тестирование – это наблюдение за выполнением программы, запущенной в целях тестирования с заданными параметрами, по заданному сценарию или с другими заданными начальными условиями или целями тестирования. Эффективность теста может быть определена только в контексте заданных условий.</a:t>
            </a:r>
          </a:p>
          <a:p>
            <a:r>
              <a:rPr lang="ru-RU" sz="1600" dirty="0"/>
              <a:t>Тестирование для идентификации дефектов (</a:t>
            </a:r>
            <a:r>
              <a:rPr lang="ru-RU" sz="1600" dirty="0" err="1"/>
              <a:t>Testing</a:t>
            </a:r>
            <a:r>
              <a:rPr lang="ru-RU" sz="1600" dirty="0"/>
              <a:t> </a:t>
            </a:r>
            <a:r>
              <a:rPr lang="ru-RU" sz="1600" dirty="0" err="1"/>
              <a:t>for</a:t>
            </a:r>
            <a:r>
              <a:rPr lang="ru-RU" sz="1600" dirty="0"/>
              <a:t> </a:t>
            </a:r>
            <a:r>
              <a:rPr lang="ru-RU" sz="1600" dirty="0" err="1"/>
              <a:t>defect</a:t>
            </a:r>
            <a:r>
              <a:rPr lang="ru-RU" sz="1600" dirty="0"/>
              <a:t> </a:t>
            </a:r>
            <a:r>
              <a:rPr lang="ru-RU" sz="1600" dirty="0" err="1"/>
              <a:t>identification</a:t>
            </a:r>
            <a:r>
              <a:rPr lang="ru-RU" sz="1600" dirty="0"/>
              <a:t>)</a:t>
            </a:r>
          </a:p>
          <a:p>
            <a:pPr lvl="1"/>
            <a:r>
              <a:rPr lang="ru-RU" sz="1600" dirty="0"/>
              <a:t>Данный случай тестирования подразумевает успешность процедуры тестирования, если дефект найден. Это отличается от подхода в тестировании, когда тесты запускаются для демонстрации того, что программное обеспечение удовлетворяет предъявляемым требованиями и, соответственно, тест считается успешным, если не найдено дефектов.</a:t>
            </a:r>
          </a:p>
          <a:p>
            <a:r>
              <a:rPr lang="ru-RU" sz="1600" dirty="0"/>
              <a:t>Проблема оракула (The </a:t>
            </a:r>
            <a:r>
              <a:rPr lang="ru-RU" sz="1600" dirty="0" err="1"/>
              <a:t>oracle</a:t>
            </a:r>
            <a:r>
              <a:rPr lang="ru-RU" sz="1600" dirty="0"/>
              <a:t> </a:t>
            </a:r>
            <a:r>
              <a:rPr lang="ru-RU" sz="1600" dirty="0" err="1"/>
              <a:t>problem</a:t>
            </a:r>
            <a:r>
              <a:rPr lang="ru-RU" sz="1600" dirty="0"/>
              <a:t>)</a:t>
            </a:r>
          </a:p>
          <a:p>
            <a:pPr lvl="1"/>
            <a:r>
              <a:rPr lang="ru-RU" sz="1600" dirty="0"/>
              <a:t>“Оракул”, в данном контексте, любой агент (человек или программа), оценивающий поведение программы, формулируя вердикт - тест пройден (“</a:t>
            </a:r>
            <a:r>
              <a:rPr lang="ru-RU" sz="1600" dirty="0" err="1"/>
              <a:t>pass</a:t>
            </a:r>
            <a:r>
              <a:rPr lang="ru-RU" sz="1600" dirty="0"/>
              <a:t>”) или нет (“</a:t>
            </a:r>
            <a:r>
              <a:rPr lang="ru-RU" sz="1600" dirty="0" err="1"/>
              <a:t>fail</a:t>
            </a:r>
            <a:r>
              <a:rPr lang="ru-RU" sz="1600" dirty="0"/>
              <a:t>”).</a:t>
            </a:r>
          </a:p>
          <a:p>
            <a:r>
              <a:rPr lang="ru-RU" sz="1600" dirty="0"/>
              <a:t>Теоретические и практические ограничения тестирования (</a:t>
            </a:r>
            <a:r>
              <a:rPr lang="ru-RU" sz="1600" dirty="0" err="1"/>
              <a:t>Theoretical</a:t>
            </a:r>
            <a:r>
              <a:rPr lang="ru-RU" sz="1600" dirty="0"/>
              <a:t> </a:t>
            </a:r>
            <a:r>
              <a:rPr lang="ru-RU" sz="1600" dirty="0" err="1"/>
              <a:t>and</a:t>
            </a:r>
            <a:r>
              <a:rPr lang="ru-RU" sz="1600" dirty="0"/>
              <a:t> </a:t>
            </a:r>
            <a:r>
              <a:rPr lang="ru-RU" sz="1600" dirty="0" err="1"/>
              <a:t>practical</a:t>
            </a:r>
            <a:r>
              <a:rPr lang="ru-RU" sz="1600" dirty="0"/>
              <a:t> </a:t>
            </a:r>
            <a:r>
              <a:rPr lang="ru-RU" sz="1600" dirty="0" err="1"/>
              <a:t>limitation</a:t>
            </a:r>
            <a:r>
              <a:rPr lang="ru-RU" sz="1600" dirty="0"/>
              <a:t> </a:t>
            </a:r>
            <a:r>
              <a:rPr lang="ru-RU" sz="1600" dirty="0" err="1"/>
              <a:t>of</a:t>
            </a:r>
            <a:r>
              <a:rPr lang="ru-RU" sz="1600" dirty="0"/>
              <a:t> </a:t>
            </a:r>
            <a:r>
              <a:rPr lang="ru-RU" sz="1600" dirty="0" err="1"/>
              <a:t>testing</a:t>
            </a:r>
            <a:r>
              <a:rPr lang="ru-RU" sz="1600" dirty="0"/>
              <a:t>)</a:t>
            </a:r>
          </a:p>
          <a:p>
            <a:pPr lvl="1"/>
            <a:r>
              <a:rPr lang="ru-RU" sz="1600" dirty="0"/>
              <a:t>Теория тестирования выступает против необоснованного уровня доверия к серии успешно пройденных тестов. К сожалению, большинство установленных результатов теории тестирования – негативны, означая, по словам </a:t>
            </a:r>
            <a:r>
              <a:rPr lang="ru-RU" sz="1600" dirty="0" err="1"/>
              <a:t>Дейкстры</a:t>
            </a:r>
            <a:r>
              <a:rPr lang="ru-RU" sz="1600" dirty="0"/>
              <a:t> (</a:t>
            </a:r>
            <a:r>
              <a:rPr lang="ru-RU" sz="1600" dirty="0" err="1"/>
              <a:t>Dijkstra</a:t>
            </a:r>
            <a:r>
              <a:rPr lang="ru-RU" sz="1600" dirty="0"/>
              <a:t>), то, что “тестирование программы может использоваться для демонстрации наличия дефектов, но никогда не покажет их отсутствие”. Основная причина этого в том, что полное (всеобъемлющее) тестирование недостижимо для реального программного обеспечения.</a:t>
            </a:r>
          </a:p>
          <a:p>
            <a:r>
              <a:rPr lang="ru-RU" sz="1600" dirty="0"/>
              <a:t>Проблема неосуществимых путей (The </a:t>
            </a:r>
            <a:r>
              <a:rPr lang="ru-RU" sz="1600" dirty="0" err="1"/>
              <a:t>problem</a:t>
            </a:r>
            <a:r>
              <a:rPr lang="ru-RU" sz="1600" dirty="0"/>
              <a:t> </a:t>
            </a:r>
            <a:r>
              <a:rPr lang="ru-RU" sz="1600" dirty="0" err="1"/>
              <a:t>of</a:t>
            </a:r>
            <a:r>
              <a:rPr lang="ru-RU" sz="1600" dirty="0"/>
              <a:t> </a:t>
            </a:r>
            <a:r>
              <a:rPr lang="ru-RU" sz="1600" dirty="0" err="1"/>
              <a:t>infeasible</a:t>
            </a:r>
            <a:r>
              <a:rPr lang="ru-RU" sz="1600" dirty="0"/>
              <a:t> </a:t>
            </a:r>
            <a:r>
              <a:rPr lang="ru-RU" sz="1600" dirty="0" err="1"/>
              <a:t>paths</a:t>
            </a:r>
            <a:r>
              <a:rPr lang="ru-RU" sz="1600" dirty="0"/>
              <a:t>)</a:t>
            </a:r>
          </a:p>
          <a:p>
            <a:pPr lvl="1"/>
            <a:r>
              <a:rPr lang="ru-RU" sz="1600" dirty="0"/>
              <a:t>Эта сложнейшая проблема автоматизированного тестирования связана с тем, что путь, по которому выполняются потоки работ тестируемой программной системы, не могут быть заданы входными параметрами.</a:t>
            </a:r>
          </a:p>
          <a:p>
            <a:r>
              <a:rPr lang="ru-RU" sz="1600" dirty="0"/>
              <a:t>Тестируемость (</a:t>
            </a:r>
            <a:r>
              <a:rPr lang="ru-RU" sz="1600" dirty="0" err="1"/>
              <a:t>Testability</a:t>
            </a:r>
            <a:r>
              <a:rPr lang="ru-RU" sz="1600" dirty="0"/>
              <a:t>)</a:t>
            </a:r>
          </a:p>
          <a:p>
            <a:pPr lvl="1"/>
            <a:r>
              <a:rPr lang="ru-RU" sz="1600" dirty="0"/>
              <a:t>Это понятие может подразумевать две различных идеи. </a:t>
            </a:r>
          </a:p>
          <a:p>
            <a:pPr lvl="1"/>
            <a:r>
              <a:rPr lang="ru-RU" sz="1600" dirty="0"/>
              <a:t>Первая описывает степень легкости описания критериев покрытия тестами для заданной программной системы. </a:t>
            </a:r>
          </a:p>
          <a:p>
            <a:pPr lvl="1"/>
            <a:r>
              <a:rPr lang="ru-RU" sz="1600" dirty="0"/>
              <a:t>Вторая определяет возможность вероятность, возможность  статистического измерения того, что при тестировании проявится сбой программной системы. Обе интерпретации этого понятия одинаково важны для тестирования.</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9</a:t>
            </a:fld>
            <a:endParaRPr lang="ru-RU"/>
          </a:p>
        </p:txBody>
      </p:sp>
    </p:spTree>
    <p:extLst>
      <p:ext uri="{BB962C8B-B14F-4D97-AF65-F5344CB8AC3E}">
        <p14:creationId xmlns:p14="http://schemas.microsoft.com/office/powerpoint/2010/main" val="3022308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5.2.2.1 Приёмочное тестирование (</a:t>
            </a:r>
            <a:r>
              <a:rPr lang="ru-RU" dirty="0" err="1"/>
              <a:t>Acceptance</a:t>
            </a:r>
            <a:r>
              <a:rPr lang="ru-RU" dirty="0"/>
              <a:t>/</a:t>
            </a:r>
            <a:r>
              <a:rPr lang="ru-RU" dirty="0" err="1"/>
              <a:t>qualification</a:t>
            </a:r>
            <a:r>
              <a:rPr lang="ru-RU" dirty="0"/>
              <a:t> </a:t>
            </a:r>
            <a:r>
              <a:rPr lang="ru-RU" dirty="0" err="1"/>
              <a:t>testing</a:t>
            </a:r>
            <a:r>
              <a:rPr lang="ru-RU" dirty="0"/>
              <a:t>)</a:t>
            </a:r>
          </a:p>
          <a:p>
            <a:r>
              <a:rPr lang="ru-RU" dirty="0"/>
              <a:t>Проверяет поведение системы на предмет удовлетворения требований заказчика. Это возможно в том случае, если заказчик берет на себя ответственность, связанную с проведением таких работ, как сторона “принимающая” программную систему, или специфицированы типовые задачи, успешная проверка (тестирование) которых позволяет говорить об удовлетворении требований заказчика.</a:t>
            </a:r>
          </a:p>
          <a:p>
            <a:r>
              <a:rPr lang="ru-RU" dirty="0"/>
              <a:t>Такие тесты могу проводиться как с привлечением разработчиков системы, так и без них.</a:t>
            </a:r>
          </a:p>
          <a:p>
            <a:r>
              <a:rPr lang="ru-RU" dirty="0"/>
              <a:t>5.2.2.2 Установочное тестирование (</a:t>
            </a:r>
            <a:r>
              <a:rPr lang="ru-RU" dirty="0" err="1"/>
              <a:t>Installation</a:t>
            </a:r>
            <a:r>
              <a:rPr lang="ru-RU" dirty="0"/>
              <a:t> </a:t>
            </a:r>
            <a:r>
              <a:rPr lang="ru-RU" dirty="0" err="1"/>
              <a:t>testing</a:t>
            </a:r>
            <a:r>
              <a:rPr lang="ru-RU" dirty="0"/>
              <a:t>)</a:t>
            </a:r>
          </a:p>
          <a:p>
            <a:r>
              <a:rPr lang="ru-RU" dirty="0"/>
              <a:t>Из названия следует, что данные тесты проводятся с целью проверки процедуры инсталляции системы в целевом окружении.</a:t>
            </a:r>
          </a:p>
          <a:p>
            <a:r>
              <a:rPr lang="ru-RU" dirty="0"/>
              <a:t>5.2.2.3 Альфа- и бета-тестирование (Alpha </a:t>
            </a:r>
            <a:r>
              <a:rPr lang="ru-RU" dirty="0" err="1"/>
              <a:t>and</a:t>
            </a:r>
            <a:r>
              <a:rPr lang="ru-RU" dirty="0"/>
              <a:t> </a:t>
            </a:r>
            <a:r>
              <a:rPr lang="ru-RU" dirty="0" err="1"/>
              <a:t>beta</a:t>
            </a:r>
            <a:r>
              <a:rPr lang="ru-RU" dirty="0"/>
              <a:t> </a:t>
            </a:r>
            <a:r>
              <a:rPr lang="ru-RU" dirty="0" err="1"/>
              <a:t>testing</a:t>
            </a:r>
            <a:r>
              <a:rPr lang="ru-RU" dirty="0"/>
              <a:t>)</a:t>
            </a:r>
          </a:p>
          <a:p>
            <a:r>
              <a:rPr lang="ru-RU" dirty="0"/>
              <a:t>Перед тем, как выпускается программное обеспечение, как минимум, оно должно проходить стадии альфа (внутреннее пробное использование) и бета (пробное использование с привлечением отобранных внешних пользователей) версий. Отчеты об ошибках, поступающие от пользователей этих версий продукта, обрабатываются в соответствии с определенными процедурами, включающими подтверждающие тесты (любого уровня), проводимые специалистами группы разработки.</a:t>
            </a:r>
          </a:p>
          <a:p>
            <a:r>
              <a:rPr lang="ru-RU" dirty="0"/>
              <a:t>Данный вид тестирования не может быть заранее спланирован.</a:t>
            </a:r>
          </a:p>
          <a:p>
            <a:r>
              <a:rPr lang="ru-RU" dirty="0"/>
              <a:t>5.2.2.4 Функциональные тесты/тесты соответствия (</a:t>
            </a:r>
            <a:r>
              <a:rPr lang="ru-RU" dirty="0" err="1"/>
              <a:t>Conformance</a:t>
            </a:r>
            <a:r>
              <a:rPr lang="ru-RU" dirty="0"/>
              <a:t> </a:t>
            </a:r>
            <a:r>
              <a:rPr lang="ru-RU" dirty="0" err="1"/>
              <a:t>testing</a:t>
            </a:r>
            <a:r>
              <a:rPr lang="ru-RU" dirty="0"/>
              <a:t>/</a:t>
            </a:r>
            <a:r>
              <a:rPr lang="ru-RU" dirty="0" err="1"/>
              <a:t>Functional</a:t>
            </a:r>
            <a:r>
              <a:rPr lang="ru-RU" dirty="0"/>
              <a:t> </a:t>
            </a:r>
            <a:r>
              <a:rPr lang="ru-RU" dirty="0" err="1"/>
              <a:t>testing</a:t>
            </a:r>
            <a:r>
              <a:rPr lang="ru-RU" dirty="0"/>
              <a:t>/</a:t>
            </a:r>
            <a:r>
              <a:rPr lang="ru-RU" dirty="0" err="1"/>
              <a:t>Correctness</a:t>
            </a:r>
            <a:r>
              <a:rPr lang="ru-RU" dirty="0"/>
              <a:t> </a:t>
            </a:r>
            <a:r>
              <a:rPr lang="ru-RU" dirty="0" err="1"/>
              <a:t>testing</a:t>
            </a:r>
            <a:r>
              <a:rPr lang="ru-RU" dirty="0"/>
              <a:t>)</a:t>
            </a:r>
          </a:p>
          <a:p>
            <a:r>
              <a:rPr lang="ru-RU" dirty="0"/>
              <a:t>Эти тесты могут называться по-разному, однако, их суть проста – проверка соответствия системы, предъявляемым к ней требованиям, описанным на уровне спецификации поведенческих характеристик.</a:t>
            </a:r>
          </a:p>
          <a:p>
            <a:r>
              <a:rPr lang="ru-RU" dirty="0"/>
              <a:t>5.2.2.5 Достижение и оценка надежности (</a:t>
            </a:r>
            <a:r>
              <a:rPr lang="ru-RU" dirty="0" err="1"/>
              <a:t>Reliability</a:t>
            </a:r>
            <a:r>
              <a:rPr lang="ru-RU" dirty="0"/>
              <a:t> </a:t>
            </a:r>
            <a:r>
              <a:rPr lang="ru-RU" dirty="0" err="1"/>
              <a:t>achievement</a:t>
            </a:r>
            <a:r>
              <a:rPr lang="ru-RU" dirty="0"/>
              <a:t> </a:t>
            </a:r>
            <a:r>
              <a:rPr lang="ru-RU" dirty="0" err="1"/>
              <a:t>and</a:t>
            </a:r>
            <a:r>
              <a:rPr lang="ru-RU" dirty="0"/>
              <a:t> </a:t>
            </a:r>
            <a:r>
              <a:rPr lang="ru-RU" dirty="0" err="1"/>
              <a:t>evaluation</a:t>
            </a:r>
            <a:r>
              <a:rPr lang="ru-RU" dirty="0"/>
              <a:t>)</a:t>
            </a:r>
          </a:p>
          <a:p>
            <a:r>
              <a:rPr lang="ru-RU" dirty="0"/>
              <a:t>Помогая идентифицировать причины сбоев, тестирование подразумевает и повышение надежности программных систем. Случайно генерируемые сценарии тестирования могут применяться для статистической оценки надежности. Обе цели – повышение и оценка надежности – могут достигаться при использовании моделей повышения надежности. Эти вопросы затрагиваются и в тематическом фрагменте 4.1.4 “Life </a:t>
            </a:r>
            <a:r>
              <a:rPr lang="ru-RU" dirty="0" err="1"/>
              <a:t>test</a:t>
            </a:r>
            <a:r>
              <a:rPr lang="ru-RU" dirty="0"/>
              <a:t>, </a:t>
            </a:r>
            <a:r>
              <a:rPr lang="ru-RU" dirty="0" err="1"/>
              <a:t>reliability</a:t>
            </a:r>
            <a:r>
              <a:rPr lang="ru-RU" dirty="0"/>
              <a:t> </a:t>
            </a:r>
            <a:r>
              <a:rPr lang="ru-RU" dirty="0" err="1"/>
              <a:t>evaluation</a:t>
            </a:r>
            <a:r>
              <a:rPr lang="ru-RU" dirty="0"/>
              <a:t>”.</a:t>
            </a:r>
          </a:p>
          <a:p>
            <a:r>
              <a:rPr lang="ru-RU" dirty="0"/>
              <a:t>5.2.2.6 Регрессионное тестирование (</a:t>
            </a:r>
            <a:r>
              <a:rPr lang="ru-RU" dirty="0" err="1"/>
              <a:t>Regression</a:t>
            </a:r>
            <a:r>
              <a:rPr lang="ru-RU" dirty="0"/>
              <a:t> </a:t>
            </a:r>
            <a:r>
              <a:rPr lang="ru-RU" dirty="0" err="1"/>
              <a:t>testing</a:t>
            </a:r>
            <a:r>
              <a:rPr lang="ru-RU" dirty="0"/>
              <a:t>)</a:t>
            </a:r>
          </a:p>
          <a:p>
            <a:r>
              <a:rPr lang="ru-RU" dirty="0"/>
              <a:t>Определение успешности регрессионных тестов (IEEE 610-90 “Standard </a:t>
            </a:r>
            <a:r>
              <a:rPr lang="ru-RU" dirty="0" err="1"/>
              <a:t>Glossary</a:t>
            </a:r>
            <a:r>
              <a:rPr lang="ru-RU" dirty="0"/>
              <a:t> </a:t>
            </a:r>
            <a:r>
              <a:rPr lang="ru-RU" dirty="0" err="1"/>
              <a:t>of</a:t>
            </a:r>
            <a:r>
              <a:rPr lang="ru-RU" dirty="0"/>
              <a:t> Software Engineering </a:t>
            </a:r>
            <a:r>
              <a:rPr lang="ru-RU" dirty="0" err="1"/>
              <a:t>Terminology</a:t>
            </a:r>
            <a:r>
              <a:rPr lang="ru-RU" dirty="0"/>
              <a:t>”) гласит: “повторное выборочное тестирование системы или компонент для проверки сделанных модификаций не должно приводить к непредусмотренным эффектам”. На практике это означает, что если система успешно проходила тесты до внесения модификаций, она должна их проходит и после внесения таковых. Основная проблема регрессионного тестирования заключается в поиске компромисса между имеющимися ресурсами и необходимостью проведения таких тестов по мере внесения каждого изменения. В определенной степени, задача состоит в том, чтобы определить критерии “масштабов” изменений, с достижением которых необходимо проводить регрессионные тесты.</a:t>
            </a:r>
          </a:p>
          <a:p>
            <a:r>
              <a:rPr lang="ru-RU" dirty="0"/>
              <a:t>5.2.2.7 Тестирование производительности (Performance </a:t>
            </a:r>
            <a:r>
              <a:rPr lang="ru-RU" dirty="0" err="1"/>
              <a:t>testing</a:t>
            </a:r>
            <a:r>
              <a:rPr lang="ru-RU" dirty="0"/>
              <a:t>)</a:t>
            </a:r>
          </a:p>
          <a:p>
            <a:r>
              <a:rPr lang="ru-RU" dirty="0"/>
              <a:t>Специализированные тесты проверки удовлетворения специфических требований, предъявляемых к параметрам производительности. Существует особый подвид таких тестов, когда делается попытка достижения количественных пределов, обусловленных характеристиками самой системы и ее операционного окружения.</a:t>
            </a:r>
          </a:p>
          <a:p>
            <a:r>
              <a:rPr lang="ru-RU" dirty="0"/>
              <a:t>5.2.2.8 Нагрузочное тестирование (</a:t>
            </a:r>
            <a:r>
              <a:rPr lang="ru-RU" dirty="0" err="1"/>
              <a:t>Stress</a:t>
            </a:r>
            <a:r>
              <a:rPr lang="ru-RU" dirty="0"/>
              <a:t> </a:t>
            </a:r>
            <a:r>
              <a:rPr lang="ru-RU" dirty="0" err="1"/>
              <a:t>testing</a:t>
            </a:r>
            <a:r>
              <a:rPr lang="ru-RU" dirty="0"/>
              <a:t>)</a:t>
            </a:r>
          </a:p>
          <a:p>
            <a:r>
              <a:rPr lang="ru-RU" dirty="0"/>
              <a:t>Необходимо понимать отличия между рассмотренным выше тестированием производительности с целью достижения ее реальных (достижимых) возможностей производительности и выполнением программной системы c повышением нагрузки, вплоть до достижения запланированных характеристик и далее, с отслеживанием поведения на всем протяжении повышения загрузки системы.</a:t>
            </a:r>
          </a:p>
          <a:p>
            <a:r>
              <a:rPr lang="ru-RU" dirty="0"/>
              <a:t>5.2.2.9 Сравнительное тестирование (Back-</a:t>
            </a:r>
            <a:r>
              <a:rPr lang="ru-RU" dirty="0" err="1"/>
              <a:t>to</a:t>
            </a:r>
            <a:r>
              <a:rPr lang="ru-RU" dirty="0"/>
              <a:t>-</a:t>
            </a:r>
            <a:r>
              <a:rPr lang="ru-RU" dirty="0" err="1"/>
              <a:t>back</a:t>
            </a:r>
            <a:r>
              <a:rPr lang="ru-RU" dirty="0"/>
              <a:t> </a:t>
            </a:r>
            <a:r>
              <a:rPr lang="ru-RU" dirty="0" err="1"/>
              <a:t>testing</a:t>
            </a:r>
            <a:r>
              <a:rPr lang="ru-RU" dirty="0"/>
              <a:t>)</a:t>
            </a:r>
          </a:p>
          <a:p>
            <a:r>
              <a:rPr lang="ru-RU" dirty="0"/>
              <a:t>Единичный набор тестов, позволяющих сравнить две версии системы.</a:t>
            </a:r>
          </a:p>
          <a:p>
            <a:r>
              <a:rPr lang="ru-RU" dirty="0"/>
              <a:t>5.2.2.10 Восстановительные тесты (Recovery </a:t>
            </a:r>
            <a:r>
              <a:rPr lang="ru-RU" dirty="0" err="1"/>
              <a:t>testing</a:t>
            </a:r>
            <a:r>
              <a:rPr lang="ru-RU" dirty="0"/>
              <a:t>)</a:t>
            </a:r>
          </a:p>
          <a:p>
            <a:r>
              <a:rPr lang="ru-RU" dirty="0"/>
              <a:t>Цель – проверка возможностей рестарта системы в случае непредусмотренной катастрофы (</a:t>
            </a:r>
            <a:r>
              <a:rPr lang="ru-RU" dirty="0" err="1"/>
              <a:t>disaster</a:t>
            </a:r>
            <a:r>
              <a:rPr lang="ru-RU" dirty="0"/>
              <a:t>), влияющей на функционирование операционной среды, в которой выполняется система.</a:t>
            </a:r>
          </a:p>
          <a:p>
            <a:r>
              <a:rPr lang="ru-RU" dirty="0"/>
              <a:t>5.2.2.11 Конфигурационное тестирование (Configuration </a:t>
            </a:r>
            <a:r>
              <a:rPr lang="ru-RU" dirty="0" err="1"/>
              <a:t>testing</a:t>
            </a:r>
            <a:r>
              <a:rPr lang="ru-RU" dirty="0"/>
              <a:t>)</a:t>
            </a:r>
          </a:p>
          <a:p>
            <a:r>
              <a:rPr lang="ru-RU" dirty="0"/>
              <a:t>В случаях, если программное обеспечение создается для использования различными пользователями (в терминах “ролей”), данный вид тестирования направлен на проверку поведения и работоспособности системы в различных конфигурациях.</a:t>
            </a:r>
          </a:p>
          <a:p>
            <a:r>
              <a:rPr lang="ru-RU" dirty="0"/>
              <a:t>5.2.2.12 Тестирование удобства и простоты использования (</a:t>
            </a:r>
            <a:r>
              <a:rPr lang="ru-RU" dirty="0" err="1"/>
              <a:t>Usability</a:t>
            </a:r>
            <a:r>
              <a:rPr lang="ru-RU" dirty="0"/>
              <a:t> </a:t>
            </a:r>
            <a:r>
              <a:rPr lang="ru-RU" dirty="0" err="1"/>
              <a:t>testing</a:t>
            </a:r>
            <a:r>
              <a:rPr lang="ru-RU" dirty="0"/>
              <a:t>)</a:t>
            </a:r>
          </a:p>
          <a:p>
            <a:r>
              <a:rPr lang="ru-RU" dirty="0"/>
              <a:t>Цель – проверить, насколько легко конечный пользователь системы может ее освоить, включая не только функциональную составляющую – саму систему, но и ее документацию; насколько эффективно пользователь может выполнять задачи, автоматизация которых осуществляется с использованием данной системы; наконец, насколько хорошо система застрахована (с точки зрения потенциальных сбоев) от ошибок пользователя.</a:t>
            </a:r>
          </a:p>
          <a:p>
            <a:r>
              <a:rPr lang="ru-RU" dirty="0"/>
              <a:t>5.2.2.13 Разработка, управляемая тестированием (Test-</a:t>
            </a:r>
            <a:r>
              <a:rPr lang="ru-RU" dirty="0" err="1"/>
              <a:t>driven</a:t>
            </a:r>
            <a:r>
              <a:rPr lang="ru-RU" dirty="0"/>
              <a:t> </a:t>
            </a:r>
            <a:r>
              <a:rPr lang="ru-RU" dirty="0" err="1"/>
              <a:t>development</a:t>
            </a:r>
            <a:r>
              <a:rPr lang="ru-RU" dirty="0"/>
              <a:t>)</a:t>
            </a:r>
          </a:p>
          <a:p>
            <a:r>
              <a:rPr lang="ru-RU" dirty="0" err="1"/>
              <a:t>По-сути</a:t>
            </a:r>
            <a:r>
              <a:rPr lang="ru-RU" dirty="0"/>
              <a:t>, это не столько техника тестирования, сколько стиль организации процесса разработки, жизненного цикла, когда тесты являются неотъемлемой частью требований (и соответствующих спецификаций) вместо того, чтобы рассматриваться независимой деятельностью по проверке удовлетворения требований программной системой.</a:t>
            </a:r>
          </a:p>
          <a:p>
            <a:r>
              <a:rPr lang="ru-RU" dirty="0"/>
              <a:t>Иногда говорят о таком стиле разработки как о самостоятельной методологии – TDD. Насколько это верно, зависит от того, что именно понимать под методологией разработки. Скорее, с точки зрения автора, это техника, практика или стиль организации работы, чем самостоятельная методология.</a:t>
            </a:r>
          </a:p>
          <a:p>
            <a:r>
              <a:rPr lang="ru-RU" dirty="0"/>
              <a:t>В меньшей степени это относится к FDD – </a:t>
            </a:r>
            <a:r>
              <a:rPr lang="ru-RU" dirty="0" err="1"/>
              <a:t>Feature-Driven</a:t>
            </a:r>
            <a:r>
              <a:rPr lang="ru-RU" dirty="0"/>
              <a:t> Development (разработка на основе функциональных возможностей). TDD может естественно рассматриваться как составная часть XP или, как минимум </a:t>
            </a:r>
            <a:r>
              <a:rPr lang="ru-RU" dirty="0" err="1"/>
              <a:t>Agile</a:t>
            </a:r>
            <a:r>
              <a:rPr lang="ru-RU" dirty="0"/>
              <a:t>-методов. В свою очередь, FDD может рассматриваться как один из методов гибкой разработки.</a:t>
            </a:r>
          </a:p>
          <a:p>
            <a:r>
              <a:rPr lang="ru-RU" dirty="0"/>
              <a:t>В чем отличие столь близких, на первый взгляд, подходов (и, кстати, соответствующих аббревиатур)? Причина – проста. Тесты – инструмент достижения характеристик системы, удовлетворяющей заданным требованиям, то есть потребностям пользователей, а “возможности” (</a:t>
            </a:r>
            <a:r>
              <a:rPr lang="ru-RU" dirty="0" err="1"/>
              <a:t>features</a:t>
            </a:r>
            <a:r>
              <a:rPr lang="ru-RU" dirty="0"/>
              <a:t>) – практически сами (чаще – функциональные) требования, воплощенные (в идеальном случае) в код.</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13</a:t>
            </a:fld>
            <a:endParaRPr lang="ru-RU"/>
          </a:p>
        </p:txBody>
      </p:sp>
    </p:spTree>
    <p:extLst>
      <p:ext uri="{BB962C8B-B14F-4D97-AF65-F5344CB8AC3E}">
        <p14:creationId xmlns:p14="http://schemas.microsoft.com/office/powerpoint/2010/main" val="2722554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5.3.1 Техники, базирующиеся на интуиции и опыте инженера (Based </a:t>
            </a:r>
            <a:r>
              <a:rPr lang="ru-RU" dirty="0" err="1"/>
              <a:t>on</a:t>
            </a:r>
            <a:r>
              <a:rPr lang="ru-RU" dirty="0"/>
              <a:t> </a:t>
            </a:r>
            <a:r>
              <a:rPr lang="ru-RU" dirty="0" err="1"/>
              <a:t>the</a:t>
            </a:r>
            <a:r>
              <a:rPr lang="ru-RU" dirty="0"/>
              <a:t> </a:t>
            </a:r>
            <a:r>
              <a:rPr lang="ru-RU" dirty="0" err="1"/>
              <a:t>software</a:t>
            </a:r>
            <a:r>
              <a:rPr lang="ru-RU" dirty="0"/>
              <a:t> </a:t>
            </a:r>
            <a:r>
              <a:rPr lang="ru-RU" dirty="0" err="1"/>
              <a:t>engineer’s</a:t>
            </a:r>
            <a:r>
              <a:rPr lang="ru-RU" dirty="0"/>
              <a:t> </a:t>
            </a:r>
            <a:r>
              <a:rPr lang="ru-RU" dirty="0" err="1"/>
              <a:t>intuition</a:t>
            </a:r>
            <a:r>
              <a:rPr lang="ru-RU" dirty="0"/>
              <a:t> </a:t>
            </a:r>
            <a:r>
              <a:rPr lang="ru-RU" dirty="0" err="1"/>
              <a:t>and</a:t>
            </a:r>
            <a:r>
              <a:rPr lang="ru-RU" dirty="0"/>
              <a:t> </a:t>
            </a:r>
            <a:r>
              <a:rPr lang="ru-RU" dirty="0" err="1"/>
              <a:t>experience</a:t>
            </a:r>
            <a:r>
              <a:rPr lang="ru-RU" dirty="0"/>
              <a:t>)</a:t>
            </a:r>
          </a:p>
          <a:p>
            <a:r>
              <a:rPr lang="ru-RU" dirty="0"/>
              <a:t>5.3.1.1 Специализированное тестирование (Ad </a:t>
            </a:r>
            <a:r>
              <a:rPr lang="ru-RU" dirty="0" err="1"/>
              <a:t>hoc</a:t>
            </a:r>
            <a:r>
              <a:rPr lang="ru-RU" dirty="0"/>
              <a:t> </a:t>
            </a:r>
            <a:r>
              <a:rPr lang="ru-RU" dirty="0" err="1"/>
              <a:t>testing</a:t>
            </a:r>
            <a:r>
              <a:rPr lang="ru-RU" dirty="0"/>
              <a:t>)</a:t>
            </a:r>
          </a:p>
          <a:p>
            <a:r>
              <a:rPr lang="ru-RU" dirty="0"/>
              <a:t>Возможно, наиболее широко практикуемая техника. Тесты основываются на опыте, интуиции и знаниях инженера, рассматривающего проблему с точки зрения имевшихся ранее аналогий. Данный вид тестирования может быть полезен для идентификации тех тестов, которые не охватываются рассматривавшихся выше более формализованными техниками.</a:t>
            </a:r>
          </a:p>
          <a:p>
            <a:r>
              <a:rPr lang="ru-RU" dirty="0"/>
              <a:t>5.3.1.2 Исследовательское тестирование (</a:t>
            </a:r>
            <a:r>
              <a:rPr lang="ru-RU" dirty="0" err="1"/>
              <a:t>Exploratory</a:t>
            </a:r>
            <a:r>
              <a:rPr lang="ru-RU" dirty="0"/>
              <a:t> </a:t>
            </a:r>
            <a:r>
              <a:rPr lang="ru-RU" dirty="0" err="1"/>
              <a:t>testing</a:t>
            </a:r>
            <a:r>
              <a:rPr lang="ru-RU" dirty="0"/>
              <a:t>)</a:t>
            </a:r>
          </a:p>
          <a:p>
            <a:r>
              <a:rPr lang="ru-RU" dirty="0"/>
              <a:t>Такое тестирование определяется как одновременное обучение, проектирование теста и его исполнение. Данный вид тестирования заранее не определяется в плане тестирования и такие тесты создаются, выполняются и модифицируются динамически, по мере необходимости. Эффективность исследовательских тестов напрямую зависит от знаний инженера, формируемых на основе поведения тестируемого продукта в процессе проведения тестирования, степени знакомства с приложением, платформой, типами возможных сбоев и дефектов, рисками, ассоциированными с конкретным продуктом и т.п.</a:t>
            </a:r>
          </a:p>
          <a:p>
            <a:r>
              <a:rPr lang="ru-RU" dirty="0"/>
              <a:t>5.3.2 Техники, базирующиеся на спецификации (</a:t>
            </a:r>
            <a:r>
              <a:rPr lang="ru-RU" dirty="0" err="1"/>
              <a:t>Specification-based</a:t>
            </a:r>
            <a:r>
              <a:rPr lang="ru-RU" dirty="0"/>
              <a:t> </a:t>
            </a:r>
            <a:r>
              <a:rPr lang="ru-RU" dirty="0" err="1"/>
              <a:t>techniques</a:t>
            </a:r>
            <a:r>
              <a:rPr lang="ru-RU" dirty="0"/>
              <a:t>)</a:t>
            </a:r>
          </a:p>
          <a:p>
            <a:r>
              <a:rPr lang="ru-RU" dirty="0"/>
              <a:t>5.3.2.1 Эквивалентное разделение &lt;приложения&gt; (</a:t>
            </a:r>
            <a:r>
              <a:rPr lang="ru-RU" dirty="0" err="1"/>
              <a:t>Equivalence</a:t>
            </a:r>
            <a:r>
              <a:rPr lang="ru-RU" dirty="0"/>
              <a:t> </a:t>
            </a:r>
            <a:r>
              <a:rPr lang="ru-RU" dirty="0" err="1"/>
              <a:t>partitioning</a:t>
            </a:r>
            <a:r>
              <a:rPr lang="ru-RU" dirty="0"/>
              <a:t>)</a:t>
            </a:r>
          </a:p>
          <a:p>
            <a:r>
              <a:rPr lang="ru-RU" dirty="0"/>
              <a:t>Рассматриваемая область приложения разделяется на коллекцию наборов или эквивалентных классов, которые считаются эквивалентными с точки зрения рассматриваемых связей и характеристик &lt;спецификации&gt;. Репрезентативный набор тестов (иногда – только один тест) формируется из тестов эквивалентных классов (или наборов классов).</a:t>
            </a:r>
          </a:p>
          <a:p>
            <a:r>
              <a:rPr lang="ru-RU" dirty="0"/>
              <a:t>5.3.2.2 Анализ граничных значений (</a:t>
            </a:r>
            <a:r>
              <a:rPr lang="ru-RU" dirty="0" err="1"/>
              <a:t>Boundary-value</a:t>
            </a:r>
            <a:r>
              <a:rPr lang="ru-RU" dirty="0"/>
              <a:t> </a:t>
            </a:r>
            <a:r>
              <a:rPr lang="ru-RU" dirty="0" err="1"/>
              <a:t>analysis</a:t>
            </a:r>
            <a:r>
              <a:rPr lang="ru-RU" dirty="0"/>
              <a:t>)</a:t>
            </a:r>
          </a:p>
          <a:p>
            <a:r>
              <a:rPr lang="ru-RU" dirty="0"/>
              <a:t>Тесты строятся с ориентацией на использование тех величин, которые определяют предельные характеристики тестируемой системы. Расширением этой техники являются тесты оценки живучести (</a:t>
            </a:r>
            <a:r>
              <a:rPr lang="ru-RU" dirty="0" err="1"/>
              <a:t>robustness</a:t>
            </a:r>
            <a:r>
              <a:rPr lang="ru-RU" dirty="0"/>
              <a:t> </a:t>
            </a:r>
            <a:r>
              <a:rPr lang="ru-RU" dirty="0" err="1"/>
              <a:t>testing</a:t>
            </a:r>
            <a:r>
              <a:rPr lang="ru-RU" dirty="0"/>
              <a:t>) системы, проводимые с величинами, выходящими за рамки специфицированных пределов значений.</a:t>
            </a:r>
          </a:p>
          <a:p>
            <a:r>
              <a:rPr lang="ru-RU" dirty="0"/>
              <a:t>5.3.2.3 Таблицы принятия решений (</a:t>
            </a:r>
            <a:r>
              <a:rPr lang="ru-RU" dirty="0" err="1"/>
              <a:t>Decision</a:t>
            </a:r>
            <a:r>
              <a:rPr lang="ru-RU" dirty="0"/>
              <a:t> </a:t>
            </a:r>
            <a:r>
              <a:rPr lang="ru-RU" dirty="0" err="1"/>
              <a:t>table</a:t>
            </a:r>
            <a:r>
              <a:rPr lang="ru-RU" dirty="0"/>
              <a:t>)</a:t>
            </a:r>
          </a:p>
          <a:p>
            <a:r>
              <a:rPr lang="ru-RU" dirty="0"/>
              <a:t>Такие таблицы представляют логические связи между условиями (могут рассматриваться в качестве “входов”) и действиями (могут рассматриваться как “выходы”). Набор тестов строится последовательным рассмотрением всех возможных кросс-связей в такой таблице.</a:t>
            </a:r>
          </a:p>
          <a:p>
            <a:r>
              <a:rPr lang="ru-RU" dirty="0"/>
              <a:t>5.3.2.4 Тесты на основе конечного автомата (</a:t>
            </a:r>
            <a:r>
              <a:rPr lang="ru-RU" dirty="0" err="1"/>
              <a:t>Finite-state</a:t>
            </a:r>
            <a:r>
              <a:rPr lang="ru-RU" dirty="0"/>
              <a:t> </a:t>
            </a:r>
            <a:r>
              <a:rPr lang="ru-RU" dirty="0" err="1"/>
              <a:t>machine-based</a:t>
            </a:r>
            <a:r>
              <a:rPr lang="ru-RU" dirty="0"/>
              <a:t>)</a:t>
            </a:r>
          </a:p>
          <a:p>
            <a:r>
              <a:rPr lang="ru-RU" dirty="0"/>
              <a:t>Строятся как комбинация тестов для всех состояний и переходов между состояниями, представленных в соответствующей модели (переходов и состояний приложения).</a:t>
            </a:r>
          </a:p>
          <a:p>
            <a:r>
              <a:rPr lang="ru-RU" dirty="0"/>
              <a:t>5.3.2.5 Тестирование на основе формальной спецификации (</a:t>
            </a:r>
            <a:r>
              <a:rPr lang="ru-RU" dirty="0" err="1"/>
              <a:t>Testing</a:t>
            </a:r>
            <a:r>
              <a:rPr lang="ru-RU" dirty="0"/>
              <a:t> </a:t>
            </a:r>
            <a:r>
              <a:rPr lang="ru-RU" dirty="0" err="1"/>
              <a:t>from</a:t>
            </a:r>
            <a:r>
              <a:rPr lang="ru-RU" dirty="0"/>
              <a:t> </a:t>
            </a:r>
            <a:r>
              <a:rPr lang="ru-RU" dirty="0" err="1"/>
              <a:t>formal</a:t>
            </a:r>
            <a:r>
              <a:rPr lang="ru-RU" dirty="0"/>
              <a:t> </a:t>
            </a:r>
            <a:r>
              <a:rPr lang="ru-RU" dirty="0" err="1"/>
              <a:t>specification</a:t>
            </a:r>
            <a:r>
              <a:rPr lang="ru-RU" dirty="0"/>
              <a:t>)</a:t>
            </a:r>
          </a:p>
          <a:p>
            <a:r>
              <a:rPr lang="ru-RU" dirty="0"/>
              <a:t>Для спецификации, определенных с использованием формального языка, возможно автоматически создавать и тесты для функциональных требований. В ряде случаев могут строится на основе модели, являющейся частью спецификации, не использующей формального языка описания.</a:t>
            </a:r>
          </a:p>
          <a:p>
            <a:r>
              <a:rPr lang="ru-RU" dirty="0"/>
              <a:t>5.3.2.6 Случайное тестирование (</a:t>
            </a:r>
            <a:r>
              <a:rPr lang="ru-RU" dirty="0" err="1"/>
              <a:t>Random</a:t>
            </a:r>
            <a:r>
              <a:rPr lang="ru-RU" dirty="0"/>
              <a:t> </a:t>
            </a:r>
            <a:r>
              <a:rPr lang="ru-RU" dirty="0" err="1"/>
              <a:t>testing</a:t>
            </a:r>
            <a:r>
              <a:rPr lang="ru-RU" dirty="0"/>
              <a:t>)</a:t>
            </a:r>
          </a:p>
          <a:p>
            <a:r>
              <a:rPr lang="ru-RU" dirty="0"/>
              <a:t>В отличие от статистического тестирования (будет рассматриваться в 3.5.1 “</a:t>
            </a:r>
            <a:r>
              <a:rPr lang="ru-RU" dirty="0" err="1"/>
              <a:t>Operational</a:t>
            </a:r>
            <a:r>
              <a:rPr lang="ru-RU" dirty="0"/>
              <a:t> </a:t>
            </a:r>
            <a:r>
              <a:rPr lang="ru-RU" dirty="0" err="1"/>
              <a:t>profile</a:t>
            </a:r>
            <a:r>
              <a:rPr lang="ru-RU" dirty="0"/>
              <a:t>”), сами тесты генерируются случайным образом по списку заданного набора специфицированных характеристик.</a:t>
            </a:r>
          </a:p>
          <a:p>
            <a:r>
              <a:rPr lang="ru-RU" dirty="0"/>
              <a:t>5.3.3 Техники, ориентированные на код (Code-</a:t>
            </a:r>
            <a:r>
              <a:rPr lang="ru-RU" dirty="0" err="1"/>
              <a:t>based</a:t>
            </a:r>
            <a:r>
              <a:rPr lang="ru-RU" dirty="0"/>
              <a:t> </a:t>
            </a:r>
            <a:r>
              <a:rPr lang="ru-RU" dirty="0" err="1"/>
              <a:t>techniques</a:t>
            </a:r>
            <a:r>
              <a:rPr lang="ru-RU" dirty="0"/>
              <a:t>)</a:t>
            </a:r>
          </a:p>
          <a:p>
            <a:r>
              <a:rPr lang="ru-RU" dirty="0"/>
              <a:t>5.3.3.1 Тесты, базирующиеся на блок-схеме (Control-</a:t>
            </a:r>
            <a:r>
              <a:rPr lang="ru-RU" dirty="0" err="1"/>
              <a:t>flow</a:t>
            </a:r>
            <a:r>
              <a:rPr lang="ru-RU" dirty="0"/>
              <a:t>-</a:t>
            </a:r>
            <a:r>
              <a:rPr lang="ru-RU" dirty="0" err="1"/>
              <a:t>based</a:t>
            </a:r>
            <a:r>
              <a:rPr lang="ru-RU" dirty="0"/>
              <a:t> </a:t>
            </a:r>
            <a:r>
              <a:rPr lang="ru-RU" dirty="0" err="1"/>
              <a:t>criteria</a:t>
            </a:r>
            <a:r>
              <a:rPr lang="ru-RU" dirty="0"/>
              <a:t>)</a:t>
            </a:r>
          </a:p>
          <a:p>
            <a:r>
              <a:rPr lang="ru-RU" dirty="0"/>
              <a:t>Набор тестов строится исходя из покрытия всех условий и решений блок-схемы. В какой-то степени напоминает тесты на основе конечного автомата. Отличие – в источнике набора тестов. Максимальная отдача от тестов на основе блок-схемы получается когда тесты покрывают различные пути блок-схемы – </a:t>
            </a:r>
            <a:r>
              <a:rPr lang="ru-RU" dirty="0" err="1"/>
              <a:t>по-сути</a:t>
            </a:r>
            <a:r>
              <a:rPr lang="ru-RU" dirty="0"/>
              <a:t>, сценарии потоков работ (поведения) тестируемой системы. Адекватность таких тестов оценивается как процент покрытия всех возможных путей блок-схемы.</a:t>
            </a:r>
          </a:p>
          <a:p>
            <a:r>
              <a:rPr lang="ru-RU" dirty="0"/>
              <a:t>5.3.3.2 Тесты на основе потоков данных (Data-</a:t>
            </a:r>
            <a:r>
              <a:rPr lang="ru-RU" dirty="0" err="1"/>
              <a:t>flow</a:t>
            </a:r>
            <a:r>
              <a:rPr lang="ru-RU" dirty="0"/>
              <a:t>-</a:t>
            </a:r>
            <a:r>
              <a:rPr lang="ru-RU" dirty="0" err="1"/>
              <a:t>based</a:t>
            </a:r>
            <a:r>
              <a:rPr lang="ru-RU" dirty="0"/>
              <a:t> </a:t>
            </a:r>
            <a:r>
              <a:rPr lang="ru-RU" dirty="0" err="1"/>
              <a:t>criteria</a:t>
            </a:r>
            <a:r>
              <a:rPr lang="ru-RU" dirty="0"/>
              <a:t>)</a:t>
            </a:r>
          </a:p>
          <a:p>
            <a:r>
              <a:rPr lang="ru-RU" dirty="0"/>
              <a:t>В данных тестах отслеживается полный жизненный цикл величин (переменных) – с момента рождения (определения), на всем протяжении использования, вплоть до уничтожения (неопределенности). В реальной практике используются нестрогое тестирование такого вида, ориентированное, например, только на проверку задания начальных значений всех переменных или всех вхождений переменных в код, с точки зрения их использования.</a:t>
            </a:r>
          </a:p>
          <a:p>
            <a:r>
              <a:rPr lang="ru-RU" dirty="0"/>
              <a:t>5.3.3.3 Ссылочные модели для тестирования, ориентированного на код (</a:t>
            </a:r>
            <a:r>
              <a:rPr lang="ru-RU" dirty="0" err="1"/>
              <a:t>Reference</a:t>
            </a:r>
            <a:r>
              <a:rPr lang="ru-RU" dirty="0"/>
              <a:t> </a:t>
            </a:r>
            <a:r>
              <a:rPr lang="ru-RU" dirty="0" err="1"/>
              <a:t>models</a:t>
            </a:r>
            <a:r>
              <a:rPr lang="ru-RU" dirty="0"/>
              <a:t> </a:t>
            </a:r>
            <a:r>
              <a:rPr lang="ru-RU" dirty="0" err="1"/>
              <a:t>for</a:t>
            </a:r>
            <a:r>
              <a:rPr lang="ru-RU" dirty="0"/>
              <a:t> </a:t>
            </a:r>
            <a:r>
              <a:rPr lang="ru-RU" dirty="0" err="1"/>
              <a:t>code-based</a:t>
            </a:r>
            <a:r>
              <a:rPr lang="ru-RU" dirty="0"/>
              <a:t> </a:t>
            </a:r>
            <a:r>
              <a:rPr lang="ru-RU" dirty="0" err="1"/>
              <a:t>testing</a:t>
            </a:r>
            <a:r>
              <a:rPr lang="ru-RU" dirty="0"/>
              <a:t> – </a:t>
            </a:r>
            <a:r>
              <a:rPr lang="ru-RU" dirty="0" err="1"/>
              <a:t>flowgraph</a:t>
            </a:r>
            <a:r>
              <a:rPr lang="ru-RU" dirty="0"/>
              <a:t>, </a:t>
            </a:r>
            <a:r>
              <a:rPr lang="ru-RU" dirty="0" err="1"/>
              <a:t>call</a:t>
            </a:r>
            <a:r>
              <a:rPr lang="ru-RU" dirty="0"/>
              <a:t> </a:t>
            </a:r>
            <a:r>
              <a:rPr lang="ru-RU" dirty="0" err="1"/>
              <a:t>graph</a:t>
            </a:r>
            <a:r>
              <a:rPr lang="ru-RU" dirty="0"/>
              <a:t>)</a:t>
            </a:r>
          </a:p>
          <a:p>
            <a:r>
              <a:rPr lang="ru-RU" dirty="0"/>
              <a:t>Является не столько техникой тестирования, сколько контролем структуры программы, представленной в виде дерева вызовов (например, </a:t>
            </a:r>
            <a:r>
              <a:rPr lang="ru-RU" dirty="0" err="1"/>
              <a:t>sequence</a:t>
            </a:r>
            <a:r>
              <a:rPr lang="ru-RU" dirty="0"/>
              <a:t>-диаграммы, определенной в нотации UML и построенной на основе анализа кода).</a:t>
            </a:r>
          </a:p>
          <a:p>
            <a:r>
              <a:rPr lang="ru-RU" dirty="0"/>
              <a:t>5.3.4 Тестирование, ориентированное на дефекты (</a:t>
            </a:r>
            <a:r>
              <a:rPr lang="ru-RU" dirty="0" err="1"/>
              <a:t>Fault-based</a:t>
            </a:r>
            <a:r>
              <a:rPr lang="ru-RU" dirty="0"/>
              <a:t> </a:t>
            </a:r>
            <a:r>
              <a:rPr lang="ru-RU" dirty="0" err="1"/>
              <a:t>techniques</a:t>
            </a:r>
            <a:r>
              <a:rPr lang="ru-RU" dirty="0"/>
              <a:t>)</a:t>
            </a:r>
          </a:p>
          <a:p>
            <a:r>
              <a:rPr lang="ru-RU" dirty="0"/>
              <a:t>Как это ни странно звучит на уровне названия таких техник тестирования, они, действительно, ориентированы на ошибки. Точнее – на специфические категории ошибок.</a:t>
            </a:r>
          </a:p>
          <a:p>
            <a:r>
              <a:rPr lang="ru-RU" dirty="0"/>
              <a:t>5.3.4.1 Предположение ошибок (</a:t>
            </a:r>
            <a:r>
              <a:rPr lang="ru-RU" dirty="0" err="1"/>
              <a:t>Error</a:t>
            </a:r>
            <a:r>
              <a:rPr lang="ru-RU" dirty="0"/>
              <a:t> </a:t>
            </a:r>
            <a:r>
              <a:rPr lang="ru-RU" dirty="0" err="1"/>
              <a:t>guessing</a:t>
            </a:r>
            <a:r>
              <a:rPr lang="ru-RU" dirty="0"/>
              <a:t>)</a:t>
            </a:r>
          </a:p>
          <a:p>
            <a:r>
              <a:rPr lang="ru-RU" dirty="0"/>
              <a:t>Направлены на обнаружение наиболее вероятных ошибок, предсказываемых, например, в результате анализа рисков.</a:t>
            </a:r>
          </a:p>
          <a:p>
            <a:r>
              <a:rPr lang="ru-RU" dirty="0"/>
              <a:t>5.3.4.2 Тестирование мутаций (</a:t>
            </a:r>
            <a:r>
              <a:rPr lang="ru-RU" dirty="0" err="1"/>
              <a:t>Mutation</a:t>
            </a:r>
            <a:r>
              <a:rPr lang="ru-RU" dirty="0"/>
              <a:t> </a:t>
            </a:r>
            <a:r>
              <a:rPr lang="ru-RU" dirty="0" err="1"/>
              <a:t>testing</a:t>
            </a:r>
            <a:r>
              <a:rPr lang="ru-RU" dirty="0"/>
              <a:t>)</a:t>
            </a:r>
          </a:p>
          <a:p>
            <a:r>
              <a:rPr lang="ru-RU" dirty="0"/>
              <a:t>Мутация – небольшое изменение тестируемой программы, произошедшее за счет частных синтаксических изменений кода (в частности, рефакторинга). Соответствующие тесты запускаются для оригинального и всех “мутировавших” вариантов тестируемой программы.</a:t>
            </a:r>
          </a:p>
          <a:p>
            <a:r>
              <a:rPr lang="ru-RU" dirty="0"/>
              <a:t>SWEBOK фокусируется на возможности, с помощью тестов, определять отличия между мутантами и исходным вариантом кода. Если такое отличие установлено, мутанта “убивают”, а тест считается успешным. Обычно, данный подход фокусируется на синтаксических ошибках, на практике отслеживаемых современными средами разработки и, конечно, компиляторами.</a:t>
            </a:r>
          </a:p>
          <a:p>
            <a:r>
              <a:rPr lang="ru-RU" dirty="0"/>
              <a:t>5.3.5 Техники, базирующиеся на условиях использования (</a:t>
            </a:r>
            <a:r>
              <a:rPr lang="ru-RU" dirty="0" err="1"/>
              <a:t>Usage-based</a:t>
            </a:r>
            <a:r>
              <a:rPr lang="ru-RU" dirty="0"/>
              <a:t> </a:t>
            </a:r>
            <a:r>
              <a:rPr lang="ru-RU" dirty="0" err="1"/>
              <a:t>techniques</a:t>
            </a:r>
            <a:r>
              <a:rPr lang="ru-RU" dirty="0"/>
              <a:t>)</a:t>
            </a:r>
          </a:p>
          <a:p>
            <a:r>
              <a:rPr lang="ru-RU" dirty="0"/>
              <a:t>5.3.5.1 Операционный профиль (</a:t>
            </a:r>
            <a:r>
              <a:rPr lang="ru-RU" dirty="0" err="1"/>
              <a:t>Operational</a:t>
            </a:r>
            <a:r>
              <a:rPr lang="ru-RU" dirty="0"/>
              <a:t> </a:t>
            </a:r>
            <a:r>
              <a:rPr lang="ru-RU" dirty="0" err="1"/>
              <a:t>profile</a:t>
            </a:r>
            <a:r>
              <a:rPr lang="ru-RU" dirty="0"/>
              <a:t>)</a:t>
            </a:r>
          </a:p>
          <a:p>
            <a:r>
              <a:rPr lang="ru-RU" dirty="0"/>
              <a:t>Базируется на условиях использования системы.</a:t>
            </a:r>
          </a:p>
          <a:p>
            <a:r>
              <a:rPr lang="ru-RU" dirty="0"/>
              <a:t>Тестирование для оценки надёжности системы должно проводиться в таком тестовом окружении, которое максимально приближено к реальным условиям работы системы. Результаты таких тестов позволяют оценить поведение системы в реальных условиях. Входные параметры тестов задаются на основе вероятностного распределения соответствующих параметров или их наборов при эксплуатации (входные данные могут прогнозироваться исходя из частоты возможных сценариев работы пользователей).</a:t>
            </a:r>
          </a:p>
          <a:p>
            <a:r>
              <a:rPr lang="ru-RU" dirty="0"/>
              <a:t>5.3.5.2 Тестирование, базирующееся на надежности инженерного процесса (Software </a:t>
            </a:r>
            <a:r>
              <a:rPr lang="ru-RU" dirty="0" err="1"/>
              <a:t>Reliability</a:t>
            </a:r>
            <a:r>
              <a:rPr lang="ru-RU" dirty="0"/>
              <a:t> </a:t>
            </a:r>
            <a:r>
              <a:rPr lang="ru-RU" dirty="0" err="1"/>
              <a:t>Engineered</a:t>
            </a:r>
            <a:r>
              <a:rPr lang="ru-RU" dirty="0"/>
              <a:t> </a:t>
            </a:r>
            <a:r>
              <a:rPr lang="ru-RU" dirty="0" err="1"/>
              <a:t>Testing</a:t>
            </a:r>
            <a:r>
              <a:rPr lang="ru-RU" dirty="0"/>
              <a:t>)</a:t>
            </a:r>
          </a:p>
          <a:p>
            <a:r>
              <a:rPr lang="ru-RU" dirty="0"/>
              <a:t>Базируется на условиях разработки системы.</a:t>
            </a:r>
          </a:p>
          <a:p>
            <a:r>
              <a:rPr lang="ru-RU" dirty="0"/>
              <a:t>Соответствующие тесты (обозначаемые также аббревиатурой SRET от Software </a:t>
            </a:r>
            <a:r>
              <a:rPr lang="ru-RU" dirty="0" err="1"/>
              <a:t>Reliability</a:t>
            </a:r>
            <a:r>
              <a:rPr lang="ru-RU" dirty="0"/>
              <a:t> </a:t>
            </a:r>
            <a:r>
              <a:rPr lang="ru-RU" dirty="0" err="1"/>
              <a:t>Engineered</a:t>
            </a:r>
            <a:r>
              <a:rPr lang="ru-RU" dirty="0"/>
              <a:t> </a:t>
            </a:r>
            <a:r>
              <a:rPr lang="ru-RU" dirty="0" err="1"/>
              <a:t>Testing</a:t>
            </a:r>
            <a:r>
              <a:rPr lang="ru-RU" dirty="0"/>
              <a:t>) проектируются в контексте используемого процесса разработки и методик тестирования.</a:t>
            </a:r>
          </a:p>
          <a:p>
            <a:r>
              <a:rPr lang="ru-RU" dirty="0"/>
              <a:t>5.3.6 Техники, базирующиеся на природе приложения (</a:t>
            </a:r>
            <a:r>
              <a:rPr lang="ru-RU" dirty="0" err="1"/>
              <a:t>Techniques</a:t>
            </a:r>
            <a:r>
              <a:rPr lang="ru-RU" dirty="0"/>
              <a:t> </a:t>
            </a:r>
            <a:r>
              <a:rPr lang="ru-RU" dirty="0" err="1"/>
              <a:t>based</a:t>
            </a:r>
            <a:r>
              <a:rPr lang="ru-RU" dirty="0"/>
              <a:t> </a:t>
            </a:r>
            <a:r>
              <a:rPr lang="ru-RU" dirty="0" err="1"/>
              <a:t>on</a:t>
            </a:r>
            <a:r>
              <a:rPr lang="ru-RU" dirty="0"/>
              <a:t> </a:t>
            </a:r>
            <a:r>
              <a:rPr lang="ru-RU" dirty="0" err="1"/>
              <a:t>the</a:t>
            </a:r>
            <a:r>
              <a:rPr lang="ru-RU" dirty="0"/>
              <a:t> </a:t>
            </a:r>
            <a:r>
              <a:rPr lang="ru-RU" dirty="0" err="1"/>
              <a:t>nature</a:t>
            </a:r>
            <a:r>
              <a:rPr lang="ru-RU" dirty="0"/>
              <a:t> </a:t>
            </a:r>
            <a:r>
              <a:rPr lang="ru-RU" dirty="0" err="1"/>
              <a:t>of</a:t>
            </a:r>
            <a:r>
              <a:rPr lang="ru-RU" dirty="0"/>
              <a:t> </a:t>
            </a:r>
            <a:r>
              <a:rPr lang="ru-RU" dirty="0" err="1"/>
              <a:t>the</a:t>
            </a:r>
            <a:r>
              <a:rPr lang="ru-RU" dirty="0"/>
              <a:t> </a:t>
            </a:r>
            <a:r>
              <a:rPr lang="ru-RU" dirty="0" err="1"/>
              <a:t>application</a:t>
            </a:r>
            <a:r>
              <a:rPr lang="ru-RU" dirty="0"/>
              <a:t>)</a:t>
            </a:r>
          </a:p>
          <a:p>
            <a:r>
              <a:rPr lang="ru-RU" dirty="0"/>
              <a:t>Описанные выше техники могут применяться к любым типам программных систем. В то же время, в зависимости от технологической или архитектурной природы приложений, могут также применять специфические техники, важные именно для заданного типа приложения. Среди таких техник:</a:t>
            </a:r>
          </a:p>
          <a:p>
            <a:r>
              <a:rPr lang="ru-RU" dirty="0"/>
              <a:t>•	Объектно-ориентированное тестирование;</a:t>
            </a:r>
          </a:p>
          <a:p>
            <a:r>
              <a:rPr lang="ru-RU" dirty="0"/>
              <a:t>•	Компонентно-ориентированное тестирование;</a:t>
            </a:r>
          </a:p>
          <a:p>
            <a:r>
              <a:rPr lang="ru-RU" dirty="0"/>
              <a:t>•	Web-ориентированное тестирование;</a:t>
            </a:r>
          </a:p>
          <a:p>
            <a:r>
              <a:rPr lang="ru-RU" dirty="0"/>
              <a:t>•	Тестирование на соответствие протоколам;</a:t>
            </a:r>
          </a:p>
          <a:p>
            <a:r>
              <a:rPr lang="ru-RU" dirty="0"/>
              <a:t>•	Тестирование систем реального времени.</a:t>
            </a:r>
          </a:p>
          <a:p>
            <a:r>
              <a:rPr lang="ru-RU" dirty="0"/>
              <a:t>5.3.7 Выбор и комбинация различных техник (</a:t>
            </a:r>
            <a:r>
              <a:rPr lang="ru-RU" dirty="0" err="1"/>
              <a:t>Selecting</a:t>
            </a:r>
            <a:r>
              <a:rPr lang="ru-RU" dirty="0"/>
              <a:t> </a:t>
            </a:r>
            <a:r>
              <a:rPr lang="ru-RU" dirty="0" err="1"/>
              <a:t>and</a:t>
            </a:r>
            <a:r>
              <a:rPr lang="ru-RU" dirty="0"/>
              <a:t> </a:t>
            </a:r>
            <a:r>
              <a:rPr lang="ru-RU" dirty="0" err="1"/>
              <a:t>combining</a:t>
            </a:r>
            <a:r>
              <a:rPr lang="ru-RU" dirty="0"/>
              <a:t> </a:t>
            </a:r>
            <a:r>
              <a:rPr lang="ru-RU" dirty="0" err="1"/>
              <a:t>techniques</a:t>
            </a:r>
            <a:r>
              <a:rPr lang="ru-RU" dirty="0"/>
              <a:t>)</a:t>
            </a:r>
          </a:p>
          <a:p>
            <a:r>
              <a:rPr lang="ru-RU" dirty="0"/>
              <a:t>5.3.7.1 Функциональное и структурное (</a:t>
            </a:r>
            <a:r>
              <a:rPr lang="ru-RU" dirty="0" err="1"/>
              <a:t>Functional</a:t>
            </a:r>
            <a:r>
              <a:rPr lang="ru-RU" dirty="0"/>
              <a:t> </a:t>
            </a:r>
            <a:r>
              <a:rPr lang="ru-RU" dirty="0" err="1"/>
              <a:t>and</a:t>
            </a:r>
            <a:r>
              <a:rPr lang="ru-RU" dirty="0"/>
              <a:t> </a:t>
            </a:r>
            <a:r>
              <a:rPr lang="ru-RU" dirty="0" err="1"/>
              <a:t>structural</a:t>
            </a:r>
            <a:r>
              <a:rPr lang="ru-RU" dirty="0"/>
              <a:t>)</a:t>
            </a:r>
          </a:p>
          <a:p>
            <a:r>
              <a:rPr lang="ru-RU" dirty="0"/>
              <a:t>Техники тестирования, строящиеся на основе спецификаций или кода часто называют функциональными или структурными, соответственно. Оба подхода не должны противопоставляться, но дополнять друг друга.</a:t>
            </a:r>
          </a:p>
          <a:p>
            <a:r>
              <a:rPr lang="ru-RU" dirty="0"/>
              <a:t>5.3.7.2 Определенное или случайное (</a:t>
            </a:r>
            <a:r>
              <a:rPr lang="ru-RU" dirty="0" err="1"/>
              <a:t>Deterministic</a:t>
            </a:r>
            <a:r>
              <a:rPr lang="ru-RU" dirty="0"/>
              <a:t> </a:t>
            </a:r>
            <a:r>
              <a:rPr lang="ru-RU" dirty="0" err="1"/>
              <a:t>vs</a:t>
            </a:r>
            <a:r>
              <a:rPr lang="ru-RU" dirty="0"/>
              <a:t>. </a:t>
            </a:r>
            <a:r>
              <a:rPr lang="ru-RU" dirty="0" err="1"/>
              <a:t>random</a:t>
            </a:r>
            <a:r>
              <a:rPr lang="ru-RU" dirty="0"/>
              <a:t>)</a:t>
            </a:r>
          </a:p>
          <a:p>
            <a:r>
              <a:rPr lang="ru-RU" dirty="0"/>
              <a:t>Обычно тесты можно распределить по данным группам на основе используемой политики выбора или определения входных параметров тестов.</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15</a:t>
            </a:fld>
            <a:endParaRPr lang="ru-RU"/>
          </a:p>
        </p:txBody>
      </p:sp>
    </p:spTree>
    <p:extLst>
      <p:ext uri="{BB962C8B-B14F-4D97-AF65-F5344CB8AC3E}">
        <p14:creationId xmlns:p14="http://schemas.microsoft.com/office/powerpoint/2010/main" val="182572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normAutofit/>
          </a:bodyPr>
          <a:lstStyle>
            <a:lvl1pPr algn="ctr">
              <a:defRPr sz="4000" baseline="0">
                <a:solidFill>
                  <a:srgbClr val="0070C0"/>
                </a:solidFill>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atin typeface="Arial Narrow" panose="020B06060202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53E0805-E946-49A1-A715-7C9D8C1CD6FE}" type="datetime1">
              <a:rPr lang="en-US" smtClean="0"/>
              <a:t>11/25/2025</a:t>
            </a:fld>
            <a:endParaRPr lang="en-US" dirty="0"/>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990299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normAutofit/>
          </a:bodyPr>
          <a:lstStyle>
            <a:lvl1pPr>
              <a:defRPr sz="4000">
                <a:solidFill>
                  <a:srgbClr val="0070C0"/>
                </a:solidFill>
                <a:latin typeface="Impact" panose="020B080603090205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defRPr>
                <a:latin typeface="Arial Narrow" panose="020B0606020202030204" pitchFamily="34" charset="0"/>
              </a:defRPr>
            </a:lvl1pPr>
            <a:lvl2pPr marL="685800" indent="-228600">
              <a:buFont typeface="Courier New" panose="02070309020205020404" pitchFamily="49" charset="0"/>
              <a:buChar char="o"/>
              <a:defRPr>
                <a:latin typeface="Arial Narrow" panose="020B0606020202030204" pitchFamily="34" charset="0"/>
              </a:defRPr>
            </a:lvl2pPr>
            <a:lvl3pPr>
              <a:defRPr>
                <a:latin typeface="Arial Narrow" panose="020B0606020202030204" pitchFamily="34" charset="0"/>
              </a:defRPr>
            </a:lvl3pPr>
            <a:lvl4pPr marL="1600200" indent="-228600">
              <a:buFont typeface="Courier New" panose="02070309020205020404" pitchFamily="49" charset="0"/>
              <a:buChar char="o"/>
              <a:defRPr>
                <a:latin typeface="Arial Narrow" panose="020B0606020202030204" pitchFamily="34" charset="0"/>
              </a:defRPr>
            </a:lvl4pPr>
            <a:lvl5pPr>
              <a:defRPr>
                <a:latin typeface="Arial Narrow" panose="020B06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4EBB0E72-E0A4-4D7B-815B-6413EF16F256}" type="datetime1">
              <a:rPr lang="en-US" smtClean="0"/>
              <a:t>11/25/2025</a:t>
            </a:fld>
            <a:endParaRPr lang="en-US" dirty="0"/>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9" name="Picture 3">
            <a:extLst>
              <a:ext uri="{FF2B5EF4-FFF2-40B4-BE49-F238E27FC236}">
                <a16:creationId xmlns:a16="http://schemas.microsoft.com/office/drawing/2014/main" id="{6BB1964A-EEF4-7C34-0A53-E047F165559A}"/>
              </a:ext>
            </a:extLst>
          </p:cNvPr>
          <p:cNvPicPr>
            <a:picLocks noChangeAspect="1"/>
          </p:cNvPicPr>
          <p:nvPr userDrawn="1"/>
        </p:nvPicPr>
        <p:blipFill rotWithShape="1">
          <a:blip r:embed="rId2"/>
          <a:srcRect l="48996" r="44914"/>
          <a:stretch/>
        </p:blipFill>
        <p:spPr>
          <a:xfrm flipH="1">
            <a:off x="2959" y="5629"/>
            <a:ext cx="835241" cy="6858000"/>
          </a:xfrm>
          <a:prstGeom prst="rect">
            <a:avLst/>
          </a:prstGeom>
        </p:spPr>
      </p:pic>
      <p:pic>
        <p:nvPicPr>
          <p:cNvPr id="10" name="Рисунок 9">
            <a:extLst>
              <a:ext uri="{FF2B5EF4-FFF2-40B4-BE49-F238E27FC236}">
                <a16:creationId xmlns:a16="http://schemas.microsoft.com/office/drawing/2014/main" id="{54B8041D-61A8-6E8D-B1A0-9F40D3F9F172}"/>
              </a:ext>
            </a:extLst>
          </p:cNvPr>
          <p:cNvPicPr>
            <a:picLocks noChangeAspect="1"/>
          </p:cNvPicPr>
          <p:nvPr userDrawn="1"/>
        </p:nvPicPr>
        <p:blipFill>
          <a:blip r:embed="rId3"/>
          <a:stretch>
            <a:fillRect/>
          </a:stretch>
        </p:blipFill>
        <p:spPr>
          <a:xfrm>
            <a:off x="49104" y="478053"/>
            <a:ext cx="742950" cy="714375"/>
          </a:xfrm>
          <a:prstGeom prst="rect">
            <a:avLst/>
          </a:prstGeom>
        </p:spPr>
      </p:pic>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0BF58049-EBA6-6666-4932-E3FF1741EF9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149715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CE93EA5A-1AE2-458D-9AE6-FF6025E0C491}" type="datetime1">
              <a:rPr lang="en-US" smtClean="0"/>
              <a:t>11/25/2025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408622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B970C53A-BD8C-4CF4-B47F-135838B79B0F}" type="datetime1">
              <a:rPr lang="en-US" smtClean="0"/>
              <a:t>11/25/2025</a:t>
            </a:fld>
            <a:endParaRPr lang="en-US" dirty="0"/>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8163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2D78A838-72D8-44E7-9178-64A7CE5C804D}" type="datetime1">
              <a:rPr lang="en-US" smtClean="0"/>
              <a:t>11/25/2025</a:t>
            </a:fld>
            <a:endParaRPr lang="en-US" dirty="0"/>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ru-RU"/>
              <a:t>© Д.В.Кубраков, 2023</a:t>
            </a:r>
            <a:endParaRPr lang="en-US" dirty="0"/>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8986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D5F827D9-E4EA-4EB0-8ED6-C829077BE1AC}" type="datetime1">
              <a:rPr lang="en-US" smtClean="0"/>
              <a:t>11/25/2025</a:t>
            </a:fld>
            <a:endParaRPr lang="en-US" dirty="0"/>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ru-RU"/>
              <a:t>© Д.В.Кубраков, 2023</a:t>
            </a:r>
            <a:endParaRPr lang="en-US" dirty="0"/>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84137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FCEABFE2-EF3F-417A-903C-9A93937A9246}" type="datetime1">
              <a:rPr lang="en-US" smtClean="0"/>
              <a:t>11/25/2025</a:t>
            </a:fld>
            <a:endParaRPr lang="en-US" dirty="0"/>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ru-RU"/>
              <a:t>© Д.В.Кубраков, 2023</a:t>
            </a:r>
            <a:endParaRPr lang="en-US" dirty="0"/>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237991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19AE38BA-0E5D-4FC3-AC73-BA0F12FAEDF1}" type="datetime1">
              <a:rPr lang="en-US" smtClean="0"/>
              <a:t>11/25/2025</a:t>
            </a:fld>
            <a:endParaRPr lang="en-US" dirty="0"/>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22774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41AE0786-E990-492E-AE6E-66BD6C6E2D32}" type="datetime1">
              <a:rPr lang="en-US" smtClean="0"/>
              <a:t>11/25/2025</a:t>
            </a:fld>
            <a:endParaRPr lang="en-US" dirty="0"/>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16176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1C5AB7EE-B52D-4FD2-A1CD-223903584E4A}" type="datetime1">
              <a:rPr lang="en-US" smtClean="0"/>
              <a:t>11/25/2025</a:t>
            </a:fld>
            <a:endParaRPr lang="en-US" dirty="0"/>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12457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C6CDFF47-8CB5-4F0A-88AE-CAE1CC8C1576}" type="datetime1">
              <a:rPr lang="en-US" smtClean="0"/>
              <a:t>11/25/2025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55236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0347780B-8D62-4CAC-B30D-4811E6CDB64A}" type="datetime1">
              <a:rPr lang="en-US" smtClean="0"/>
              <a:t>11/25/2025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kern="0" cap="none" spc="0" baseline="0">
                <a:solidFill>
                  <a:schemeClr val="tx1">
                    <a:tint val="75000"/>
                  </a:schemeClr>
                </a:solidFill>
              </a:defRPr>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2400" cap="all" spc="150" baseline="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7" name="Picture 3">
            <a:extLst>
              <a:ext uri="{FF2B5EF4-FFF2-40B4-BE49-F238E27FC236}">
                <a16:creationId xmlns:a16="http://schemas.microsoft.com/office/drawing/2014/main" id="{F01306B9-4B5A-554A-3E05-3740307511D3}"/>
              </a:ext>
            </a:extLst>
          </p:cNvPr>
          <p:cNvPicPr>
            <a:picLocks noChangeAspect="1"/>
          </p:cNvPicPr>
          <p:nvPr userDrawn="1"/>
        </p:nvPicPr>
        <p:blipFill rotWithShape="1">
          <a:blip r:embed="rId13"/>
          <a:srcRect l="48996" r="44914"/>
          <a:stretch/>
        </p:blipFill>
        <p:spPr>
          <a:xfrm flipH="1">
            <a:off x="2959" y="5629"/>
            <a:ext cx="835241" cy="6858000"/>
          </a:xfrm>
          <a:prstGeom prst="rect">
            <a:avLst/>
          </a:prstGeom>
        </p:spPr>
      </p:pic>
      <p:pic>
        <p:nvPicPr>
          <p:cNvPr id="8" name="Рисунок 7">
            <a:extLst>
              <a:ext uri="{FF2B5EF4-FFF2-40B4-BE49-F238E27FC236}">
                <a16:creationId xmlns:a16="http://schemas.microsoft.com/office/drawing/2014/main" id="{46460162-D4D7-727E-4087-A21E1BC61EA2}"/>
              </a:ext>
            </a:extLst>
          </p:cNvPr>
          <p:cNvPicPr>
            <a:picLocks noChangeAspect="1"/>
          </p:cNvPicPr>
          <p:nvPr userDrawn="1"/>
        </p:nvPicPr>
        <p:blipFill>
          <a:blip r:embed="rId14"/>
          <a:stretch>
            <a:fillRect/>
          </a:stretch>
        </p:blipFill>
        <p:spPr>
          <a:xfrm>
            <a:off x="49104" y="478053"/>
            <a:ext cx="742950" cy="714375"/>
          </a:xfrm>
          <a:prstGeom prst="rect">
            <a:avLst/>
          </a:prstGeom>
        </p:spPr>
      </p:pic>
      <p:pic>
        <p:nvPicPr>
          <p:cNvPr id="9" name="Рисунок 8" descr="Изображение выглядит как текст&#10;&#10;Автоматически созданное описание">
            <a:extLst>
              <a:ext uri="{FF2B5EF4-FFF2-40B4-BE49-F238E27FC236}">
                <a16:creationId xmlns:a16="http://schemas.microsoft.com/office/drawing/2014/main" id="{5C66A050-02AF-9111-FA5E-72472BBA9342}"/>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96281769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dt="0"/>
  <p:txStyles>
    <p:titleStyle>
      <a:lvl1pPr algn="l" defTabSz="914400" rtl="0" eaLnBrk="1" latinLnBrk="0" hangingPunct="1">
        <a:lnSpc>
          <a:spcPct val="90000"/>
        </a:lnSpc>
        <a:spcBef>
          <a:spcPct val="0"/>
        </a:spcBef>
        <a:buNone/>
        <a:defRPr sz="4000" kern="1200">
          <a:solidFill>
            <a:srgbClr val="0070C0"/>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Arial Narrow" panose="020B060602020203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Arial Narrow" panose="020B060602020203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Arial Narrow" panose="020B060602020203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Arial Narrow" panose="020B060602020203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Arial Narrow" panose="020B0606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dvkubrakov@yandex.ru"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11" name="Rectangle 10">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sp useBgFill="1">
        <p:nvSpPr>
          <p:cNvPr id="13" name="Oval 12">
            <a:extLst>
              <a:ext uri="{FF2B5EF4-FFF2-40B4-BE49-F238E27FC236}">
                <a16:creationId xmlns:a16="http://schemas.microsoft.com/office/drawing/2014/main" id="{D4ABA013-0939-4293-B39F-3B85576FB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22250" y="1219200"/>
            <a:ext cx="373689" cy="373689"/>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5" name="Graphic 10">
            <a:extLst>
              <a:ext uri="{FF2B5EF4-FFF2-40B4-BE49-F238E27FC236}">
                <a16:creationId xmlns:a16="http://schemas.microsoft.com/office/drawing/2014/main" id="{51E206C0-387B-4108-8BD3-D98A4DA7E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5890" y="28456"/>
            <a:ext cx="1977027" cy="197702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p:nvSpPr>
          <p:cNvPr id="2" name="Заголовок 1">
            <a:extLst>
              <a:ext uri="{FF2B5EF4-FFF2-40B4-BE49-F238E27FC236}">
                <a16:creationId xmlns:a16="http://schemas.microsoft.com/office/drawing/2014/main" id="{A2887982-DD03-CD60-C60E-D06357F4012D}"/>
              </a:ext>
            </a:extLst>
          </p:cNvPr>
          <p:cNvSpPr>
            <a:spLocks noGrp="1"/>
          </p:cNvSpPr>
          <p:nvPr>
            <p:ph type="ctrTitle"/>
          </p:nvPr>
        </p:nvSpPr>
        <p:spPr>
          <a:xfrm>
            <a:off x="485634" y="1181668"/>
            <a:ext cx="6332586" cy="3184274"/>
          </a:xfrm>
        </p:spPr>
        <p:txBody>
          <a:bodyPr anchor="b">
            <a:noAutofit/>
          </a:bodyPr>
          <a:lstStyle/>
          <a:p>
            <a:pPr algn="l"/>
            <a:r>
              <a:rPr lang="ru-RU" dirty="0"/>
              <a:t>Программная инженерия</a:t>
            </a:r>
          </a:p>
        </p:txBody>
      </p:sp>
      <p:sp>
        <p:nvSpPr>
          <p:cNvPr id="3" name="Подзаголовок 2">
            <a:extLst>
              <a:ext uri="{FF2B5EF4-FFF2-40B4-BE49-F238E27FC236}">
                <a16:creationId xmlns:a16="http://schemas.microsoft.com/office/drawing/2014/main" id="{2CAAB4E2-8F8F-A87E-1CD0-D82B1A4E6862}"/>
              </a:ext>
            </a:extLst>
          </p:cNvPr>
          <p:cNvSpPr>
            <a:spLocks noGrp="1"/>
          </p:cNvSpPr>
          <p:nvPr>
            <p:ph type="subTitle" idx="1"/>
          </p:nvPr>
        </p:nvSpPr>
        <p:spPr>
          <a:xfrm>
            <a:off x="452753" y="4524807"/>
            <a:ext cx="6353035" cy="1495379"/>
          </a:xfrm>
        </p:spPr>
        <p:txBody>
          <a:bodyPr>
            <a:normAutofit/>
          </a:bodyPr>
          <a:lstStyle/>
          <a:p>
            <a:pPr algn="l"/>
            <a:r>
              <a:rPr lang="ru-RU" sz="2200" dirty="0"/>
              <a:t>Дмитрий Владимирович </a:t>
            </a:r>
            <a:r>
              <a:rPr lang="ru-RU" sz="2200" dirty="0" err="1"/>
              <a:t>Кубраков</a:t>
            </a:r>
            <a:br>
              <a:rPr lang="ru-RU" sz="2200" dirty="0"/>
            </a:br>
            <a:r>
              <a:rPr lang="en-US" sz="2200" dirty="0">
                <a:hlinkClick r:id="rId2"/>
              </a:rPr>
              <a:t>dvkubrakov@yandex.ru</a:t>
            </a:r>
            <a:br>
              <a:rPr lang="ru-RU" sz="2200" dirty="0"/>
            </a:br>
            <a:endParaRPr lang="ru-RU" sz="2200" dirty="0"/>
          </a:p>
        </p:txBody>
      </p:sp>
      <p:pic>
        <p:nvPicPr>
          <p:cNvPr id="4" name="Picture 3">
            <a:extLst>
              <a:ext uri="{FF2B5EF4-FFF2-40B4-BE49-F238E27FC236}">
                <a16:creationId xmlns:a16="http://schemas.microsoft.com/office/drawing/2014/main" id="{CCD81D93-1CCB-D99A-90E3-80BEE3ED79C8}"/>
              </a:ext>
            </a:extLst>
          </p:cNvPr>
          <p:cNvPicPr>
            <a:picLocks noChangeAspect="1"/>
          </p:cNvPicPr>
          <p:nvPr/>
        </p:nvPicPr>
        <p:blipFill rotWithShape="1">
          <a:blip r:embed="rId3"/>
          <a:srcRect l="29052" r="35580"/>
          <a:stretch/>
        </p:blipFill>
        <p:spPr>
          <a:xfrm>
            <a:off x="7330303" y="1"/>
            <a:ext cx="4851171" cy="6858000"/>
          </a:xfrm>
          <a:prstGeom prst="rect">
            <a:avLst/>
          </a:prstGeom>
        </p:spPr>
      </p:pic>
      <p:sp useBgFill="1">
        <p:nvSpPr>
          <p:cNvPr id="17" name="Graphic 10">
            <a:extLst>
              <a:ext uri="{FF2B5EF4-FFF2-40B4-BE49-F238E27FC236}">
                <a16:creationId xmlns:a16="http://schemas.microsoft.com/office/drawing/2014/main" id="{74A68384-D945-4F45-B9FB-C5A00DCC9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967314" y="5207478"/>
            <a:ext cx="719888" cy="71988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pic>
        <p:nvPicPr>
          <p:cNvPr id="6" name="Рисунок 5">
            <a:extLst>
              <a:ext uri="{FF2B5EF4-FFF2-40B4-BE49-F238E27FC236}">
                <a16:creationId xmlns:a16="http://schemas.microsoft.com/office/drawing/2014/main" id="{2B147AE8-D193-9BCD-E6F6-8537542F2BF9}"/>
              </a:ext>
            </a:extLst>
          </p:cNvPr>
          <p:cNvPicPr>
            <a:picLocks noChangeAspect="1"/>
          </p:cNvPicPr>
          <p:nvPr/>
        </p:nvPicPr>
        <p:blipFill>
          <a:blip r:embed="rId4"/>
          <a:stretch>
            <a:fillRect/>
          </a:stretch>
        </p:blipFill>
        <p:spPr>
          <a:xfrm>
            <a:off x="728314" y="570040"/>
            <a:ext cx="742950" cy="714375"/>
          </a:xfrm>
          <a:prstGeom prst="rect">
            <a:avLst/>
          </a:prstGeom>
        </p:spPr>
      </p:pic>
    </p:spTree>
    <p:extLst>
      <p:ext uri="{BB962C8B-B14F-4D97-AF65-F5344CB8AC3E}">
        <p14:creationId xmlns:p14="http://schemas.microsoft.com/office/powerpoint/2010/main" val="425550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84207" y="92075"/>
            <a:ext cx="11353800" cy="1414672"/>
          </a:xfrm>
        </p:spPr>
        <p:txBody>
          <a:bodyPr>
            <a:normAutofit fontScale="90000"/>
          </a:bodyPr>
          <a:lstStyle/>
          <a:p>
            <a:r>
              <a:rPr lang="ru-RU" sz="6000" dirty="0"/>
              <a:t>Тема 5: Тестирование программного обеспечения</a:t>
            </a:r>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2</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42612" y="2073377"/>
            <a:ext cx="10965168" cy="4019284"/>
          </a:xfrm>
        </p:spPr>
        <p:txBody>
          <a:bodyPr>
            <a:normAutofit/>
          </a:bodyPr>
          <a:lstStyle/>
          <a:p>
            <a:r>
              <a:rPr lang="ru-RU" sz="3200" dirty="0"/>
              <a:t>Основы тестирования (</a:t>
            </a:r>
            <a:r>
              <a:rPr lang="en-GB" sz="3200" dirty="0"/>
              <a:t>Software Testing Fundamentals)</a:t>
            </a:r>
            <a:endParaRPr lang="ru-RU" sz="3200" dirty="0"/>
          </a:p>
          <a:p>
            <a:r>
              <a:rPr lang="ru-RU" sz="3200" dirty="0"/>
              <a:t>Уровни тестирования (</a:t>
            </a:r>
            <a:r>
              <a:rPr lang="en-GB" sz="3200" dirty="0"/>
              <a:t>Test Levels)</a:t>
            </a:r>
            <a:endParaRPr lang="ru-RU" sz="3200" dirty="0"/>
          </a:p>
          <a:p>
            <a:r>
              <a:rPr lang="ru-RU" sz="3200" dirty="0"/>
              <a:t>Техники тестирования (</a:t>
            </a:r>
            <a:r>
              <a:rPr lang="en-GB" sz="3200" dirty="0"/>
              <a:t>Test Techniques)</a:t>
            </a:r>
            <a:endParaRPr lang="ru-RU" sz="3200" dirty="0"/>
          </a:p>
          <a:p>
            <a:r>
              <a:rPr lang="ru-RU" sz="3200" dirty="0"/>
              <a:t>Измерение результатов тестирования (Test-</a:t>
            </a:r>
            <a:r>
              <a:rPr lang="ru-RU" sz="3200" dirty="0" err="1"/>
              <a:t>related</a:t>
            </a:r>
            <a:r>
              <a:rPr lang="ru-RU" sz="3200" dirty="0"/>
              <a:t> </a:t>
            </a:r>
            <a:r>
              <a:rPr lang="ru-RU" sz="3200" dirty="0" err="1"/>
              <a:t>measures</a:t>
            </a:r>
            <a:r>
              <a:rPr lang="ru-RU" sz="3200" dirty="0"/>
              <a:t>)</a:t>
            </a:r>
          </a:p>
          <a:p>
            <a:r>
              <a:rPr lang="ru-RU" sz="3200" dirty="0"/>
              <a:t>Процесс тестирования (</a:t>
            </a:r>
            <a:r>
              <a:rPr lang="en-GB" sz="3200" dirty="0"/>
              <a:t>Test Process)</a:t>
            </a:r>
            <a:endParaRPr lang="ru-RU" sz="3200" dirty="0"/>
          </a:p>
          <a:p>
            <a:endParaRPr lang="ru-RU" sz="3200" dirty="0"/>
          </a:p>
        </p:txBody>
      </p:sp>
    </p:spTree>
    <p:extLst>
      <p:ext uri="{BB962C8B-B14F-4D97-AF65-F5344CB8AC3E}">
        <p14:creationId xmlns:p14="http://schemas.microsoft.com/office/powerpoint/2010/main" val="3329347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Место тестирования программного обеспечения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3</a:t>
            </a:fld>
            <a:endParaRPr lang="en-US" dirty="0"/>
          </a:p>
        </p:txBody>
      </p:sp>
      <p:sp>
        <p:nvSpPr>
          <p:cNvPr id="11" name="Объект 10">
            <a:extLst>
              <a:ext uri="{FF2B5EF4-FFF2-40B4-BE49-F238E27FC236}">
                <a16:creationId xmlns:a16="http://schemas.microsoft.com/office/drawing/2014/main" id="{2FD9986B-08C9-43B4-AD92-08B85B4656A3}"/>
              </a:ext>
            </a:extLst>
          </p:cNvPr>
          <p:cNvSpPr>
            <a:spLocks noGrp="1"/>
          </p:cNvSpPr>
          <p:nvPr>
            <p:ph idx="1"/>
          </p:nvPr>
        </p:nvSpPr>
        <p:spPr>
          <a:xfrm>
            <a:off x="11353800" y="286813"/>
            <a:ext cx="669159" cy="4334985"/>
          </a:xfrm>
        </p:spPr>
        <p:txBody>
          <a:bodyPr>
            <a:normAutofit/>
          </a:bodyPr>
          <a:lstStyle/>
          <a:p>
            <a:r>
              <a:rPr lang="ru-RU" sz="800" dirty="0"/>
              <a:t>1</a:t>
            </a:r>
          </a:p>
        </p:txBody>
      </p:sp>
      <p:pic>
        <p:nvPicPr>
          <p:cNvPr id="7" name="Рисунок 6">
            <a:extLst>
              <a:ext uri="{FF2B5EF4-FFF2-40B4-BE49-F238E27FC236}">
                <a16:creationId xmlns:a16="http://schemas.microsoft.com/office/drawing/2014/main" id="{43DA3B24-43B4-44C1-B313-CE5EC1FC3EC5}"/>
              </a:ext>
            </a:extLst>
          </p:cNvPr>
          <p:cNvPicPr>
            <a:picLocks noChangeAspect="1"/>
          </p:cNvPicPr>
          <p:nvPr/>
        </p:nvPicPr>
        <p:blipFill>
          <a:blip r:embed="rId2"/>
          <a:stretch>
            <a:fillRect/>
          </a:stretch>
        </p:blipFill>
        <p:spPr>
          <a:xfrm>
            <a:off x="1022123" y="547191"/>
            <a:ext cx="9451068" cy="6027989"/>
          </a:xfrm>
          <a:prstGeom prst="rect">
            <a:avLst/>
          </a:prstGeom>
        </p:spPr>
      </p:pic>
    </p:spTree>
    <p:extLst>
      <p:ext uri="{BB962C8B-B14F-4D97-AF65-F5344CB8AC3E}">
        <p14:creationId xmlns:p14="http://schemas.microsoft.com/office/powerpoint/2010/main" val="254530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Определение тестирования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4</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41983" y="1217055"/>
            <a:ext cx="10515600" cy="5640945"/>
          </a:xfrm>
        </p:spPr>
        <p:txBody>
          <a:bodyPr>
            <a:normAutofit/>
          </a:bodyPr>
          <a:lstStyle/>
          <a:p>
            <a:r>
              <a:rPr lang="ru-RU" b="1" dirty="0"/>
              <a:t>Тестирование (</a:t>
            </a:r>
            <a:r>
              <a:rPr lang="ru-RU" b="1" dirty="0" err="1"/>
              <a:t>software</a:t>
            </a:r>
            <a:r>
              <a:rPr lang="ru-RU" b="1" dirty="0"/>
              <a:t> </a:t>
            </a:r>
            <a:r>
              <a:rPr lang="ru-RU" b="1" dirty="0" err="1"/>
              <a:t>testing</a:t>
            </a:r>
            <a:r>
              <a:rPr lang="ru-RU" b="1" dirty="0"/>
              <a:t>) – деятельность, выполняемая для оценки и улучшения качества программного обеспечения. Эта деятельность, в общем случае, базируется на обнаружении дефектов и проблем в программных системах.</a:t>
            </a:r>
          </a:p>
          <a:p>
            <a:endParaRPr lang="ru-RU" b="1" dirty="0"/>
          </a:p>
          <a:p>
            <a:r>
              <a:rPr lang="ru-RU" dirty="0"/>
              <a:t>Тестирование программных систем состоит </a:t>
            </a:r>
            <a:r>
              <a:rPr lang="ru-RU" b="1" dirty="0"/>
              <a:t>из динамической верификации поведения программ на конечном (ограниченном) наборе тестов</a:t>
            </a:r>
            <a:r>
              <a:rPr lang="ru-RU" dirty="0"/>
              <a:t> (</a:t>
            </a:r>
            <a:r>
              <a:rPr lang="ru-RU" dirty="0" err="1"/>
              <a:t>set</a:t>
            </a:r>
            <a:r>
              <a:rPr lang="ru-RU" dirty="0"/>
              <a:t> </a:t>
            </a:r>
            <a:r>
              <a:rPr lang="ru-RU" dirty="0" err="1"/>
              <a:t>of</a:t>
            </a:r>
            <a:r>
              <a:rPr lang="ru-RU" dirty="0"/>
              <a:t> </a:t>
            </a:r>
            <a:r>
              <a:rPr lang="ru-RU" dirty="0" err="1"/>
              <a:t>test</a:t>
            </a:r>
            <a:r>
              <a:rPr lang="ru-RU" dirty="0"/>
              <a:t> </a:t>
            </a:r>
            <a:r>
              <a:rPr lang="ru-RU" dirty="0" err="1"/>
              <a:t>cases</a:t>
            </a:r>
            <a:r>
              <a:rPr lang="ru-RU" dirty="0"/>
              <a:t>), выбранных соответствующим образом из обычно выполняемых действий прикладной области и обеспечивающих проверку соответствия ожидаемому поведению системы.</a:t>
            </a:r>
          </a:p>
        </p:txBody>
      </p:sp>
    </p:spTree>
    <p:extLst>
      <p:ext uri="{BB962C8B-B14F-4D97-AF65-F5344CB8AC3E}">
        <p14:creationId xmlns:p14="http://schemas.microsoft.com/office/powerpoint/2010/main" val="294333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Определяющие основные аспекты</a:t>
            </a:r>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5</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35529" y="723481"/>
            <a:ext cx="11062685" cy="5563724"/>
          </a:xfrm>
        </p:spPr>
        <p:txBody>
          <a:bodyPr>
            <a:normAutofit lnSpcReduction="10000"/>
          </a:bodyPr>
          <a:lstStyle/>
          <a:p>
            <a:pPr indent="450215" algn="just">
              <a:lnSpc>
                <a:spcPct val="102000"/>
              </a:lnSpc>
              <a:spcBef>
                <a:spcPts val="0"/>
              </a:spcBef>
            </a:pPr>
            <a:r>
              <a:rPr lang="ru-RU" sz="2400" b="1" dirty="0">
                <a:solidFill>
                  <a:srgbClr val="000000"/>
                </a:solidFill>
                <a:effectLst/>
                <a:ea typeface="Times New Roman" panose="02020603050405020304" pitchFamily="18" charset="0"/>
              </a:rPr>
              <a:t>Динамичность (</a:t>
            </a:r>
            <a:r>
              <a:rPr lang="ru-RU" sz="2400" b="1" dirty="0" err="1">
                <a:solidFill>
                  <a:srgbClr val="000000"/>
                </a:solidFill>
                <a:effectLst/>
                <a:ea typeface="Times New Roman" panose="02020603050405020304" pitchFamily="18" charset="0"/>
              </a:rPr>
              <a:t>dynamic</a:t>
            </a:r>
            <a:r>
              <a:rPr lang="ru-RU" sz="2400" b="1" dirty="0">
                <a:solidFill>
                  <a:srgbClr val="000000"/>
                </a:solidFill>
                <a:effectLst/>
                <a:ea typeface="Times New Roman" panose="02020603050405020304" pitchFamily="18" charset="0"/>
              </a:rPr>
              <a:t>): </a:t>
            </a:r>
          </a:p>
          <a:p>
            <a:pPr lvl="1" indent="450215" algn="just">
              <a:lnSpc>
                <a:spcPct val="102000"/>
              </a:lnSpc>
              <a:spcBef>
                <a:spcPts val="0"/>
              </a:spcBef>
            </a:pPr>
            <a:r>
              <a:rPr lang="ru-RU" dirty="0">
                <a:solidFill>
                  <a:srgbClr val="000000"/>
                </a:solidFill>
                <a:effectLst/>
                <a:ea typeface="Times New Roman" panose="02020603050405020304" pitchFamily="18" charset="0"/>
              </a:rPr>
              <a:t>тестирование всегда предполагает выполнение тестируемой программы с заданными входными данными.</a:t>
            </a:r>
          </a:p>
          <a:p>
            <a:pPr indent="450215" algn="just">
              <a:lnSpc>
                <a:spcPct val="102000"/>
              </a:lnSpc>
              <a:spcBef>
                <a:spcPts val="0"/>
              </a:spcBef>
            </a:pPr>
            <a:r>
              <a:rPr lang="ru-RU" sz="2400" b="1" dirty="0">
                <a:solidFill>
                  <a:srgbClr val="000000"/>
                </a:solidFill>
                <a:effectLst/>
                <a:ea typeface="Times New Roman" panose="02020603050405020304" pitchFamily="18" charset="0"/>
              </a:rPr>
              <a:t>Конечность (ограниченность, </a:t>
            </a:r>
            <a:r>
              <a:rPr lang="ru-RU" sz="2400" b="1" dirty="0" err="1">
                <a:solidFill>
                  <a:srgbClr val="000000"/>
                </a:solidFill>
                <a:effectLst/>
                <a:ea typeface="Times New Roman" panose="02020603050405020304" pitchFamily="18" charset="0"/>
              </a:rPr>
              <a:t>finite</a:t>
            </a:r>
            <a:r>
              <a:rPr lang="ru-RU" sz="2400" b="1" dirty="0">
                <a:solidFill>
                  <a:srgbClr val="000000"/>
                </a:solidFill>
                <a:effectLst/>
                <a:ea typeface="Times New Roman" panose="02020603050405020304" pitchFamily="18" charset="0"/>
              </a:rPr>
              <a:t>): </a:t>
            </a:r>
            <a:endParaRPr lang="ru-RU" sz="2400" dirty="0">
              <a:solidFill>
                <a:srgbClr val="000000"/>
              </a:solidFill>
              <a:effectLst/>
              <a:ea typeface="Times New Roman" panose="02020603050405020304" pitchFamily="18" charset="0"/>
            </a:endParaRPr>
          </a:p>
          <a:p>
            <a:pPr lvl="1" indent="450215" algn="just">
              <a:lnSpc>
                <a:spcPct val="102000"/>
              </a:lnSpc>
              <a:spcBef>
                <a:spcPts val="0"/>
              </a:spcBef>
            </a:pPr>
            <a:r>
              <a:rPr lang="ru-RU" dirty="0">
                <a:solidFill>
                  <a:srgbClr val="000000"/>
                </a:solidFill>
                <a:effectLst/>
                <a:ea typeface="Times New Roman" panose="02020603050405020304" pitchFamily="18" charset="0"/>
              </a:rPr>
              <a:t>Тестирование всегда предполагает компромисс между ограниченными ресурсами и заданными сроками, с одной стороны, и практически неограниченными требованиями по тестированию, с другой. </a:t>
            </a:r>
          </a:p>
          <a:p>
            <a:pPr indent="450215" algn="just">
              <a:lnSpc>
                <a:spcPct val="102000"/>
              </a:lnSpc>
              <a:spcBef>
                <a:spcPts val="0"/>
              </a:spcBef>
            </a:pPr>
            <a:r>
              <a:rPr lang="ru-RU" sz="2400" b="1" dirty="0">
                <a:solidFill>
                  <a:srgbClr val="000000"/>
                </a:solidFill>
                <a:effectLst/>
                <a:ea typeface="Times New Roman" panose="02020603050405020304" pitchFamily="18" charset="0"/>
              </a:rPr>
              <a:t>Выбор (</a:t>
            </a:r>
            <a:r>
              <a:rPr lang="ru-RU" sz="2400" b="1" dirty="0" err="1">
                <a:solidFill>
                  <a:srgbClr val="000000"/>
                </a:solidFill>
                <a:effectLst/>
                <a:ea typeface="Times New Roman" panose="02020603050405020304" pitchFamily="18" charset="0"/>
              </a:rPr>
              <a:t>selection</a:t>
            </a:r>
            <a:r>
              <a:rPr lang="ru-RU" sz="2400" b="1" dirty="0">
                <a:solidFill>
                  <a:srgbClr val="000000"/>
                </a:solidFill>
                <a:effectLst/>
                <a:ea typeface="Times New Roman" panose="02020603050405020304" pitchFamily="18" charset="0"/>
              </a:rPr>
              <a:t>): </a:t>
            </a:r>
          </a:p>
          <a:p>
            <a:pPr lvl="1" indent="450215" algn="just">
              <a:lnSpc>
                <a:spcPct val="102000"/>
              </a:lnSpc>
              <a:spcBef>
                <a:spcPts val="0"/>
              </a:spcBef>
            </a:pPr>
            <a:r>
              <a:rPr lang="ru-RU" dirty="0">
                <a:solidFill>
                  <a:srgbClr val="000000"/>
                </a:solidFill>
                <a:effectLst/>
                <a:ea typeface="Times New Roman" panose="02020603050405020304" pitchFamily="18" charset="0"/>
              </a:rPr>
              <a:t>для выбора соответствующих тестов совместно </a:t>
            </a:r>
            <a:r>
              <a:rPr lang="ru-RU" b="1" dirty="0">
                <a:solidFill>
                  <a:srgbClr val="000000"/>
                </a:solidFill>
                <a:effectLst/>
                <a:ea typeface="Times New Roman" panose="02020603050405020304" pitchFamily="18" charset="0"/>
              </a:rPr>
              <a:t>применяют техники анализа рисков, анализ требований и </a:t>
            </a:r>
            <a:r>
              <a:rPr lang="ru-RU" dirty="0">
                <a:solidFill>
                  <a:srgbClr val="000000"/>
                </a:solidFill>
                <a:effectLst/>
                <a:ea typeface="Times New Roman" panose="02020603050405020304" pitchFamily="18" charset="0"/>
              </a:rPr>
              <a:t>соответствующую </a:t>
            </a:r>
            <a:r>
              <a:rPr lang="ru-RU" b="1" dirty="0">
                <a:solidFill>
                  <a:srgbClr val="000000"/>
                </a:solidFill>
                <a:effectLst/>
                <a:ea typeface="Times New Roman" panose="02020603050405020304" pitchFamily="18" charset="0"/>
              </a:rPr>
              <a:t>экспертизу в области тестирования и заданной прикладной области</a:t>
            </a:r>
            <a:r>
              <a:rPr lang="ru-RU" dirty="0">
                <a:solidFill>
                  <a:srgbClr val="000000"/>
                </a:solidFill>
                <a:effectLst/>
                <a:ea typeface="Times New Roman" panose="02020603050405020304" pitchFamily="18" charset="0"/>
              </a:rPr>
              <a:t>.</a:t>
            </a:r>
          </a:p>
          <a:p>
            <a:pPr indent="450215" algn="just">
              <a:lnSpc>
                <a:spcPct val="102000"/>
              </a:lnSpc>
              <a:spcBef>
                <a:spcPts val="0"/>
              </a:spcBef>
            </a:pPr>
            <a:r>
              <a:rPr lang="ru-RU" sz="2400" b="1" dirty="0">
                <a:solidFill>
                  <a:srgbClr val="000000"/>
                </a:solidFill>
                <a:effectLst/>
                <a:ea typeface="Times New Roman" panose="02020603050405020304" pitchFamily="18" charset="0"/>
              </a:rPr>
              <a:t>Ожидаемое поведение (</a:t>
            </a:r>
            <a:r>
              <a:rPr lang="ru-RU" sz="2400" b="1" dirty="0" err="1">
                <a:solidFill>
                  <a:srgbClr val="000000"/>
                </a:solidFill>
                <a:effectLst/>
                <a:ea typeface="Times New Roman" panose="02020603050405020304" pitchFamily="18" charset="0"/>
              </a:rPr>
              <a:t>expected</a:t>
            </a:r>
            <a:r>
              <a:rPr lang="ru-RU" sz="2400" b="1" dirty="0">
                <a:solidFill>
                  <a:srgbClr val="000000"/>
                </a:solidFill>
                <a:effectLst/>
                <a:ea typeface="Times New Roman" panose="02020603050405020304" pitchFamily="18" charset="0"/>
              </a:rPr>
              <a:t> </a:t>
            </a:r>
            <a:r>
              <a:rPr lang="ru-RU" sz="2400" b="1" dirty="0" err="1">
                <a:solidFill>
                  <a:srgbClr val="000000"/>
                </a:solidFill>
                <a:effectLst/>
                <a:ea typeface="Times New Roman" panose="02020603050405020304" pitchFamily="18" charset="0"/>
              </a:rPr>
              <a:t>behavior</a:t>
            </a:r>
            <a:r>
              <a:rPr lang="ru-RU" sz="2400" b="1" dirty="0">
                <a:solidFill>
                  <a:srgbClr val="000000"/>
                </a:solidFill>
                <a:effectLst/>
                <a:ea typeface="Times New Roman" panose="02020603050405020304" pitchFamily="18" charset="0"/>
              </a:rPr>
              <a:t>):</a:t>
            </a:r>
            <a:r>
              <a:rPr lang="ru-RU" sz="2400" dirty="0">
                <a:solidFill>
                  <a:srgbClr val="000000"/>
                </a:solidFill>
                <a:effectLst/>
                <a:ea typeface="Times New Roman" panose="02020603050405020304" pitchFamily="18" charset="0"/>
              </a:rPr>
              <a:t> </a:t>
            </a:r>
          </a:p>
          <a:p>
            <a:pPr lvl="1" indent="450215" algn="just">
              <a:lnSpc>
                <a:spcPct val="102000"/>
              </a:lnSpc>
              <a:spcBef>
                <a:spcPts val="0"/>
              </a:spcBef>
            </a:pPr>
            <a:r>
              <a:rPr lang="ru-RU" dirty="0">
                <a:solidFill>
                  <a:srgbClr val="000000"/>
                </a:solidFill>
                <a:effectLst/>
                <a:ea typeface="Times New Roman" panose="02020603050405020304" pitchFamily="18" charset="0"/>
              </a:rPr>
              <a:t>Наблюдаемое поведение - пользовательских ожиданий, спецификации, предсказанного поведения на основе неявных требований или обоснованных ожиданий. </a:t>
            </a:r>
            <a:endParaRPr lang="ru-RU" dirty="0"/>
          </a:p>
        </p:txBody>
      </p:sp>
    </p:spTree>
    <p:extLst>
      <p:ext uri="{BB962C8B-B14F-4D97-AF65-F5344CB8AC3E}">
        <p14:creationId xmlns:p14="http://schemas.microsoft.com/office/powerpoint/2010/main" val="479745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EA4F7ADA-6D3E-474C-AD65-DC376D5AA410}"/>
              </a:ext>
            </a:extLst>
          </p:cNvPr>
          <p:cNvPicPr>
            <a:picLocks noChangeAspect="1"/>
          </p:cNvPicPr>
          <p:nvPr/>
        </p:nvPicPr>
        <p:blipFill>
          <a:blip r:embed="rId2"/>
          <a:stretch>
            <a:fillRect/>
          </a:stretch>
        </p:blipFill>
        <p:spPr>
          <a:xfrm>
            <a:off x="955017" y="522623"/>
            <a:ext cx="10723720" cy="6243302"/>
          </a:xfrm>
          <a:prstGeom prst="rect">
            <a:avLst/>
          </a:prstGeom>
        </p:spPr>
      </p:pic>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51340"/>
            <a:ext cx="11353800" cy="560493"/>
          </a:xfrm>
        </p:spPr>
        <p:txBody>
          <a:bodyPr>
            <a:normAutofit/>
          </a:bodyPr>
          <a:lstStyle/>
          <a:p>
            <a:r>
              <a:rPr lang="ru-RU" sz="2800" dirty="0"/>
              <a:t>Объем понятия тестирования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6</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1"/>
            <a:ext cx="10515600" cy="4019284"/>
          </a:xfrm>
        </p:spPr>
        <p:txBody>
          <a:bodyPr>
            <a:normAutofit/>
          </a:bodyPr>
          <a:lstStyle/>
          <a:p>
            <a:endParaRPr lang="ru-RU" dirty="0"/>
          </a:p>
          <a:p>
            <a:endParaRPr lang="ru-RU" dirty="0"/>
          </a:p>
        </p:txBody>
      </p:sp>
    </p:spTree>
    <p:extLst>
      <p:ext uri="{BB962C8B-B14F-4D97-AF65-F5344CB8AC3E}">
        <p14:creationId xmlns:p14="http://schemas.microsoft.com/office/powerpoint/2010/main" val="1685451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Основы тестирования (</a:t>
            </a:r>
            <a:r>
              <a:rPr lang="en-GB" sz="2800" dirty="0"/>
              <a:t>Software Testing Fundamentals)</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7</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35530" y="936703"/>
            <a:ext cx="10515600" cy="5350502"/>
          </a:xfrm>
        </p:spPr>
        <p:txBody>
          <a:bodyPr>
            <a:normAutofit/>
          </a:bodyPr>
          <a:lstStyle/>
          <a:p>
            <a:pPr marL="0" indent="0">
              <a:buNone/>
            </a:pPr>
            <a:r>
              <a:rPr lang="ru-RU" dirty="0"/>
              <a:t>Терминология тестирования (</a:t>
            </a:r>
            <a:r>
              <a:rPr lang="en-GB" dirty="0"/>
              <a:t>Testing-Related Terminology)</a:t>
            </a:r>
            <a:endParaRPr lang="ru-RU" dirty="0"/>
          </a:p>
          <a:p>
            <a:pPr marL="0" indent="0">
              <a:buNone/>
            </a:pPr>
            <a:endParaRPr lang="ru-RU" dirty="0"/>
          </a:p>
          <a:p>
            <a:pPr marL="0" indent="0">
              <a:buNone/>
            </a:pPr>
            <a:r>
              <a:rPr lang="ru-RU" dirty="0"/>
              <a:t>Ключевые вопросы (</a:t>
            </a:r>
            <a:r>
              <a:rPr lang="en-GB" dirty="0"/>
              <a:t>Key Issues)</a:t>
            </a:r>
            <a:endParaRPr lang="ru-RU" dirty="0"/>
          </a:p>
          <a:p>
            <a:pPr marL="0" indent="0">
              <a:buNone/>
            </a:pPr>
            <a:endParaRPr lang="ru-RU" dirty="0"/>
          </a:p>
          <a:p>
            <a:pPr marL="0" indent="0">
              <a:buNone/>
            </a:pPr>
            <a:r>
              <a:rPr lang="ru-RU" dirty="0"/>
              <a:t>Связь тестирования с другой деятельностью (</a:t>
            </a:r>
            <a:r>
              <a:rPr lang="en-GB" dirty="0"/>
              <a:t>Relationships of testing with other activities)</a:t>
            </a:r>
            <a:endParaRPr lang="ru-RU" dirty="0"/>
          </a:p>
        </p:txBody>
      </p:sp>
    </p:spTree>
    <p:extLst>
      <p:ext uri="{BB962C8B-B14F-4D97-AF65-F5344CB8AC3E}">
        <p14:creationId xmlns:p14="http://schemas.microsoft.com/office/powerpoint/2010/main" val="1078930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FA411A-7D38-418A-A8AA-5B5B113B9DCA}"/>
              </a:ext>
            </a:extLst>
          </p:cNvPr>
          <p:cNvSpPr>
            <a:spLocks noGrp="1"/>
          </p:cNvSpPr>
          <p:nvPr>
            <p:ph type="title"/>
          </p:nvPr>
        </p:nvSpPr>
        <p:spPr>
          <a:xfrm>
            <a:off x="888442" y="23167"/>
            <a:ext cx="10515600" cy="1325563"/>
          </a:xfrm>
        </p:spPr>
        <p:txBody>
          <a:bodyPr/>
          <a:lstStyle/>
          <a:p>
            <a:r>
              <a:rPr lang="ru-RU" dirty="0"/>
              <a:t>Терминология тестирования (</a:t>
            </a:r>
            <a:r>
              <a:rPr lang="en-GB" dirty="0"/>
              <a:t>Testing-Related Terminology)</a:t>
            </a:r>
          </a:p>
        </p:txBody>
      </p:sp>
      <p:sp>
        <p:nvSpPr>
          <p:cNvPr id="3" name="Объект 2">
            <a:extLst>
              <a:ext uri="{FF2B5EF4-FFF2-40B4-BE49-F238E27FC236}">
                <a16:creationId xmlns:a16="http://schemas.microsoft.com/office/drawing/2014/main" id="{D2CD9C65-503D-4E6E-AA5F-76D23BFB74C0}"/>
              </a:ext>
            </a:extLst>
          </p:cNvPr>
          <p:cNvSpPr>
            <a:spLocks noGrp="1"/>
          </p:cNvSpPr>
          <p:nvPr>
            <p:ph idx="1"/>
          </p:nvPr>
        </p:nvSpPr>
        <p:spPr>
          <a:xfrm>
            <a:off x="929473" y="1281165"/>
            <a:ext cx="11097566" cy="5119635"/>
          </a:xfrm>
        </p:spPr>
        <p:txBody>
          <a:bodyPr>
            <a:normAutofit fontScale="92500" lnSpcReduction="10000"/>
          </a:bodyPr>
          <a:lstStyle/>
          <a:p>
            <a:r>
              <a:rPr lang="ru-RU" dirty="0"/>
              <a:t>Определение тестирования и связанной терминологии достаточно полно - в </a:t>
            </a:r>
            <a:r>
              <a:rPr lang="ru-RU" b="1" dirty="0"/>
              <a:t>“Глоссарии терминов по программной инженерии” – </a:t>
            </a:r>
            <a:r>
              <a:rPr lang="en-GB" b="1" dirty="0"/>
              <a:t>IEEE Standard 610-90 (Standard Glossary of Software Engineering Terminology)</a:t>
            </a:r>
            <a:r>
              <a:rPr lang="en-GB" dirty="0"/>
              <a:t>.</a:t>
            </a:r>
            <a:endParaRPr lang="ru-RU" dirty="0"/>
          </a:p>
          <a:p>
            <a:r>
              <a:rPr lang="ru-RU" dirty="0"/>
              <a:t>встречается множество терминов, описывающих нарушение функционирования программных систем – недостатки (</a:t>
            </a:r>
            <a:r>
              <a:rPr lang="ru-RU" dirty="0" err="1"/>
              <a:t>faults</a:t>
            </a:r>
            <a:r>
              <a:rPr lang="ru-RU" dirty="0"/>
              <a:t>), дефекты (</a:t>
            </a:r>
            <a:r>
              <a:rPr lang="ru-RU" dirty="0" err="1"/>
              <a:t>defects</a:t>
            </a:r>
            <a:r>
              <a:rPr lang="ru-RU" dirty="0"/>
              <a:t>), сбои (</a:t>
            </a:r>
            <a:r>
              <a:rPr lang="ru-RU" dirty="0" err="1"/>
              <a:t>failures</a:t>
            </a:r>
            <a:r>
              <a:rPr lang="ru-RU" dirty="0"/>
              <a:t>), ошибки (</a:t>
            </a:r>
            <a:r>
              <a:rPr lang="ru-RU" dirty="0" err="1"/>
              <a:t>errors</a:t>
            </a:r>
            <a:r>
              <a:rPr lang="ru-RU" dirty="0"/>
              <a:t>) и др.</a:t>
            </a:r>
          </a:p>
          <a:p>
            <a:r>
              <a:rPr lang="ru-RU" b="1" dirty="0"/>
              <a:t>Важно чётко разделять причину нарушения работы прикладных систем</a:t>
            </a:r>
            <a:r>
              <a:rPr lang="ru-RU" dirty="0"/>
              <a:t>, обычно описываемую терминами недостаток или дефект, и наблюдаемый нежелательный эффект, вызываемый этими причинами – сбой. Термин ошибка, в зависимости от контекста, может описывать и как причину сбоя, и сам сбой. Тестирование позволяет обнаружить дефекты, приводящие к сбоям.</a:t>
            </a:r>
          </a:p>
          <a:p>
            <a:r>
              <a:rPr lang="ru-RU" dirty="0"/>
              <a:t>Необходимо понимать, что </a:t>
            </a:r>
            <a:r>
              <a:rPr lang="ru-RU" b="1" dirty="0"/>
              <a:t>причина сбоя не всегда может быть однозначно определена</a:t>
            </a:r>
            <a:r>
              <a:rPr lang="ru-RU" dirty="0"/>
              <a:t>. Не существует теоретических критериев, позволяющих гарантированно определить какой именно дефект приводит к наблюдаемому сбою.</a:t>
            </a:r>
          </a:p>
          <a:p>
            <a:endParaRPr lang="ru-RU" dirty="0"/>
          </a:p>
        </p:txBody>
      </p:sp>
      <p:sp>
        <p:nvSpPr>
          <p:cNvPr id="4" name="Нижний колонтитул 3">
            <a:extLst>
              <a:ext uri="{FF2B5EF4-FFF2-40B4-BE49-F238E27FC236}">
                <a16:creationId xmlns:a16="http://schemas.microsoft.com/office/drawing/2014/main" id="{0495B050-CE40-49EA-85F8-546A161F3C94}"/>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147C09C4-D97F-4F6F-99EB-D7895DA0BB61}"/>
              </a:ext>
            </a:extLst>
          </p:cNvPr>
          <p:cNvSpPr>
            <a:spLocks noGrp="1"/>
          </p:cNvSpPr>
          <p:nvPr>
            <p:ph type="sldNum" sz="quarter" idx="12"/>
          </p:nvPr>
        </p:nvSpPr>
        <p:spPr/>
        <p:txBody>
          <a:bodyPr/>
          <a:lstStyle/>
          <a:p>
            <a:fld id="{DFA5D71E-5CDF-4C93-8A75-5B916FDC5BEA}" type="slidenum">
              <a:rPr lang="en-US" smtClean="0"/>
              <a:pPr/>
              <a:t>8</a:t>
            </a:fld>
            <a:endParaRPr lang="en-US" dirty="0"/>
          </a:p>
        </p:txBody>
      </p:sp>
    </p:spTree>
    <p:extLst>
      <p:ext uri="{BB962C8B-B14F-4D97-AF65-F5344CB8AC3E}">
        <p14:creationId xmlns:p14="http://schemas.microsoft.com/office/powerpoint/2010/main" val="3564377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FA411A-7D38-418A-A8AA-5B5B113B9DCA}"/>
              </a:ext>
            </a:extLst>
          </p:cNvPr>
          <p:cNvSpPr>
            <a:spLocks noGrp="1"/>
          </p:cNvSpPr>
          <p:nvPr>
            <p:ph type="title"/>
          </p:nvPr>
        </p:nvSpPr>
        <p:spPr>
          <a:xfrm>
            <a:off x="838200" y="1"/>
            <a:ext cx="10515600" cy="582804"/>
          </a:xfrm>
        </p:spPr>
        <p:txBody>
          <a:bodyPr>
            <a:normAutofit fontScale="90000"/>
          </a:bodyPr>
          <a:lstStyle/>
          <a:p>
            <a:r>
              <a:rPr lang="ru-RU" dirty="0"/>
              <a:t>Ключевые вопросы (</a:t>
            </a:r>
            <a:r>
              <a:rPr lang="en-GB" dirty="0"/>
              <a:t>Key Issues)</a:t>
            </a:r>
            <a:endParaRPr lang="ru-RU" dirty="0"/>
          </a:p>
        </p:txBody>
      </p:sp>
      <p:sp>
        <p:nvSpPr>
          <p:cNvPr id="3" name="Объект 2">
            <a:extLst>
              <a:ext uri="{FF2B5EF4-FFF2-40B4-BE49-F238E27FC236}">
                <a16:creationId xmlns:a16="http://schemas.microsoft.com/office/drawing/2014/main" id="{D2CD9C65-503D-4E6E-AA5F-76D23BFB74C0}"/>
              </a:ext>
            </a:extLst>
          </p:cNvPr>
          <p:cNvSpPr>
            <a:spLocks noGrp="1"/>
          </p:cNvSpPr>
          <p:nvPr>
            <p:ph idx="1"/>
          </p:nvPr>
        </p:nvSpPr>
        <p:spPr>
          <a:xfrm>
            <a:off x="753629" y="539436"/>
            <a:ext cx="11428324" cy="6226489"/>
          </a:xfrm>
        </p:spPr>
        <p:txBody>
          <a:bodyPr>
            <a:noAutofit/>
          </a:bodyPr>
          <a:lstStyle/>
          <a:p>
            <a:r>
              <a:rPr lang="ru-RU" dirty="0"/>
              <a:t>Критерии отбора тестов/критерии адекватности тестов, правила прекращения тестирования (Test </a:t>
            </a:r>
            <a:r>
              <a:rPr lang="ru-RU" dirty="0" err="1"/>
              <a:t>selection</a:t>
            </a:r>
            <a:r>
              <a:rPr lang="ru-RU" dirty="0"/>
              <a:t> </a:t>
            </a:r>
            <a:r>
              <a:rPr lang="ru-RU" dirty="0" err="1"/>
              <a:t>criteria</a:t>
            </a:r>
            <a:r>
              <a:rPr lang="ru-RU" dirty="0"/>
              <a:t>/</a:t>
            </a:r>
            <a:r>
              <a:rPr lang="ru-RU" dirty="0" err="1"/>
              <a:t>test</a:t>
            </a:r>
            <a:r>
              <a:rPr lang="ru-RU" dirty="0"/>
              <a:t> </a:t>
            </a:r>
            <a:r>
              <a:rPr lang="ru-RU" dirty="0" err="1"/>
              <a:t>adequacy</a:t>
            </a:r>
            <a:r>
              <a:rPr lang="ru-RU" dirty="0"/>
              <a:t> </a:t>
            </a:r>
            <a:r>
              <a:rPr lang="ru-RU" dirty="0" err="1"/>
              <a:t>criteria</a:t>
            </a:r>
            <a:r>
              <a:rPr lang="ru-RU" dirty="0"/>
              <a:t>, </a:t>
            </a:r>
            <a:r>
              <a:rPr lang="ru-RU" dirty="0" err="1"/>
              <a:t>or</a:t>
            </a:r>
            <a:r>
              <a:rPr lang="ru-RU" dirty="0"/>
              <a:t> </a:t>
            </a:r>
            <a:r>
              <a:rPr lang="ru-RU" dirty="0" err="1"/>
              <a:t>stopping</a:t>
            </a:r>
            <a:r>
              <a:rPr lang="ru-RU" dirty="0"/>
              <a:t> </a:t>
            </a:r>
            <a:r>
              <a:rPr lang="ru-RU" dirty="0" err="1"/>
              <a:t>rules</a:t>
            </a:r>
            <a:r>
              <a:rPr lang="ru-RU" dirty="0"/>
              <a:t>)</a:t>
            </a:r>
          </a:p>
          <a:p>
            <a:r>
              <a:rPr lang="ru-RU" dirty="0"/>
              <a:t>Эффективность тестирования/Цели тестирования (Test </a:t>
            </a:r>
            <a:r>
              <a:rPr lang="ru-RU" dirty="0" err="1"/>
              <a:t>effectiveness</a:t>
            </a:r>
            <a:r>
              <a:rPr lang="ru-RU" dirty="0"/>
              <a:t>/</a:t>
            </a:r>
            <a:r>
              <a:rPr lang="ru-RU" dirty="0" err="1"/>
              <a:t>Objectives</a:t>
            </a:r>
            <a:r>
              <a:rPr lang="ru-RU" dirty="0"/>
              <a:t> </a:t>
            </a:r>
            <a:r>
              <a:rPr lang="ru-RU" dirty="0" err="1"/>
              <a:t>for</a:t>
            </a:r>
            <a:r>
              <a:rPr lang="ru-RU" dirty="0"/>
              <a:t> </a:t>
            </a:r>
            <a:r>
              <a:rPr lang="ru-RU" dirty="0" err="1"/>
              <a:t>testing</a:t>
            </a:r>
            <a:r>
              <a:rPr lang="ru-RU" dirty="0"/>
              <a:t>)</a:t>
            </a:r>
          </a:p>
          <a:p>
            <a:r>
              <a:rPr lang="ru-RU" dirty="0"/>
              <a:t>Тестирование для идентификации дефектов (</a:t>
            </a:r>
            <a:r>
              <a:rPr lang="ru-RU" dirty="0" err="1"/>
              <a:t>Testing</a:t>
            </a:r>
            <a:r>
              <a:rPr lang="ru-RU" dirty="0"/>
              <a:t> </a:t>
            </a:r>
            <a:r>
              <a:rPr lang="ru-RU" dirty="0" err="1"/>
              <a:t>for</a:t>
            </a:r>
            <a:r>
              <a:rPr lang="ru-RU" dirty="0"/>
              <a:t> </a:t>
            </a:r>
            <a:r>
              <a:rPr lang="ru-RU" dirty="0" err="1"/>
              <a:t>defect</a:t>
            </a:r>
            <a:r>
              <a:rPr lang="ru-RU" dirty="0"/>
              <a:t> </a:t>
            </a:r>
            <a:r>
              <a:rPr lang="ru-RU" dirty="0" err="1"/>
              <a:t>identification</a:t>
            </a:r>
            <a:r>
              <a:rPr lang="ru-RU" dirty="0"/>
              <a:t>)</a:t>
            </a:r>
          </a:p>
          <a:p>
            <a:r>
              <a:rPr lang="ru-RU" dirty="0"/>
              <a:t>Проблема оракула (The </a:t>
            </a:r>
            <a:r>
              <a:rPr lang="ru-RU" dirty="0" err="1"/>
              <a:t>oracle</a:t>
            </a:r>
            <a:r>
              <a:rPr lang="ru-RU" dirty="0"/>
              <a:t> </a:t>
            </a:r>
            <a:r>
              <a:rPr lang="ru-RU" dirty="0" err="1"/>
              <a:t>problem</a:t>
            </a:r>
            <a:r>
              <a:rPr lang="ru-RU" dirty="0"/>
              <a:t>)</a:t>
            </a:r>
          </a:p>
          <a:p>
            <a:r>
              <a:rPr lang="ru-RU" dirty="0"/>
              <a:t>Теоретические и практические ограничения тестирования (</a:t>
            </a:r>
            <a:r>
              <a:rPr lang="ru-RU" dirty="0" err="1"/>
              <a:t>Theoretical</a:t>
            </a:r>
            <a:r>
              <a:rPr lang="ru-RU" dirty="0"/>
              <a:t> </a:t>
            </a:r>
            <a:r>
              <a:rPr lang="ru-RU" dirty="0" err="1"/>
              <a:t>and</a:t>
            </a:r>
            <a:r>
              <a:rPr lang="ru-RU" dirty="0"/>
              <a:t> </a:t>
            </a:r>
            <a:r>
              <a:rPr lang="ru-RU" dirty="0" err="1"/>
              <a:t>practical</a:t>
            </a:r>
            <a:r>
              <a:rPr lang="ru-RU" dirty="0"/>
              <a:t> </a:t>
            </a:r>
            <a:r>
              <a:rPr lang="ru-RU" dirty="0" err="1"/>
              <a:t>limitation</a:t>
            </a:r>
            <a:r>
              <a:rPr lang="ru-RU" dirty="0"/>
              <a:t> </a:t>
            </a:r>
            <a:r>
              <a:rPr lang="ru-RU" dirty="0" err="1"/>
              <a:t>of</a:t>
            </a:r>
            <a:r>
              <a:rPr lang="ru-RU" dirty="0"/>
              <a:t> </a:t>
            </a:r>
            <a:r>
              <a:rPr lang="ru-RU" dirty="0" err="1"/>
              <a:t>testing</a:t>
            </a:r>
            <a:r>
              <a:rPr lang="ru-RU" dirty="0"/>
              <a:t>)</a:t>
            </a:r>
          </a:p>
          <a:p>
            <a:r>
              <a:rPr lang="ru-RU" dirty="0"/>
              <a:t>Проблема неосуществимых путей (The </a:t>
            </a:r>
            <a:r>
              <a:rPr lang="ru-RU" dirty="0" err="1"/>
              <a:t>problem</a:t>
            </a:r>
            <a:r>
              <a:rPr lang="ru-RU" dirty="0"/>
              <a:t> </a:t>
            </a:r>
            <a:r>
              <a:rPr lang="ru-RU" dirty="0" err="1"/>
              <a:t>of</a:t>
            </a:r>
            <a:r>
              <a:rPr lang="ru-RU" dirty="0"/>
              <a:t> </a:t>
            </a:r>
            <a:r>
              <a:rPr lang="ru-RU" dirty="0" err="1"/>
              <a:t>infeasible</a:t>
            </a:r>
            <a:r>
              <a:rPr lang="ru-RU" dirty="0"/>
              <a:t> </a:t>
            </a:r>
            <a:r>
              <a:rPr lang="ru-RU" dirty="0" err="1"/>
              <a:t>paths</a:t>
            </a:r>
            <a:r>
              <a:rPr lang="ru-RU" dirty="0"/>
              <a:t>)</a:t>
            </a:r>
          </a:p>
          <a:p>
            <a:r>
              <a:rPr lang="ru-RU" dirty="0"/>
              <a:t>Тестируемость (</a:t>
            </a:r>
            <a:r>
              <a:rPr lang="ru-RU" dirty="0" err="1"/>
              <a:t>Testability</a:t>
            </a:r>
            <a:r>
              <a:rPr lang="ru-RU" dirty="0"/>
              <a:t>)</a:t>
            </a:r>
          </a:p>
        </p:txBody>
      </p:sp>
      <p:sp>
        <p:nvSpPr>
          <p:cNvPr id="4" name="Нижний колонтитул 3">
            <a:extLst>
              <a:ext uri="{FF2B5EF4-FFF2-40B4-BE49-F238E27FC236}">
                <a16:creationId xmlns:a16="http://schemas.microsoft.com/office/drawing/2014/main" id="{0495B050-CE40-49EA-85F8-546A161F3C94}"/>
              </a:ext>
            </a:extLst>
          </p:cNvPr>
          <p:cNvSpPr>
            <a:spLocks noGrp="1"/>
          </p:cNvSpPr>
          <p:nvPr>
            <p:ph type="ftr" sz="quarter" idx="11"/>
          </p:nvPr>
        </p:nvSpPr>
        <p:spPr/>
        <p:txBody>
          <a:bodyPr/>
          <a:lstStyle/>
          <a:p>
            <a:r>
              <a:rPr lang="ru-RU" dirty="0"/>
              <a:t>© </a:t>
            </a:r>
            <a:r>
              <a:rPr lang="ru-RU" dirty="0" err="1"/>
              <a:t>Д.В.Кубраков</a:t>
            </a:r>
            <a:r>
              <a:rPr lang="ru-RU" dirty="0"/>
              <a:t>, 2023</a:t>
            </a:r>
            <a:endParaRPr lang="en-US" dirty="0"/>
          </a:p>
        </p:txBody>
      </p:sp>
      <p:sp>
        <p:nvSpPr>
          <p:cNvPr id="5" name="Номер слайда 4">
            <a:extLst>
              <a:ext uri="{FF2B5EF4-FFF2-40B4-BE49-F238E27FC236}">
                <a16:creationId xmlns:a16="http://schemas.microsoft.com/office/drawing/2014/main" id="{147C09C4-D97F-4F6F-99EB-D7895DA0BB61}"/>
              </a:ext>
            </a:extLst>
          </p:cNvPr>
          <p:cNvSpPr>
            <a:spLocks noGrp="1"/>
          </p:cNvSpPr>
          <p:nvPr>
            <p:ph type="sldNum" sz="quarter" idx="12"/>
          </p:nvPr>
        </p:nvSpPr>
        <p:spPr/>
        <p:txBody>
          <a:bodyPr/>
          <a:lstStyle/>
          <a:p>
            <a:fld id="{DFA5D71E-5CDF-4C93-8A75-5B916FDC5BEA}" type="slidenum">
              <a:rPr lang="en-US" smtClean="0"/>
              <a:pPr/>
              <a:t>9</a:t>
            </a:fld>
            <a:endParaRPr lang="en-US" dirty="0"/>
          </a:p>
        </p:txBody>
      </p:sp>
    </p:spTree>
    <p:extLst>
      <p:ext uri="{BB962C8B-B14F-4D97-AF65-F5344CB8AC3E}">
        <p14:creationId xmlns:p14="http://schemas.microsoft.com/office/powerpoint/2010/main" val="2436938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764FD1-5392-4529-AF73-6EE657EB81BD}"/>
              </a:ext>
            </a:extLst>
          </p:cNvPr>
          <p:cNvSpPr>
            <a:spLocks noGrp="1"/>
          </p:cNvSpPr>
          <p:nvPr>
            <p:ph type="title"/>
          </p:nvPr>
        </p:nvSpPr>
        <p:spPr>
          <a:xfrm>
            <a:off x="838199" y="365125"/>
            <a:ext cx="11254991" cy="1325563"/>
          </a:xfrm>
        </p:spPr>
        <p:txBody>
          <a:bodyPr/>
          <a:lstStyle/>
          <a:p>
            <a:r>
              <a:rPr lang="ru-RU" dirty="0"/>
              <a:t>Связь тестирования с другой деятельностью (</a:t>
            </a:r>
            <a:r>
              <a:rPr lang="en-GB" dirty="0"/>
              <a:t>Relationships of testing with other activities)</a:t>
            </a:r>
            <a:endParaRPr lang="ru-RU" dirty="0"/>
          </a:p>
        </p:txBody>
      </p:sp>
      <p:sp>
        <p:nvSpPr>
          <p:cNvPr id="3" name="Объект 2">
            <a:extLst>
              <a:ext uri="{FF2B5EF4-FFF2-40B4-BE49-F238E27FC236}">
                <a16:creationId xmlns:a16="http://schemas.microsoft.com/office/drawing/2014/main" id="{A46D6DB2-0AAB-4BEC-A417-DD18D0A59F40}"/>
              </a:ext>
            </a:extLst>
          </p:cNvPr>
          <p:cNvSpPr>
            <a:spLocks noGrp="1"/>
          </p:cNvSpPr>
          <p:nvPr>
            <p:ph idx="1"/>
          </p:nvPr>
        </p:nvSpPr>
        <p:spPr/>
        <p:txBody>
          <a:bodyPr/>
          <a:lstStyle/>
          <a:p>
            <a:r>
              <a:rPr lang="ru-RU" dirty="0"/>
              <a:t>Тестирование программного обеспечения отличается от статических техник управления качеством, проверки корректности, отладки и программирования, но связано со всеми этими работами. Полезно рассматривать тестирование с точки зрения аналитиков и специалистов по сертификации качества.</a:t>
            </a:r>
          </a:p>
        </p:txBody>
      </p:sp>
      <p:sp>
        <p:nvSpPr>
          <p:cNvPr id="4" name="Нижний колонтитул 3">
            <a:extLst>
              <a:ext uri="{FF2B5EF4-FFF2-40B4-BE49-F238E27FC236}">
                <a16:creationId xmlns:a16="http://schemas.microsoft.com/office/drawing/2014/main" id="{0CD1544F-4A44-4FFC-AC17-C768F38B4253}"/>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A23B2B76-1A9B-4C79-9880-52255505B7A4}"/>
              </a:ext>
            </a:extLst>
          </p:cNvPr>
          <p:cNvSpPr>
            <a:spLocks noGrp="1"/>
          </p:cNvSpPr>
          <p:nvPr>
            <p:ph type="sldNum" sz="quarter" idx="12"/>
          </p:nvPr>
        </p:nvSpPr>
        <p:spPr/>
        <p:txBody>
          <a:bodyPr/>
          <a:lstStyle/>
          <a:p>
            <a:fld id="{DFA5D71E-5CDF-4C93-8A75-5B916FDC5BEA}" type="slidenum">
              <a:rPr lang="en-US" smtClean="0"/>
              <a:pPr/>
              <a:t>10</a:t>
            </a:fld>
            <a:endParaRPr lang="en-US" dirty="0"/>
          </a:p>
        </p:txBody>
      </p:sp>
    </p:spTree>
    <p:extLst>
      <p:ext uri="{BB962C8B-B14F-4D97-AF65-F5344CB8AC3E}">
        <p14:creationId xmlns:p14="http://schemas.microsoft.com/office/powerpoint/2010/main" val="107168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7D128E-538C-4694-B251-246A06719CFF}"/>
              </a:ext>
            </a:extLst>
          </p:cNvPr>
          <p:cNvSpPr>
            <a:spLocks noGrp="1"/>
          </p:cNvSpPr>
          <p:nvPr>
            <p:ph type="title"/>
          </p:nvPr>
        </p:nvSpPr>
        <p:spPr>
          <a:xfrm>
            <a:off x="838200" y="365125"/>
            <a:ext cx="10515600" cy="664831"/>
          </a:xfrm>
        </p:spPr>
        <p:txBody>
          <a:bodyPr/>
          <a:lstStyle/>
          <a:p>
            <a:r>
              <a:rPr lang="ru-RU" dirty="0"/>
              <a:t>Уровни тестирования (</a:t>
            </a:r>
            <a:r>
              <a:rPr lang="en-GB" dirty="0"/>
              <a:t>Test Levels)</a:t>
            </a:r>
            <a:endParaRPr lang="ru-RU" dirty="0"/>
          </a:p>
        </p:txBody>
      </p:sp>
      <p:sp>
        <p:nvSpPr>
          <p:cNvPr id="3" name="Объект 2">
            <a:extLst>
              <a:ext uri="{FF2B5EF4-FFF2-40B4-BE49-F238E27FC236}">
                <a16:creationId xmlns:a16="http://schemas.microsoft.com/office/drawing/2014/main" id="{25E74293-83E1-4842-A15D-B0BF94575DD6}"/>
              </a:ext>
            </a:extLst>
          </p:cNvPr>
          <p:cNvSpPr>
            <a:spLocks noGrp="1"/>
          </p:cNvSpPr>
          <p:nvPr>
            <p:ph idx="1"/>
          </p:nvPr>
        </p:nvSpPr>
        <p:spPr>
          <a:xfrm>
            <a:off x="838200" y="1185705"/>
            <a:ext cx="10515600" cy="4991258"/>
          </a:xfrm>
        </p:spPr>
        <p:txBody>
          <a:bodyPr/>
          <a:lstStyle/>
          <a:p>
            <a:r>
              <a:rPr lang="ru-RU" dirty="0"/>
              <a:t>Над чем производятся тесты (The </a:t>
            </a:r>
            <a:r>
              <a:rPr lang="ru-RU" dirty="0" err="1"/>
              <a:t>target</a:t>
            </a:r>
            <a:r>
              <a:rPr lang="ru-RU" dirty="0"/>
              <a:t> </a:t>
            </a:r>
            <a:r>
              <a:rPr lang="ru-RU" dirty="0" err="1"/>
              <a:t>of</a:t>
            </a:r>
            <a:r>
              <a:rPr lang="ru-RU" dirty="0"/>
              <a:t> </a:t>
            </a:r>
            <a:r>
              <a:rPr lang="ru-RU" dirty="0" err="1"/>
              <a:t>the</a:t>
            </a:r>
            <a:r>
              <a:rPr lang="ru-RU" dirty="0"/>
              <a:t> </a:t>
            </a:r>
            <a:r>
              <a:rPr lang="ru-RU" dirty="0" err="1"/>
              <a:t>test</a:t>
            </a:r>
            <a:r>
              <a:rPr lang="ru-RU" dirty="0"/>
              <a:t>)</a:t>
            </a:r>
          </a:p>
          <a:p>
            <a:r>
              <a:rPr lang="en-US" dirty="0" err="1"/>
              <a:t>Цели</a:t>
            </a:r>
            <a:r>
              <a:rPr lang="en-US" dirty="0"/>
              <a:t> </a:t>
            </a:r>
            <a:r>
              <a:rPr lang="en-US" dirty="0" err="1"/>
              <a:t>тестирования</a:t>
            </a:r>
            <a:r>
              <a:rPr lang="en-US" dirty="0"/>
              <a:t> (</a:t>
            </a:r>
            <a:r>
              <a:rPr lang="en-US" dirty="0" err="1"/>
              <a:t>Objectivies</a:t>
            </a:r>
            <a:r>
              <a:rPr lang="en-US" dirty="0"/>
              <a:t> of Testing)</a:t>
            </a:r>
            <a:endParaRPr lang="ru-RU" dirty="0"/>
          </a:p>
          <a:p>
            <a:endParaRPr lang="ru-RU" dirty="0"/>
          </a:p>
        </p:txBody>
      </p:sp>
      <p:sp>
        <p:nvSpPr>
          <p:cNvPr id="4" name="Нижний колонтитул 3">
            <a:extLst>
              <a:ext uri="{FF2B5EF4-FFF2-40B4-BE49-F238E27FC236}">
                <a16:creationId xmlns:a16="http://schemas.microsoft.com/office/drawing/2014/main" id="{C79C488A-BCF3-43EC-AC35-A677C2711E8F}"/>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864B26-67ED-4385-8B1A-C9F4D7CA4EF6}"/>
              </a:ext>
            </a:extLst>
          </p:cNvPr>
          <p:cNvSpPr>
            <a:spLocks noGrp="1"/>
          </p:cNvSpPr>
          <p:nvPr>
            <p:ph type="sldNum" sz="quarter" idx="12"/>
          </p:nvPr>
        </p:nvSpPr>
        <p:spPr/>
        <p:txBody>
          <a:bodyPr/>
          <a:lstStyle/>
          <a:p>
            <a:fld id="{DFA5D71E-5CDF-4C93-8A75-5B916FDC5BEA}" type="slidenum">
              <a:rPr lang="en-US" smtClean="0"/>
              <a:pPr/>
              <a:t>11</a:t>
            </a:fld>
            <a:endParaRPr lang="en-US" dirty="0"/>
          </a:p>
        </p:txBody>
      </p:sp>
    </p:spTree>
    <p:extLst>
      <p:ext uri="{BB962C8B-B14F-4D97-AF65-F5344CB8AC3E}">
        <p14:creationId xmlns:p14="http://schemas.microsoft.com/office/powerpoint/2010/main" val="2094704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DF05E7-BB9A-44E7-9B4C-CA4328F66F79}"/>
              </a:ext>
            </a:extLst>
          </p:cNvPr>
          <p:cNvSpPr>
            <a:spLocks noGrp="1"/>
          </p:cNvSpPr>
          <p:nvPr>
            <p:ph type="title"/>
          </p:nvPr>
        </p:nvSpPr>
        <p:spPr>
          <a:xfrm>
            <a:off x="792982" y="0"/>
            <a:ext cx="11315281" cy="681037"/>
          </a:xfrm>
        </p:spPr>
        <p:txBody>
          <a:bodyPr>
            <a:normAutofit/>
          </a:bodyPr>
          <a:lstStyle/>
          <a:p>
            <a:r>
              <a:rPr lang="ru-RU" sz="3600" dirty="0"/>
              <a:t>5.2.1 Над чем производятся тесты (The </a:t>
            </a:r>
            <a:r>
              <a:rPr lang="ru-RU" sz="3600" dirty="0" err="1"/>
              <a:t>target</a:t>
            </a:r>
            <a:r>
              <a:rPr lang="ru-RU" sz="3600" dirty="0"/>
              <a:t> </a:t>
            </a:r>
            <a:r>
              <a:rPr lang="ru-RU" sz="3600" dirty="0" err="1"/>
              <a:t>of</a:t>
            </a:r>
            <a:r>
              <a:rPr lang="ru-RU" sz="3600" dirty="0"/>
              <a:t> </a:t>
            </a:r>
            <a:r>
              <a:rPr lang="ru-RU" sz="3600" dirty="0" err="1"/>
              <a:t>the</a:t>
            </a:r>
            <a:r>
              <a:rPr lang="ru-RU" sz="3600" dirty="0"/>
              <a:t> </a:t>
            </a:r>
            <a:r>
              <a:rPr lang="ru-RU" sz="3600" dirty="0" err="1"/>
              <a:t>test</a:t>
            </a:r>
            <a:r>
              <a:rPr lang="ru-RU" sz="3600" dirty="0"/>
              <a:t>)</a:t>
            </a:r>
          </a:p>
        </p:txBody>
      </p:sp>
      <p:sp>
        <p:nvSpPr>
          <p:cNvPr id="3" name="Объект 2">
            <a:extLst>
              <a:ext uri="{FF2B5EF4-FFF2-40B4-BE49-F238E27FC236}">
                <a16:creationId xmlns:a16="http://schemas.microsoft.com/office/drawing/2014/main" id="{7DC5D658-65B7-499A-8502-937DDA9DE7D8}"/>
              </a:ext>
            </a:extLst>
          </p:cNvPr>
          <p:cNvSpPr>
            <a:spLocks noGrp="1"/>
          </p:cNvSpPr>
          <p:nvPr>
            <p:ph idx="1"/>
          </p:nvPr>
        </p:nvSpPr>
        <p:spPr>
          <a:xfrm>
            <a:off x="838200" y="643095"/>
            <a:ext cx="11353800" cy="6122830"/>
          </a:xfrm>
        </p:spPr>
        <p:txBody>
          <a:bodyPr>
            <a:normAutofit fontScale="70000" lnSpcReduction="20000"/>
          </a:bodyPr>
          <a:lstStyle/>
          <a:p>
            <a:pPr marL="0" indent="0">
              <a:buNone/>
            </a:pPr>
            <a:r>
              <a:rPr lang="ru-RU" dirty="0"/>
              <a:t>Тестирование обычно производится на протяжении всей разработки и сопровождения на разных уровнях. Уровень тестирования определяет “над чем” производятся тесты: над отдельным модулем, группой модулей или системой, в целом. При этом ни один из уровней тестирования не может считаться приоритетным. Важны все уровни тестирования, вне зависимости от используемых моделей и методологий.</a:t>
            </a:r>
          </a:p>
          <a:p>
            <a:r>
              <a:rPr lang="ru-RU" b="1" dirty="0"/>
              <a:t>Модульное тестирование (Unit </a:t>
            </a:r>
            <a:r>
              <a:rPr lang="ru-RU" b="1" dirty="0" err="1"/>
              <a:t>testing</a:t>
            </a:r>
            <a:r>
              <a:rPr lang="ru-RU" b="1" dirty="0"/>
              <a:t>)</a:t>
            </a:r>
          </a:p>
          <a:p>
            <a:pPr lvl="1"/>
            <a:r>
              <a:rPr lang="ru-RU" dirty="0"/>
              <a:t>стандарт IEEE 1008-87 “Standard </a:t>
            </a:r>
            <a:r>
              <a:rPr lang="ru-RU" dirty="0" err="1"/>
              <a:t>for</a:t>
            </a:r>
            <a:r>
              <a:rPr lang="ru-RU" dirty="0"/>
              <a:t> Software Unit </a:t>
            </a:r>
            <a:r>
              <a:rPr lang="ru-RU" dirty="0" err="1"/>
              <a:t>Testing</a:t>
            </a:r>
            <a:r>
              <a:rPr lang="ru-RU" dirty="0"/>
              <a:t>”, </a:t>
            </a:r>
            <a:r>
              <a:rPr lang="en-US" dirty="0"/>
              <a:t>- </a:t>
            </a:r>
            <a:r>
              <a:rPr lang="ru-RU" dirty="0"/>
              <a:t>интегрированная концепция систематического и документированного подхода к модульному тестированию.</a:t>
            </a:r>
          </a:p>
          <a:p>
            <a:pPr lvl="1"/>
            <a:r>
              <a:rPr lang="ru-RU" b="1" dirty="0"/>
              <a:t>Проверяются модули (компоненты)</a:t>
            </a:r>
          </a:p>
          <a:p>
            <a:r>
              <a:rPr lang="ru-RU" b="1" dirty="0"/>
              <a:t>Интеграционное тестирование (</a:t>
            </a:r>
            <a:r>
              <a:rPr lang="ru-RU" b="1" dirty="0" err="1"/>
              <a:t>Integration</a:t>
            </a:r>
            <a:r>
              <a:rPr lang="ru-RU" b="1" dirty="0"/>
              <a:t> </a:t>
            </a:r>
            <a:r>
              <a:rPr lang="ru-RU" b="1" dirty="0" err="1"/>
              <a:t>testing</a:t>
            </a:r>
            <a:r>
              <a:rPr lang="ru-RU" b="1" dirty="0"/>
              <a:t>)</a:t>
            </a:r>
          </a:p>
          <a:p>
            <a:pPr lvl="1"/>
            <a:r>
              <a:rPr lang="ru-RU" dirty="0"/>
              <a:t>Данный уровень тестирования является процессом </a:t>
            </a:r>
            <a:r>
              <a:rPr lang="ru-RU" b="1" dirty="0"/>
              <a:t>проверки взаимодействия между программными компонентами/модулями.</a:t>
            </a:r>
          </a:p>
          <a:p>
            <a:pPr lvl="1"/>
            <a:r>
              <a:rPr lang="ru-RU" dirty="0"/>
              <a:t>Классические стратегии интеграционного тестирования – “сверху-вниз” и “снизу-вверх” – используются для традиционных, иерархически структурированных систем и их сложно применять, например, к тестированию слабосвязанных систем, построенных в сервисно-ориентированных архитектурах (SOA).</a:t>
            </a:r>
          </a:p>
          <a:p>
            <a:pPr lvl="1"/>
            <a:r>
              <a:rPr lang="ru-RU" dirty="0"/>
              <a:t>Современные стратегии в большей степени зависят от архитектуры тестируемой системы и строятся на основе идентификации функциональных “потоков” (например, потоков операций и данных).</a:t>
            </a:r>
          </a:p>
          <a:p>
            <a:pPr lvl="1"/>
            <a:r>
              <a:rPr lang="ru-RU" dirty="0"/>
              <a:t>Интеграционное тестирование – постоянно проводимая деятельность, предполагающая работу на достаточно высоком уровне абстракции. Наиболее успешная практика интеграционного тестирования базируется на инкрементальном подходе, позволяющем избежать проблем проведения разовых тестов, связанных с тестированием результатов очередного длительного этапа работ, когда количество выявленных дефектов приводит к серьезной переработке кода (традиционно, негативный опыт выпуска и тестирования только крупных релизов называют “</a:t>
            </a:r>
            <a:r>
              <a:rPr lang="ru-RU" dirty="0" err="1"/>
              <a:t>big</a:t>
            </a:r>
            <a:r>
              <a:rPr lang="ru-RU" dirty="0"/>
              <a:t> </a:t>
            </a:r>
            <a:r>
              <a:rPr lang="ru-RU" dirty="0" err="1"/>
              <a:t>bang</a:t>
            </a:r>
            <a:r>
              <a:rPr lang="ru-RU" dirty="0"/>
              <a:t>”).</a:t>
            </a:r>
          </a:p>
          <a:p>
            <a:r>
              <a:rPr lang="ru-RU" b="1" dirty="0"/>
              <a:t>Системное тестирование (System </a:t>
            </a:r>
            <a:r>
              <a:rPr lang="ru-RU" b="1" dirty="0" err="1"/>
              <a:t>testing</a:t>
            </a:r>
            <a:r>
              <a:rPr lang="ru-RU" b="1" dirty="0"/>
              <a:t>)</a:t>
            </a:r>
          </a:p>
          <a:p>
            <a:pPr lvl="1"/>
            <a:r>
              <a:rPr lang="ru-RU" dirty="0"/>
              <a:t>Системное тестирование охватывает целиком всю систему. Большинство функциональных сбоев должно быть идентифицировано еще на уровне модульных и интеграционных тестов. В свою очередь, системное тестирование, обычно фокусируется на нефункциональных требованиях – безопасности, производительности, точности, надежности т.п.</a:t>
            </a:r>
          </a:p>
          <a:p>
            <a:pPr lvl="1"/>
            <a:r>
              <a:rPr lang="ru-RU" dirty="0"/>
              <a:t>На этом уровне также тестируются </a:t>
            </a:r>
            <a:r>
              <a:rPr lang="ru-RU" b="1" dirty="0"/>
              <a:t>интерфейсы к внешним приложениям, аппаратному обеспечению, операционной среде </a:t>
            </a:r>
            <a:r>
              <a:rPr lang="ru-RU" dirty="0"/>
              <a:t>и т.д.</a:t>
            </a:r>
          </a:p>
          <a:p>
            <a:endParaRPr lang="ru-RU" dirty="0"/>
          </a:p>
        </p:txBody>
      </p:sp>
      <p:sp>
        <p:nvSpPr>
          <p:cNvPr id="4" name="Нижний колонтитул 3">
            <a:extLst>
              <a:ext uri="{FF2B5EF4-FFF2-40B4-BE49-F238E27FC236}">
                <a16:creationId xmlns:a16="http://schemas.microsoft.com/office/drawing/2014/main" id="{3E8482A1-B632-4A2F-B001-632C4A7CDAF0}"/>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0F0BF8D1-09F2-4754-853E-DBA2730D3460}"/>
              </a:ext>
            </a:extLst>
          </p:cNvPr>
          <p:cNvSpPr>
            <a:spLocks noGrp="1"/>
          </p:cNvSpPr>
          <p:nvPr>
            <p:ph type="sldNum" sz="quarter" idx="12"/>
          </p:nvPr>
        </p:nvSpPr>
        <p:spPr/>
        <p:txBody>
          <a:bodyPr/>
          <a:lstStyle/>
          <a:p>
            <a:fld id="{DFA5D71E-5CDF-4C93-8A75-5B916FDC5BEA}" type="slidenum">
              <a:rPr lang="en-US" smtClean="0"/>
              <a:pPr/>
              <a:t>12</a:t>
            </a:fld>
            <a:endParaRPr lang="en-US" dirty="0"/>
          </a:p>
        </p:txBody>
      </p:sp>
    </p:spTree>
    <p:extLst>
      <p:ext uri="{BB962C8B-B14F-4D97-AF65-F5344CB8AC3E}">
        <p14:creationId xmlns:p14="http://schemas.microsoft.com/office/powerpoint/2010/main" val="845803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E30C81-A918-4357-8021-77B342D4FA11}"/>
              </a:ext>
            </a:extLst>
          </p:cNvPr>
          <p:cNvSpPr>
            <a:spLocks noGrp="1"/>
          </p:cNvSpPr>
          <p:nvPr>
            <p:ph type="title"/>
          </p:nvPr>
        </p:nvSpPr>
        <p:spPr>
          <a:xfrm>
            <a:off x="838200" y="18256"/>
            <a:ext cx="11353800" cy="866000"/>
          </a:xfrm>
        </p:spPr>
        <p:txBody>
          <a:bodyPr/>
          <a:lstStyle/>
          <a:p>
            <a:r>
              <a:rPr lang="en-US" dirty="0" err="1"/>
              <a:t>Цели</a:t>
            </a:r>
            <a:r>
              <a:rPr lang="en-US" dirty="0"/>
              <a:t> </a:t>
            </a:r>
            <a:r>
              <a:rPr lang="en-US" dirty="0" err="1"/>
              <a:t>тестирования</a:t>
            </a:r>
            <a:r>
              <a:rPr lang="en-US" dirty="0"/>
              <a:t> (</a:t>
            </a:r>
            <a:r>
              <a:rPr lang="en-US" dirty="0" err="1"/>
              <a:t>Objectivies</a:t>
            </a:r>
            <a:r>
              <a:rPr lang="en-US" dirty="0"/>
              <a:t> of Testing)</a:t>
            </a:r>
            <a:endParaRPr lang="ru-RU" dirty="0"/>
          </a:p>
        </p:txBody>
      </p:sp>
      <p:sp>
        <p:nvSpPr>
          <p:cNvPr id="3" name="Объект 2">
            <a:extLst>
              <a:ext uri="{FF2B5EF4-FFF2-40B4-BE49-F238E27FC236}">
                <a16:creationId xmlns:a16="http://schemas.microsoft.com/office/drawing/2014/main" id="{AFC78B29-C1DA-4D14-86F9-6A0940CB2C29}"/>
              </a:ext>
            </a:extLst>
          </p:cNvPr>
          <p:cNvSpPr>
            <a:spLocks noGrp="1"/>
          </p:cNvSpPr>
          <p:nvPr>
            <p:ph idx="1"/>
          </p:nvPr>
        </p:nvSpPr>
        <p:spPr>
          <a:xfrm>
            <a:off x="968829" y="884255"/>
            <a:ext cx="11054024" cy="5881669"/>
          </a:xfrm>
        </p:spPr>
        <p:txBody>
          <a:bodyPr>
            <a:normAutofit fontScale="92500" lnSpcReduction="20000"/>
          </a:bodyPr>
          <a:lstStyle/>
          <a:p>
            <a:r>
              <a:rPr lang="ru-RU" dirty="0"/>
              <a:t>Приёмочное тестирование (</a:t>
            </a:r>
            <a:r>
              <a:rPr lang="ru-RU" dirty="0" err="1"/>
              <a:t>Acceptance</a:t>
            </a:r>
            <a:r>
              <a:rPr lang="ru-RU" dirty="0"/>
              <a:t>/</a:t>
            </a:r>
            <a:r>
              <a:rPr lang="ru-RU" dirty="0" err="1"/>
              <a:t>qualification</a:t>
            </a:r>
            <a:r>
              <a:rPr lang="ru-RU" dirty="0"/>
              <a:t> </a:t>
            </a:r>
            <a:r>
              <a:rPr lang="ru-RU" dirty="0" err="1"/>
              <a:t>testing</a:t>
            </a:r>
            <a:r>
              <a:rPr lang="ru-RU" dirty="0"/>
              <a:t>)</a:t>
            </a:r>
          </a:p>
          <a:p>
            <a:r>
              <a:rPr lang="ru-RU" dirty="0"/>
              <a:t>Установочное тестирование (</a:t>
            </a:r>
            <a:r>
              <a:rPr lang="ru-RU" dirty="0" err="1"/>
              <a:t>Installation</a:t>
            </a:r>
            <a:r>
              <a:rPr lang="ru-RU" dirty="0"/>
              <a:t> </a:t>
            </a:r>
            <a:r>
              <a:rPr lang="ru-RU" dirty="0" err="1"/>
              <a:t>testing</a:t>
            </a:r>
            <a:r>
              <a:rPr lang="ru-RU" dirty="0"/>
              <a:t>)</a:t>
            </a:r>
          </a:p>
          <a:p>
            <a:r>
              <a:rPr lang="ru-RU" dirty="0"/>
              <a:t>Альфа- и бета-тестирование (Alpha </a:t>
            </a:r>
            <a:r>
              <a:rPr lang="ru-RU" dirty="0" err="1"/>
              <a:t>and</a:t>
            </a:r>
            <a:r>
              <a:rPr lang="ru-RU" dirty="0"/>
              <a:t> </a:t>
            </a:r>
            <a:r>
              <a:rPr lang="ru-RU" dirty="0" err="1"/>
              <a:t>beta</a:t>
            </a:r>
            <a:r>
              <a:rPr lang="ru-RU" dirty="0"/>
              <a:t> </a:t>
            </a:r>
            <a:r>
              <a:rPr lang="ru-RU" dirty="0" err="1"/>
              <a:t>testing</a:t>
            </a:r>
            <a:r>
              <a:rPr lang="ru-RU" dirty="0"/>
              <a:t>)</a:t>
            </a:r>
          </a:p>
          <a:p>
            <a:r>
              <a:rPr lang="ru-RU" dirty="0"/>
              <a:t>Функциональные тесты/тесты соответствия (</a:t>
            </a:r>
            <a:r>
              <a:rPr lang="ru-RU" dirty="0" err="1"/>
              <a:t>Conformance</a:t>
            </a:r>
            <a:r>
              <a:rPr lang="ru-RU" dirty="0"/>
              <a:t> </a:t>
            </a:r>
            <a:r>
              <a:rPr lang="ru-RU" dirty="0" err="1"/>
              <a:t>testing</a:t>
            </a:r>
            <a:r>
              <a:rPr lang="ru-RU" dirty="0"/>
              <a:t>/</a:t>
            </a:r>
            <a:r>
              <a:rPr lang="ru-RU" dirty="0" err="1"/>
              <a:t>Functional</a:t>
            </a:r>
            <a:r>
              <a:rPr lang="ru-RU" dirty="0"/>
              <a:t> </a:t>
            </a:r>
            <a:r>
              <a:rPr lang="ru-RU" dirty="0" err="1"/>
              <a:t>testing</a:t>
            </a:r>
            <a:r>
              <a:rPr lang="ru-RU" dirty="0"/>
              <a:t>/</a:t>
            </a:r>
            <a:r>
              <a:rPr lang="ru-RU" dirty="0" err="1"/>
              <a:t>Correctness</a:t>
            </a:r>
            <a:r>
              <a:rPr lang="ru-RU" dirty="0"/>
              <a:t> </a:t>
            </a:r>
            <a:r>
              <a:rPr lang="ru-RU" dirty="0" err="1"/>
              <a:t>testing</a:t>
            </a:r>
            <a:r>
              <a:rPr lang="ru-RU" dirty="0"/>
              <a:t>)</a:t>
            </a:r>
          </a:p>
          <a:p>
            <a:r>
              <a:rPr lang="ru-RU" dirty="0"/>
              <a:t>Достижение и оценка надежности (</a:t>
            </a:r>
            <a:r>
              <a:rPr lang="ru-RU" dirty="0" err="1"/>
              <a:t>Reliability</a:t>
            </a:r>
            <a:r>
              <a:rPr lang="ru-RU" dirty="0"/>
              <a:t> </a:t>
            </a:r>
            <a:r>
              <a:rPr lang="ru-RU" dirty="0" err="1"/>
              <a:t>achievement</a:t>
            </a:r>
            <a:r>
              <a:rPr lang="ru-RU" dirty="0"/>
              <a:t> </a:t>
            </a:r>
            <a:r>
              <a:rPr lang="ru-RU" dirty="0" err="1"/>
              <a:t>and</a:t>
            </a:r>
            <a:r>
              <a:rPr lang="ru-RU" dirty="0"/>
              <a:t> </a:t>
            </a:r>
            <a:r>
              <a:rPr lang="ru-RU" dirty="0" err="1"/>
              <a:t>evaluation</a:t>
            </a:r>
            <a:r>
              <a:rPr lang="ru-RU" dirty="0"/>
              <a:t>)</a:t>
            </a:r>
          </a:p>
          <a:p>
            <a:r>
              <a:rPr lang="ru-RU" dirty="0"/>
              <a:t>Регрессионное тестирование (</a:t>
            </a:r>
            <a:r>
              <a:rPr lang="ru-RU" dirty="0" err="1"/>
              <a:t>Regression</a:t>
            </a:r>
            <a:r>
              <a:rPr lang="ru-RU" dirty="0"/>
              <a:t> </a:t>
            </a:r>
            <a:r>
              <a:rPr lang="ru-RU" dirty="0" err="1"/>
              <a:t>testing</a:t>
            </a:r>
            <a:r>
              <a:rPr lang="ru-RU" dirty="0"/>
              <a:t>)</a:t>
            </a:r>
          </a:p>
          <a:p>
            <a:r>
              <a:rPr lang="ru-RU" dirty="0"/>
              <a:t>Тестирование производительности (Performance </a:t>
            </a:r>
            <a:r>
              <a:rPr lang="ru-RU" dirty="0" err="1"/>
              <a:t>testing</a:t>
            </a:r>
            <a:r>
              <a:rPr lang="ru-RU" dirty="0"/>
              <a:t>)</a:t>
            </a:r>
          </a:p>
          <a:p>
            <a:r>
              <a:rPr lang="ru-RU" dirty="0"/>
              <a:t>Нагрузочное тестирование (</a:t>
            </a:r>
            <a:r>
              <a:rPr lang="ru-RU" dirty="0" err="1"/>
              <a:t>Stress</a:t>
            </a:r>
            <a:r>
              <a:rPr lang="ru-RU" dirty="0"/>
              <a:t> </a:t>
            </a:r>
            <a:r>
              <a:rPr lang="ru-RU" dirty="0" err="1"/>
              <a:t>testing</a:t>
            </a:r>
            <a:r>
              <a:rPr lang="ru-RU" dirty="0"/>
              <a:t>)</a:t>
            </a:r>
          </a:p>
          <a:p>
            <a:r>
              <a:rPr lang="ru-RU" dirty="0"/>
              <a:t>Сравнительное тестирование (Back-</a:t>
            </a:r>
            <a:r>
              <a:rPr lang="ru-RU" dirty="0" err="1"/>
              <a:t>to</a:t>
            </a:r>
            <a:r>
              <a:rPr lang="ru-RU" dirty="0"/>
              <a:t>-</a:t>
            </a:r>
            <a:r>
              <a:rPr lang="ru-RU" dirty="0" err="1"/>
              <a:t>back</a:t>
            </a:r>
            <a:r>
              <a:rPr lang="ru-RU" dirty="0"/>
              <a:t> </a:t>
            </a:r>
            <a:r>
              <a:rPr lang="ru-RU" dirty="0" err="1"/>
              <a:t>testing</a:t>
            </a:r>
            <a:r>
              <a:rPr lang="ru-RU" dirty="0"/>
              <a:t>)</a:t>
            </a:r>
          </a:p>
          <a:p>
            <a:r>
              <a:rPr lang="ru-RU" dirty="0"/>
              <a:t>Восстановительные тесты (Recovery </a:t>
            </a:r>
            <a:r>
              <a:rPr lang="ru-RU" dirty="0" err="1"/>
              <a:t>testing</a:t>
            </a:r>
            <a:r>
              <a:rPr lang="ru-RU" dirty="0"/>
              <a:t>)</a:t>
            </a:r>
          </a:p>
          <a:p>
            <a:r>
              <a:rPr lang="ru-RU" dirty="0"/>
              <a:t>Конфигурационное тестирование (Configuration </a:t>
            </a:r>
            <a:r>
              <a:rPr lang="ru-RU" dirty="0" err="1"/>
              <a:t>testing</a:t>
            </a:r>
            <a:r>
              <a:rPr lang="ru-RU" dirty="0"/>
              <a:t>)</a:t>
            </a:r>
          </a:p>
          <a:p>
            <a:r>
              <a:rPr lang="ru-RU" dirty="0"/>
              <a:t>Тестирование удобства и простоты использования (</a:t>
            </a:r>
            <a:r>
              <a:rPr lang="ru-RU" dirty="0" err="1"/>
              <a:t>Usability</a:t>
            </a:r>
            <a:r>
              <a:rPr lang="ru-RU" dirty="0"/>
              <a:t> </a:t>
            </a:r>
            <a:r>
              <a:rPr lang="ru-RU" dirty="0" err="1"/>
              <a:t>testing</a:t>
            </a:r>
            <a:r>
              <a:rPr lang="ru-RU" dirty="0"/>
              <a:t>)</a:t>
            </a:r>
          </a:p>
          <a:p>
            <a:r>
              <a:rPr lang="ru-RU" dirty="0">
                <a:solidFill>
                  <a:srgbClr val="FF0000"/>
                </a:solidFill>
              </a:rPr>
              <a:t>Разработка, управляемая тестированием (Test-</a:t>
            </a:r>
            <a:r>
              <a:rPr lang="ru-RU" dirty="0" err="1">
                <a:solidFill>
                  <a:srgbClr val="FF0000"/>
                </a:solidFill>
              </a:rPr>
              <a:t>driven</a:t>
            </a:r>
            <a:r>
              <a:rPr lang="ru-RU" dirty="0">
                <a:solidFill>
                  <a:srgbClr val="FF0000"/>
                </a:solidFill>
              </a:rPr>
              <a:t> </a:t>
            </a:r>
            <a:r>
              <a:rPr lang="ru-RU" dirty="0" err="1">
                <a:solidFill>
                  <a:srgbClr val="FF0000"/>
                </a:solidFill>
              </a:rPr>
              <a:t>development</a:t>
            </a:r>
            <a:r>
              <a:rPr lang="ru-RU" dirty="0">
                <a:solidFill>
                  <a:srgbClr val="FF0000"/>
                </a:solidFill>
              </a:rPr>
              <a:t>)</a:t>
            </a:r>
          </a:p>
        </p:txBody>
      </p:sp>
      <p:sp>
        <p:nvSpPr>
          <p:cNvPr id="4" name="Нижний колонтитул 3">
            <a:extLst>
              <a:ext uri="{FF2B5EF4-FFF2-40B4-BE49-F238E27FC236}">
                <a16:creationId xmlns:a16="http://schemas.microsoft.com/office/drawing/2014/main" id="{06F12F47-392C-4739-9E8F-3D4494469549}"/>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8B0DFBDC-B15F-4896-BC16-C9F13F938D8F}"/>
              </a:ext>
            </a:extLst>
          </p:cNvPr>
          <p:cNvSpPr>
            <a:spLocks noGrp="1"/>
          </p:cNvSpPr>
          <p:nvPr>
            <p:ph type="sldNum" sz="quarter" idx="12"/>
          </p:nvPr>
        </p:nvSpPr>
        <p:spPr/>
        <p:txBody>
          <a:bodyPr/>
          <a:lstStyle/>
          <a:p>
            <a:fld id="{DFA5D71E-5CDF-4C93-8A75-5B916FDC5BEA}" type="slidenum">
              <a:rPr lang="en-US" smtClean="0"/>
              <a:pPr/>
              <a:t>13</a:t>
            </a:fld>
            <a:endParaRPr lang="en-US" dirty="0"/>
          </a:p>
        </p:txBody>
      </p:sp>
    </p:spTree>
    <p:extLst>
      <p:ext uri="{BB962C8B-B14F-4D97-AF65-F5344CB8AC3E}">
        <p14:creationId xmlns:p14="http://schemas.microsoft.com/office/powerpoint/2010/main" val="526208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428B7E-05E0-417E-9603-3BE11C09A251}"/>
              </a:ext>
            </a:extLst>
          </p:cNvPr>
          <p:cNvSpPr>
            <a:spLocks noGrp="1"/>
          </p:cNvSpPr>
          <p:nvPr>
            <p:ph type="title"/>
          </p:nvPr>
        </p:nvSpPr>
        <p:spPr>
          <a:xfrm>
            <a:off x="838200" y="92075"/>
            <a:ext cx="11224846" cy="1123777"/>
          </a:xfrm>
        </p:spPr>
        <p:txBody>
          <a:bodyPr>
            <a:normAutofit fontScale="90000"/>
          </a:bodyPr>
          <a:lstStyle/>
          <a:p>
            <a:r>
              <a:rPr lang="ru-RU" dirty="0"/>
              <a:t>Разработка, управляемая тестированием (Test-</a:t>
            </a:r>
            <a:r>
              <a:rPr lang="ru-RU" dirty="0" err="1"/>
              <a:t>driven</a:t>
            </a:r>
            <a:r>
              <a:rPr lang="ru-RU" dirty="0"/>
              <a:t> </a:t>
            </a:r>
            <a:r>
              <a:rPr lang="ru-RU" dirty="0" err="1"/>
              <a:t>development</a:t>
            </a:r>
            <a:r>
              <a:rPr lang="ru-RU" dirty="0"/>
              <a:t>)</a:t>
            </a:r>
          </a:p>
        </p:txBody>
      </p:sp>
      <p:sp>
        <p:nvSpPr>
          <p:cNvPr id="3" name="Объект 2">
            <a:extLst>
              <a:ext uri="{FF2B5EF4-FFF2-40B4-BE49-F238E27FC236}">
                <a16:creationId xmlns:a16="http://schemas.microsoft.com/office/drawing/2014/main" id="{E4903D61-DBF0-4EA0-8F30-637DB633ABF3}"/>
              </a:ext>
            </a:extLst>
          </p:cNvPr>
          <p:cNvSpPr>
            <a:spLocks noGrp="1"/>
          </p:cNvSpPr>
          <p:nvPr>
            <p:ph idx="1"/>
          </p:nvPr>
        </p:nvSpPr>
        <p:spPr>
          <a:xfrm>
            <a:off x="838199" y="1356527"/>
            <a:ext cx="11224845" cy="4820436"/>
          </a:xfrm>
        </p:spPr>
        <p:txBody>
          <a:bodyPr>
            <a:normAutofit fontScale="77500" lnSpcReduction="20000"/>
          </a:bodyPr>
          <a:lstStyle/>
          <a:p>
            <a:r>
              <a:rPr lang="ru-RU" dirty="0" err="1"/>
              <a:t>По-сути</a:t>
            </a:r>
            <a:r>
              <a:rPr lang="ru-RU" dirty="0"/>
              <a:t>, это не столько техника тестирования, сколько </a:t>
            </a:r>
            <a:r>
              <a:rPr lang="ru-RU" b="1" dirty="0"/>
              <a:t>стиль организации процесса разработки, жизненного цикла, когда тесты являются неотъемлемой частью требований </a:t>
            </a:r>
            <a:r>
              <a:rPr lang="ru-RU" dirty="0"/>
              <a:t>(и соответствующих спецификаций) вместо того, чтобы рассматриваться независимой деятельностью по проверке удовлетворения требований программной системой.</a:t>
            </a:r>
          </a:p>
          <a:p>
            <a:r>
              <a:rPr lang="ru-RU" dirty="0"/>
              <a:t>Иногда говорят о таком </a:t>
            </a:r>
            <a:r>
              <a:rPr lang="ru-RU" b="1" dirty="0"/>
              <a:t>стиле разработки как о самостоятельной методологии – TDD. </a:t>
            </a:r>
            <a:r>
              <a:rPr lang="ru-RU" dirty="0"/>
              <a:t>Насколько это верно, зависит от того, что именно понимать под методологией разработки. Скорее, с точки зрения автора, это техника, практика или стиль организации работы, чем самостоятельная методология.</a:t>
            </a:r>
          </a:p>
          <a:p>
            <a:r>
              <a:rPr lang="ru-RU" dirty="0"/>
              <a:t>В меньшей степени это относится к FDD – </a:t>
            </a:r>
            <a:r>
              <a:rPr lang="ru-RU" dirty="0" err="1"/>
              <a:t>Feature-Driven</a:t>
            </a:r>
            <a:r>
              <a:rPr lang="ru-RU" dirty="0"/>
              <a:t> Development (разработка на основе функциональных возможностей). TDD может естественно рассматриваться как составная часть XP или, как минимум </a:t>
            </a:r>
            <a:r>
              <a:rPr lang="ru-RU" dirty="0" err="1"/>
              <a:t>Agile</a:t>
            </a:r>
            <a:r>
              <a:rPr lang="ru-RU" dirty="0"/>
              <a:t>-методов. В свою очередь, FDD может рассматриваться как один из методов гибкой разработки.</a:t>
            </a:r>
          </a:p>
          <a:p>
            <a:r>
              <a:rPr lang="ru-RU" dirty="0"/>
              <a:t>В чем отличие столь близких, на первый взгляд, подходов (и, кстати, соответствующих аббревиатур)? Причина – проста. </a:t>
            </a:r>
            <a:r>
              <a:rPr lang="ru-RU" b="1" dirty="0"/>
              <a:t>Тесты – инструмент достижения характеристик системы, удовлетворяющей заданным требованиям</a:t>
            </a:r>
            <a:r>
              <a:rPr lang="ru-RU" dirty="0"/>
              <a:t>, то есть потребностям пользователей, а “возможности” (</a:t>
            </a:r>
            <a:r>
              <a:rPr lang="ru-RU" dirty="0" err="1"/>
              <a:t>features</a:t>
            </a:r>
            <a:r>
              <a:rPr lang="ru-RU" dirty="0"/>
              <a:t>) – практически сами (чаще – функциональные) требования, воплощенные (в идеальном случае) в код.</a:t>
            </a:r>
          </a:p>
          <a:p>
            <a:endParaRPr lang="ru-RU" dirty="0"/>
          </a:p>
        </p:txBody>
      </p:sp>
      <p:sp>
        <p:nvSpPr>
          <p:cNvPr id="4" name="Нижний колонтитул 3">
            <a:extLst>
              <a:ext uri="{FF2B5EF4-FFF2-40B4-BE49-F238E27FC236}">
                <a16:creationId xmlns:a16="http://schemas.microsoft.com/office/drawing/2014/main" id="{09AFCECD-35AB-43D7-859A-9A32C5189B65}"/>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F114A462-1078-46D2-8E2E-32B4B708AF00}"/>
              </a:ext>
            </a:extLst>
          </p:cNvPr>
          <p:cNvSpPr>
            <a:spLocks noGrp="1"/>
          </p:cNvSpPr>
          <p:nvPr>
            <p:ph type="sldNum" sz="quarter" idx="12"/>
          </p:nvPr>
        </p:nvSpPr>
        <p:spPr/>
        <p:txBody>
          <a:bodyPr/>
          <a:lstStyle/>
          <a:p>
            <a:fld id="{DFA5D71E-5CDF-4C93-8A75-5B916FDC5BEA}" type="slidenum">
              <a:rPr lang="en-US" smtClean="0"/>
              <a:pPr/>
              <a:t>14</a:t>
            </a:fld>
            <a:endParaRPr lang="en-US" dirty="0"/>
          </a:p>
        </p:txBody>
      </p:sp>
    </p:spTree>
    <p:extLst>
      <p:ext uri="{BB962C8B-B14F-4D97-AF65-F5344CB8AC3E}">
        <p14:creationId xmlns:p14="http://schemas.microsoft.com/office/powerpoint/2010/main" val="181551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FCFEA3-D128-4FE3-A6AB-92AE24BED336}"/>
              </a:ext>
            </a:extLst>
          </p:cNvPr>
          <p:cNvSpPr>
            <a:spLocks noGrp="1"/>
          </p:cNvSpPr>
          <p:nvPr>
            <p:ph type="title"/>
          </p:nvPr>
        </p:nvSpPr>
        <p:spPr>
          <a:xfrm>
            <a:off x="838200" y="30956"/>
            <a:ext cx="11353800" cy="523611"/>
          </a:xfrm>
        </p:spPr>
        <p:txBody>
          <a:bodyPr>
            <a:normAutofit fontScale="90000"/>
          </a:bodyPr>
          <a:lstStyle/>
          <a:p>
            <a:r>
              <a:rPr lang="ru-RU" dirty="0"/>
              <a:t>Техники тестирования (</a:t>
            </a:r>
            <a:r>
              <a:rPr lang="en-GB" dirty="0"/>
              <a:t>Test Techniques)</a:t>
            </a:r>
            <a:endParaRPr lang="ru-RU" dirty="0"/>
          </a:p>
        </p:txBody>
      </p:sp>
      <p:sp>
        <p:nvSpPr>
          <p:cNvPr id="3" name="Объект 2">
            <a:extLst>
              <a:ext uri="{FF2B5EF4-FFF2-40B4-BE49-F238E27FC236}">
                <a16:creationId xmlns:a16="http://schemas.microsoft.com/office/drawing/2014/main" id="{CA2A3D77-79F4-4EC1-84F8-D11821BEAE49}"/>
              </a:ext>
            </a:extLst>
          </p:cNvPr>
          <p:cNvSpPr>
            <a:spLocks noGrp="1"/>
          </p:cNvSpPr>
          <p:nvPr>
            <p:ph idx="1"/>
          </p:nvPr>
        </p:nvSpPr>
        <p:spPr>
          <a:xfrm>
            <a:off x="877834" y="545943"/>
            <a:ext cx="11134411" cy="6037419"/>
          </a:xfrm>
        </p:spPr>
        <p:txBody>
          <a:bodyPr>
            <a:normAutofit/>
          </a:bodyPr>
          <a:lstStyle/>
          <a:p>
            <a:pPr>
              <a:spcBef>
                <a:spcPts val="0"/>
              </a:spcBef>
            </a:pPr>
            <a:r>
              <a:rPr lang="ru-RU" dirty="0"/>
              <a:t>Техники, базирующиеся на интуиции и опыте инженера (Based </a:t>
            </a:r>
            <a:r>
              <a:rPr lang="ru-RU" dirty="0" err="1"/>
              <a:t>on</a:t>
            </a:r>
            <a:r>
              <a:rPr lang="ru-RU" dirty="0"/>
              <a:t> </a:t>
            </a:r>
            <a:r>
              <a:rPr lang="ru-RU" dirty="0" err="1"/>
              <a:t>the</a:t>
            </a:r>
            <a:r>
              <a:rPr lang="ru-RU" dirty="0"/>
              <a:t> </a:t>
            </a:r>
            <a:r>
              <a:rPr lang="ru-RU" dirty="0" err="1"/>
              <a:t>software</a:t>
            </a:r>
            <a:r>
              <a:rPr lang="ru-RU" dirty="0"/>
              <a:t> </a:t>
            </a:r>
            <a:r>
              <a:rPr lang="ru-RU" dirty="0" err="1"/>
              <a:t>engineer’s</a:t>
            </a:r>
            <a:r>
              <a:rPr lang="ru-RU" dirty="0"/>
              <a:t> </a:t>
            </a:r>
            <a:r>
              <a:rPr lang="ru-RU" dirty="0" err="1"/>
              <a:t>intuition</a:t>
            </a:r>
            <a:r>
              <a:rPr lang="ru-RU" dirty="0"/>
              <a:t> </a:t>
            </a:r>
            <a:r>
              <a:rPr lang="ru-RU" dirty="0" err="1"/>
              <a:t>and</a:t>
            </a:r>
            <a:r>
              <a:rPr lang="ru-RU" dirty="0"/>
              <a:t> </a:t>
            </a:r>
            <a:r>
              <a:rPr lang="ru-RU" dirty="0" err="1"/>
              <a:t>experience</a:t>
            </a:r>
            <a:r>
              <a:rPr lang="ru-RU" dirty="0"/>
              <a:t>)</a:t>
            </a:r>
          </a:p>
          <a:p>
            <a:pPr>
              <a:spcBef>
                <a:spcPts val="0"/>
              </a:spcBef>
            </a:pPr>
            <a:r>
              <a:rPr lang="ru-RU" dirty="0"/>
              <a:t>Техники, базирующиеся на спецификации (</a:t>
            </a:r>
            <a:r>
              <a:rPr lang="ru-RU" dirty="0" err="1"/>
              <a:t>Specification-based</a:t>
            </a:r>
            <a:r>
              <a:rPr lang="ru-RU" dirty="0"/>
              <a:t> </a:t>
            </a:r>
            <a:r>
              <a:rPr lang="ru-RU" dirty="0" err="1"/>
              <a:t>techniques</a:t>
            </a:r>
            <a:r>
              <a:rPr lang="ru-RU" dirty="0"/>
              <a:t>)</a:t>
            </a:r>
          </a:p>
          <a:p>
            <a:pPr>
              <a:spcBef>
                <a:spcPts val="0"/>
              </a:spcBef>
            </a:pPr>
            <a:r>
              <a:rPr lang="ru-RU" dirty="0"/>
              <a:t>Техники, ориентированные на код (Code-</a:t>
            </a:r>
            <a:r>
              <a:rPr lang="ru-RU" dirty="0" err="1"/>
              <a:t>based</a:t>
            </a:r>
            <a:r>
              <a:rPr lang="ru-RU" dirty="0"/>
              <a:t> </a:t>
            </a:r>
            <a:r>
              <a:rPr lang="ru-RU" dirty="0" err="1"/>
              <a:t>techniques</a:t>
            </a:r>
            <a:r>
              <a:rPr lang="ru-RU" dirty="0"/>
              <a:t>)</a:t>
            </a:r>
          </a:p>
          <a:p>
            <a:pPr>
              <a:spcBef>
                <a:spcPts val="0"/>
              </a:spcBef>
            </a:pPr>
            <a:r>
              <a:rPr lang="ru-RU" dirty="0"/>
              <a:t>Тестирование, ориентированное на дефекты (</a:t>
            </a:r>
            <a:r>
              <a:rPr lang="ru-RU" dirty="0" err="1"/>
              <a:t>Fault-based</a:t>
            </a:r>
            <a:r>
              <a:rPr lang="ru-RU" dirty="0"/>
              <a:t> </a:t>
            </a:r>
            <a:r>
              <a:rPr lang="ru-RU" dirty="0" err="1"/>
              <a:t>techniques</a:t>
            </a:r>
            <a:r>
              <a:rPr lang="ru-RU" dirty="0"/>
              <a:t>) </a:t>
            </a:r>
          </a:p>
          <a:p>
            <a:pPr>
              <a:spcBef>
                <a:spcPts val="0"/>
              </a:spcBef>
            </a:pPr>
            <a:r>
              <a:rPr lang="ru-RU" dirty="0"/>
              <a:t>Техники, базирующиеся на условиях использования (</a:t>
            </a:r>
            <a:r>
              <a:rPr lang="ru-RU" dirty="0" err="1"/>
              <a:t>Usage-based</a:t>
            </a:r>
            <a:r>
              <a:rPr lang="ru-RU" dirty="0"/>
              <a:t> </a:t>
            </a:r>
            <a:r>
              <a:rPr lang="ru-RU" dirty="0" err="1"/>
              <a:t>techniques</a:t>
            </a:r>
            <a:r>
              <a:rPr lang="ru-RU" dirty="0"/>
              <a:t>)</a:t>
            </a:r>
          </a:p>
          <a:p>
            <a:pPr>
              <a:spcBef>
                <a:spcPts val="0"/>
              </a:spcBef>
            </a:pPr>
            <a:r>
              <a:rPr lang="ru-RU" dirty="0"/>
              <a:t>Техники, базирующиеся на природе приложения (</a:t>
            </a:r>
            <a:r>
              <a:rPr lang="ru-RU" dirty="0" err="1"/>
              <a:t>Techniques</a:t>
            </a:r>
            <a:r>
              <a:rPr lang="ru-RU" dirty="0"/>
              <a:t> </a:t>
            </a:r>
            <a:r>
              <a:rPr lang="ru-RU" dirty="0" err="1"/>
              <a:t>based</a:t>
            </a:r>
            <a:r>
              <a:rPr lang="ru-RU" dirty="0"/>
              <a:t> </a:t>
            </a:r>
            <a:r>
              <a:rPr lang="ru-RU" dirty="0" err="1"/>
              <a:t>on</a:t>
            </a:r>
            <a:r>
              <a:rPr lang="ru-RU" dirty="0"/>
              <a:t> </a:t>
            </a:r>
            <a:r>
              <a:rPr lang="ru-RU" dirty="0" err="1"/>
              <a:t>the</a:t>
            </a:r>
            <a:r>
              <a:rPr lang="ru-RU" dirty="0"/>
              <a:t> </a:t>
            </a:r>
            <a:r>
              <a:rPr lang="ru-RU" dirty="0" err="1"/>
              <a:t>nature</a:t>
            </a:r>
            <a:r>
              <a:rPr lang="ru-RU" dirty="0"/>
              <a:t> </a:t>
            </a:r>
            <a:r>
              <a:rPr lang="ru-RU" dirty="0" err="1"/>
              <a:t>of</a:t>
            </a:r>
            <a:r>
              <a:rPr lang="ru-RU" dirty="0"/>
              <a:t> </a:t>
            </a:r>
            <a:r>
              <a:rPr lang="ru-RU" dirty="0" err="1"/>
              <a:t>the</a:t>
            </a:r>
            <a:r>
              <a:rPr lang="ru-RU" dirty="0"/>
              <a:t> </a:t>
            </a:r>
            <a:r>
              <a:rPr lang="ru-RU" dirty="0" err="1"/>
              <a:t>application</a:t>
            </a:r>
            <a:r>
              <a:rPr lang="ru-RU" dirty="0"/>
              <a:t>)</a:t>
            </a:r>
          </a:p>
          <a:p>
            <a:pPr lvl="1">
              <a:spcBef>
                <a:spcPts val="0"/>
              </a:spcBef>
            </a:pPr>
            <a:r>
              <a:rPr lang="ru-RU" dirty="0"/>
              <a:t> •	Объектно-ориентированное тестирование; •	Компонентно-ориентированное тестирование; •	Web-ориентированное тестирование; •	Тестирование на соответствие протоколам; •	Тестирование систем реального времени.</a:t>
            </a:r>
          </a:p>
          <a:p>
            <a:pPr>
              <a:spcBef>
                <a:spcPts val="0"/>
              </a:spcBef>
            </a:pPr>
            <a:r>
              <a:rPr lang="ru-RU" dirty="0"/>
              <a:t>Выбор и комбинация различных техник (</a:t>
            </a:r>
            <a:r>
              <a:rPr lang="ru-RU" dirty="0" err="1"/>
              <a:t>Selecting</a:t>
            </a:r>
            <a:r>
              <a:rPr lang="ru-RU" dirty="0"/>
              <a:t> </a:t>
            </a:r>
            <a:r>
              <a:rPr lang="ru-RU" dirty="0" err="1"/>
              <a:t>and</a:t>
            </a:r>
            <a:r>
              <a:rPr lang="ru-RU" dirty="0"/>
              <a:t> </a:t>
            </a:r>
            <a:r>
              <a:rPr lang="ru-RU" dirty="0" err="1"/>
              <a:t>combining</a:t>
            </a:r>
            <a:r>
              <a:rPr lang="ru-RU" dirty="0"/>
              <a:t> </a:t>
            </a:r>
            <a:r>
              <a:rPr lang="ru-RU" dirty="0" err="1"/>
              <a:t>techniques</a:t>
            </a:r>
            <a:r>
              <a:rPr lang="ru-RU" dirty="0"/>
              <a:t>)</a:t>
            </a:r>
          </a:p>
        </p:txBody>
      </p:sp>
      <p:sp>
        <p:nvSpPr>
          <p:cNvPr id="4" name="Нижний колонтитул 3">
            <a:extLst>
              <a:ext uri="{FF2B5EF4-FFF2-40B4-BE49-F238E27FC236}">
                <a16:creationId xmlns:a16="http://schemas.microsoft.com/office/drawing/2014/main" id="{D5518136-23E7-49DD-BE9F-2390086AE50B}"/>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0F63B25F-01EE-437D-A168-9B67A3EAB6AC}"/>
              </a:ext>
            </a:extLst>
          </p:cNvPr>
          <p:cNvSpPr>
            <a:spLocks noGrp="1"/>
          </p:cNvSpPr>
          <p:nvPr>
            <p:ph type="sldNum" sz="quarter" idx="12"/>
          </p:nvPr>
        </p:nvSpPr>
        <p:spPr/>
        <p:txBody>
          <a:bodyPr/>
          <a:lstStyle/>
          <a:p>
            <a:fld id="{DFA5D71E-5CDF-4C93-8A75-5B916FDC5BEA}" type="slidenum">
              <a:rPr lang="en-US" smtClean="0"/>
              <a:pPr/>
              <a:t>15</a:t>
            </a:fld>
            <a:endParaRPr lang="en-US" dirty="0"/>
          </a:p>
        </p:txBody>
      </p:sp>
    </p:spTree>
    <p:extLst>
      <p:ext uri="{BB962C8B-B14F-4D97-AF65-F5344CB8AC3E}">
        <p14:creationId xmlns:p14="http://schemas.microsoft.com/office/powerpoint/2010/main" val="216762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EC8C7F-D5C2-4B75-B6FD-A539EBD8A85D}"/>
              </a:ext>
            </a:extLst>
          </p:cNvPr>
          <p:cNvSpPr>
            <a:spLocks noGrp="1"/>
          </p:cNvSpPr>
          <p:nvPr>
            <p:ph type="title"/>
          </p:nvPr>
        </p:nvSpPr>
        <p:spPr/>
        <p:txBody>
          <a:bodyPr/>
          <a:lstStyle/>
          <a:p>
            <a:r>
              <a:rPr lang="ru-RU" dirty="0"/>
              <a:t>Измерение результатов тестирования (Test-</a:t>
            </a:r>
            <a:r>
              <a:rPr lang="ru-RU" dirty="0" err="1"/>
              <a:t>related</a:t>
            </a:r>
            <a:r>
              <a:rPr lang="ru-RU" dirty="0"/>
              <a:t> </a:t>
            </a:r>
            <a:r>
              <a:rPr lang="ru-RU" dirty="0" err="1"/>
              <a:t>measures</a:t>
            </a:r>
            <a:r>
              <a:rPr lang="ru-RU" dirty="0"/>
              <a:t>)</a:t>
            </a:r>
          </a:p>
        </p:txBody>
      </p:sp>
      <p:sp>
        <p:nvSpPr>
          <p:cNvPr id="3" name="Объект 2">
            <a:extLst>
              <a:ext uri="{FF2B5EF4-FFF2-40B4-BE49-F238E27FC236}">
                <a16:creationId xmlns:a16="http://schemas.microsoft.com/office/drawing/2014/main" id="{291E10DF-9E1F-48B4-B8AF-4C29DFCF0C76}"/>
              </a:ext>
            </a:extLst>
          </p:cNvPr>
          <p:cNvSpPr>
            <a:spLocks noGrp="1"/>
          </p:cNvSpPr>
          <p:nvPr>
            <p:ph idx="1"/>
          </p:nvPr>
        </p:nvSpPr>
        <p:spPr/>
        <p:txBody>
          <a:bodyPr/>
          <a:lstStyle/>
          <a:p>
            <a:r>
              <a:rPr lang="ru-RU" dirty="0"/>
              <a:t>Оценка программ в процессе тестирования (</a:t>
            </a:r>
            <a:r>
              <a:rPr lang="en-GB" dirty="0"/>
              <a:t>Evaluation of the program under test, IEEE 982.1-98)</a:t>
            </a:r>
            <a:endParaRPr lang="ru-RU" dirty="0"/>
          </a:p>
          <a:p>
            <a:r>
              <a:rPr lang="en-US" dirty="0" err="1"/>
              <a:t>Оценка</a:t>
            </a:r>
            <a:r>
              <a:rPr lang="en-US" dirty="0"/>
              <a:t> </a:t>
            </a:r>
            <a:r>
              <a:rPr lang="en-US" dirty="0" err="1"/>
              <a:t>выполненных</a:t>
            </a:r>
            <a:r>
              <a:rPr lang="en-US" dirty="0"/>
              <a:t> </a:t>
            </a:r>
            <a:r>
              <a:rPr lang="en-US" dirty="0" err="1"/>
              <a:t>тестов</a:t>
            </a:r>
            <a:r>
              <a:rPr lang="en-US" dirty="0"/>
              <a:t> (Evaluation of the tests performed)</a:t>
            </a:r>
            <a:endParaRPr lang="ru-RU" dirty="0"/>
          </a:p>
        </p:txBody>
      </p:sp>
      <p:sp>
        <p:nvSpPr>
          <p:cNvPr id="4" name="Нижний колонтитул 3">
            <a:extLst>
              <a:ext uri="{FF2B5EF4-FFF2-40B4-BE49-F238E27FC236}">
                <a16:creationId xmlns:a16="http://schemas.microsoft.com/office/drawing/2014/main" id="{2F320984-579A-41DB-A255-2DDF9979336D}"/>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EC8893A3-DA85-454C-A067-B3886DA9E4AA}"/>
              </a:ext>
            </a:extLst>
          </p:cNvPr>
          <p:cNvSpPr>
            <a:spLocks noGrp="1"/>
          </p:cNvSpPr>
          <p:nvPr>
            <p:ph type="sldNum" sz="quarter" idx="12"/>
          </p:nvPr>
        </p:nvSpPr>
        <p:spPr/>
        <p:txBody>
          <a:bodyPr/>
          <a:lstStyle/>
          <a:p>
            <a:fld id="{DFA5D71E-5CDF-4C93-8A75-5B916FDC5BEA}" type="slidenum">
              <a:rPr lang="en-US" smtClean="0"/>
              <a:pPr/>
              <a:t>16</a:t>
            </a:fld>
            <a:endParaRPr lang="en-US" dirty="0"/>
          </a:p>
        </p:txBody>
      </p:sp>
    </p:spTree>
    <p:extLst>
      <p:ext uri="{BB962C8B-B14F-4D97-AF65-F5344CB8AC3E}">
        <p14:creationId xmlns:p14="http://schemas.microsoft.com/office/powerpoint/2010/main" val="3255379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BB42EC-CAA6-4247-8106-5F9BB5DC081A}"/>
              </a:ext>
            </a:extLst>
          </p:cNvPr>
          <p:cNvSpPr>
            <a:spLocks noGrp="1"/>
          </p:cNvSpPr>
          <p:nvPr>
            <p:ph type="title"/>
          </p:nvPr>
        </p:nvSpPr>
        <p:spPr>
          <a:xfrm>
            <a:off x="838200" y="1"/>
            <a:ext cx="10515600" cy="878840"/>
          </a:xfrm>
        </p:spPr>
        <p:txBody>
          <a:bodyPr>
            <a:normAutofit fontScale="90000"/>
          </a:bodyPr>
          <a:lstStyle/>
          <a:p>
            <a:r>
              <a:rPr lang="ru-RU" dirty="0"/>
              <a:t>Оценка программ в процессе тестирования (</a:t>
            </a:r>
            <a:r>
              <a:rPr lang="en-GB" dirty="0"/>
              <a:t>Evaluation of the program under test, IEEE 982.1-98)</a:t>
            </a:r>
            <a:endParaRPr lang="ru-RU" dirty="0"/>
          </a:p>
        </p:txBody>
      </p:sp>
      <p:sp>
        <p:nvSpPr>
          <p:cNvPr id="3" name="Объект 2">
            <a:extLst>
              <a:ext uri="{FF2B5EF4-FFF2-40B4-BE49-F238E27FC236}">
                <a16:creationId xmlns:a16="http://schemas.microsoft.com/office/drawing/2014/main" id="{D1D72A46-3A82-4FAF-A99F-FC02ECC1FC96}"/>
              </a:ext>
            </a:extLst>
          </p:cNvPr>
          <p:cNvSpPr>
            <a:spLocks noGrp="1"/>
          </p:cNvSpPr>
          <p:nvPr>
            <p:ph idx="1"/>
          </p:nvPr>
        </p:nvSpPr>
        <p:spPr>
          <a:xfrm>
            <a:off x="838200" y="960120"/>
            <a:ext cx="11247120" cy="5805805"/>
          </a:xfrm>
        </p:spPr>
        <p:txBody>
          <a:bodyPr>
            <a:normAutofit/>
          </a:bodyPr>
          <a:lstStyle/>
          <a:p>
            <a:r>
              <a:rPr lang="ru-RU" dirty="0"/>
              <a:t>Измерения программ как часть планирования и разработки тестов (Program </a:t>
            </a:r>
            <a:r>
              <a:rPr lang="ru-RU" dirty="0" err="1"/>
              <a:t>measurements</a:t>
            </a:r>
            <a:r>
              <a:rPr lang="ru-RU" dirty="0"/>
              <a:t> </a:t>
            </a:r>
            <a:r>
              <a:rPr lang="ru-RU" dirty="0" err="1"/>
              <a:t>to</a:t>
            </a:r>
            <a:r>
              <a:rPr lang="ru-RU" dirty="0"/>
              <a:t> </a:t>
            </a:r>
            <a:r>
              <a:rPr lang="ru-RU" dirty="0" err="1"/>
              <a:t>aid</a:t>
            </a:r>
            <a:r>
              <a:rPr lang="ru-RU" dirty="0"/>
              <a:t> </a:t>
            </a:r>
            <a:r>
              <a:rPr lang="ru-RU" dirty="0" err="1"/>
              <a:t>in</a:t>
            </a:r>
            <a:r>
              <a:rPr lang="ru-RU" dirty="0"/>
              <a:t> </a:t>
            </a:r>
            <a:r>
              <a:rPr lang="ru-RU" dirty="0" err="1"/>
              <a:t>planning</a:t>
            </a:r>
            <a:r>
              <a:rPr lang="ru-RU" dirty="0"/>
              <a:t> </a:t>
            </a:r>
            <a:r>
              <a:rPr lang="ru-RU" dirty="0" err="1"/>
              <a:t>and</a:t>
            </a:r>
            <a:r>
              <a:rPr lang="ru-RU" dirty="0"/>
              <a:t> </a:t>
            </a:r>
            <a:r>
              <a:rPr lang="ru-RU" dirty="0" err="1"/>
              <a:t>design</a:t>
            </a:r>
            <a:r>
              <a:rPr lang="ru-RU" dirty="0"/>
              <a:t> </a:t>
            </a:r>
            <a:r>
              <a:rPr lang="ru-RU" dirty="0" err="1"/>
              <a:t>testing</a:t>
            </a:r>
            <a:r>
              <a:rPr lang="ru-RU" dirty="0"/>
              <a:t>)</a:t>
            </a:r>
          </a:p>
          <a:p>
            <a:r>
              <a:rPr lang="ru-RU" dirty="0"/>
              <a:t>Типы дефектов, их классификация и статистика возникновения (</a:t>
            </a:r>
            <a:r>
              <a:rPr lang="ru-RU" dirty="0" err="1"/>
              <a:t>Fault</a:t>
            </a:r>
            <a:r>
              <a:rPr lang="ru-RU" dirty="0"/>
              <a:t> </a:t>
            </a:r>
            <a:r>
              <a:rPr lang="ru-RU" dirty="0" err="1"/>
              <a:t>types</a:t>
            </a:r>
            <a:r>
              <a:rPr lang="ru-RU" dirty="0"/>
              <a:t>, </a:t>
            </a:r>
            <a:r>
              <a:rPr lang="ru-RU" dirty="0" err="1"/>
              <a:t>classification</a:t>
            </a:r>
            <a:r>
              <a:rPr lang="ru-RU" dirty="0"/>
              <a:t> </a:t>
            </a:r>
            <a:r>
              <a:rPr lang="ru-RU" dirty="0" err="1"/>
              <a:t>and</a:t>
            </a:r>
            <a:r>
              <a:rPr lang="ru-RU" dirty="0"/>
              <a:t> </a:t>
            </a:r>
            <a:r>
              <a:rPr lang="ru-RU" dirty="0" err="1"/>
              <a:t>statistics</a:t>
            </a:r>
            <a:r>
              <a:rPr lang="ru-RU" dirty="0"/>
              <a:t>)</a:t>
            </a:r>
          </a:p>
          <a:p>
            <a:r>
              <a:rPr lang="ru-RU" dirty="0"/>
              <a:t>Плотность дефектов (</a:t>
            </a:r>
            <a:r>
              <a:rPr lang="ru-RU" dirty="0" err="1"/>
              <a:t>Fault</a:t>
            </a:r>
            <a:r>
              <a:rPr lang="ru-RU" dirty="0"/>
              <a:t> </a:t>
            </a:r>
            <a:r>
              <a:rPr lang="ru-RU" dirty="0" err="1"/>
              <a:t>density</a:t>
            </a:r>
            <a:r>
              <a:rPr lang="ru-RU" dirty="0"/>
              <a:t>)</a:t>
            </a:r>
          </a:p>
          <a:p>
            <a:r>
              <a:rPr lang="ru-RU" dirty="0"/>
              <a:t>Жизненный цикл тестов, оценка надежности (Life </a:t>
            </a:r>
            <a:r>
              <a:rPr lang="ru-RU" dirty="0" err="1"/>
              <a:t>test</a:t>
            </a:r>
            <a:r>
              <a:rPr lang="ru-RU" dirty="0"/>
              <a:t>, </a:t>
            </a:r>
            <a:r>
              <a:rPr lang="ru-RU" dirty="0" err="1"/>
              <a:t>reliability</a:t>
            </a:r>
            <a:r>
              <a:rPr lang="ru-RU" dirty="0"/>
              <a:t> </a:t>
            </a:r>
            <a:r>
              <a:rPr lang="ru-RU" dirty="0" err="1"/>
              <a:t>evaluation</a:t>
            </a:r>
            <a:r>
              <a:rPr lang="ru-RU" dirty="0"/>
              <a:t>)</a:t>
            </a:r>
          </a:p>
          <a:p>
            <a:r>
              <a:rPr lang="ru-RU" dirty="0"/>
              <a:t>Модели роста надежности (</a:t>
            </a:r>
            <a:r>
              <a:rPr lang="ru-RU" dirty="0" err="1"/>
              <a:t>Reliability</a:t>
            </a:r>
            <a:r>
              <a:rPr lang="ru-RU" dirty="0"/>
              <a:t> </a:t>
            </a:r>
            <a:r>
              <a:rPr lang="ru-RU" dirty="0" err="1"/>
              <a:t>growth</a:t>
            </a:r>
            <a:r>
              <a:rPr lang="ru-RU" dirty="0"/>
              <a:t> </a:t>
            </a:r>
            <a:r>
              <a:rPr lang="ru-RU" dirty="0" err="1"/>
              <a:t>models</a:t>
            </a:r>
            <a:r>
              <a:rPr lang="ru-RU" dirty="0"/>
              <a:t>)</a:t>
            </a:r>
          </a:p>
        </p:txBody>
      </p:sp>
      <p:sp>
        <p:nvSpPr>
          <p:cNvPr id="4" name="Нижний колонтитул 3">
            <a:extLst>
              <a:ext uri="{FF2B5EF4-FFF2-40B4-BE49-F238E27FC236}">
                <a16:creationId xmlns:a16="http://schemas.microsoft.com/office/drawing/2014/main" id="{6ADBD0EF-D300-40FD-9B6D-9E704548DD62}"/>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D4BB2544-EE58-44D0-94AF-D9DB7793E1C2}"/>
              </a:ext>
            </a:extLst>
          </p:cNvPr>
          <p:cNvSpPr>
            <a:spLocks noGrp="1"/>
          </p:cNvSpPr>
          <p:nvPr>
            <p:ph type="sldNum" sz="quarter" idx="12"/>
          </p:nvPr>
        </p:nvSpPr>
        <p:spPr/>
        <p:txBody>
          <a:bodyPr/>
          <a:lstStyle/>
          <a:p>
            <a:fld id="{DFA5D71E-5CDF-4C93-8A75-5B916FDC5BEA}" type="slidenum">
              <a:rPr lang="en-US" smtClean="0"/>
              <a:pPr/>
              <a:t>17</a:t>
            </a:fld>
            <a:endParaRPr lang="en-US" dirty="0"/>
          </a:p>
        </p:txBody>
      </p:sp>
    </p:spTree>
    <p:extLst>
      <p:ext uri="{BB962C8B-B14F-4D97-AF65-F5344CB8AC3E}">
        <p14:creationId xmlns:p14="http://schemas.microsoft.com/office/powerpoint/2010/main" val="1672470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DC7030-0E74-48C0-94DB-D3A0BCED052F}"/>
              </a:ext>
            </a:extLst>
          </p:cNvPr>
          <p:cNvSpPr>
            <a:spLocks noGrp="1"/>
          </p:cNvSpPr>
          <p:nvPr>
            <p:ph type="title"/>
          </p:nvPr>
        </p:nvSpPr>
        <p:spPr>
          <a:xfrm>
            <a:off x="889000" y="0"/>
            <a:ext cx="11303000" cy="1325563"/>
          </a:xfrm>
        </p:spPr>
        <p:txBody>
          <a:bodyPr/>
          <a:lstStyle/>
          <a:p>
            <a:r>
              <a:rPr lang="ru-RU" dirty="0"/>
              <a:t>Оценка выполненных тестов </a:t>
            </a:r>
            <a:br>
              <a:rPr lang="ru-RU" dirty="0"/>
            </a:br>
            <a:r>
              <a:rPr lang="ru-RU" dirty="0"/>
              <a:t>(</a:t>
            </a:r>
            <a:r>
              <a:rPr lang="ru-RU" dirty="0" err="1"/>
              <a:t>Evaluation</a:t>
            </a:r>
            <a:r>
              <a:rPr lang="ru-RU" dirty="0"/>
              <a:t> </a:t>
            </a:r>
            <a:r>
              <a:rPr lang="ru-RU" dirty="0" err="1"/>
              <a:t>of</a:t>
            </a:r>
            <a:r>
              <a:rPr lang="ru-RU" dirty="0"/>
              <a:t> </a:t>
            </a:r>
            <a:r>
              <a:rPr lang="ru-RU" dirty="0" err="1"/>
              <a:t>the</a:t>
            </a:r>
            <a:r>
              <a:rPr lang="ru-RU" dirty="0"/>
              <a:t> </a:t>
            </a:r>
            <a:r>
              <a:rPr lang="ru-RU" dirty="0" err="1"/>
              <a:t>tests</a:t>
            </a:r>
            <a:r>
              <a:rPr lang="ru-RU" dirty="0"/>
              <a:t> </a:t>
            </a:r>
            <a:r>
              <a:rPr lang="ru-RU" dirty="0" err="1"/>
              <a:t>performed</a:t>
            </a:r>
            <a:r>
              <a:rPr lang="ru-RU" dirty="0"/>
              <a:t>)</a:t>
            </a:r>
          </a:p>
        </p:txBody>
      </p:sp>
      <p:sp>
        <p:nvSpPr>
          <p:cNvPr id="3" name="Объект 2">
            <a:extLst>
              <a:ext uri="{FF2B5EF4-FFF2-40B4-BE49-F238E27FC236}">
                <a16:creationId xmlns:a16="http://schemas.microsoft.com/office/drawing/2014/main" id="{64467DEE-9375-43E6-B7CA-0069A44D433D}"/>
              </a:ext>
            </a:extLst>
          </p:cNvPr>
          <p:cNvSpPr>
            <a:spLocks noGrp="1"/>
          </p:cNvSpPr>
          <p:nvPr>
            <p:ph idx="1"/>
          </p:nvPr>
        </p:nvSpPr>
        <p:spPr>
          <a:xfrm>
            <a:off x="838200" y="1234440"/>
            <a:ext cx="11303000" cy="5531485"/>
          </a:xfrm>
        </p:spPr>
        <p:txBody>
          <a:bodyPr>
            <a:normAutofit/>
          </a:bodyPr>
          <a:lstStyle/>
          <a:p>
            <a:r>
              <a:rPr lang="ru-RU" dirty="0"/>
              <a:t>Метрики покрытия/глубины тестирования (</a:t>
            </a:r>
            <a:r>
              <a:rPr lang="ru-RU" dirty="0" err="1"/>
              <a:t>Coverage</a:t>
            </a:r>
            <a:r>
              <a:rPr lang="ru-RU" dirty="0"/>
              <a:t>/</a:t>
            </a:r>
            <a:r>
              <a:rPr lang="ru-RU" dirty="0" err="1"/>
              <a:t>thoroughness</a:t>
            </a:r>
            <a:r>
              <a:rPr lang="ru-RU" dirty="0"/>
              <a:t> </a:t>
            </a:r>
            <a:r>
              <a:rPr lang="ru-RU" dirty="0" err="1"/>
              <a:t>measures</a:t>
            </a:r>
            <a:r>
              <a:rPr lang="ru-RU" dirty="0"/>
              <a:t>)</a:t>
            </a:r>
          </a:p>
          <a:p>
            <a:r>
              <a:rPr lang="ru-RU" dirty="0"/>
              <a:t>Введение искусственных дефектов (</a:t>
            </a:r>
            <a:r>
              <a:rPr lang="ru-RU" dirty="0" err="1"/>
              <a:t>Fault</a:t>
            </a:r>
            <a:r>
              <a:rPr lang="ru-RU" dirty="0"/>
              <a:t> </a:t>
            </a:r>
            <a:r>
              <a:rPr lang="ru-RU" dirty="0" err="1"/>
              <a:t>seeding</a:t>
            </a:r>
            <a:r>
              <a:rPr lang="ru-RU" dirty="0"/>
              <a:t>)</a:t>
            </a:r>
          </a:p>
          <a:p>
            <a:r>
              <a:rPr lang="ru-RU" dirty="0"/>
              <a:t>Оценка мутаций (</a:t>
            </a:r>
            <a:r>
              <a:rPr lang="ru-RU" dirty="0" err="1"/>
              <a:t>Mutation</a:t>
            </a:r>
            <a:r>
              <a:rPr lang="ru-RU" dirty="0"/>
              <a:t> </a:t>
            </a:r>
            <a:r>
              <a:rPr lang="ru-RU" dirty="0" err="1"/>
              <a:t>score</a:t>
            </a:r>
            <a:r>
              <a:rPr lang="ru-RU" dirty="0"/>
              <a:t>)</a:t>
            </a:r>
          </a:p>
          <a:p>
            <a:r>
              <a:rPr lang="ru-RU" dirty="0"/>
              <a:t>Сравнение и относительная эффективность различных техник тестирования (</a:t>
            </a:r>
            <a:r>
              <a:rPr lang="ru-RU" dirty="0" err="1"/>
              <a:t>Comparison</a:t>
            </a:r>
            <a:r>
              <a:rPr lang="ru-RU" dirty="0"/>
              <a:t> </a:t>
            </a:r>
            <a:r>
              <a:rPr lang="ru-RU" dirty="0" err="1"/>
              <a:t>and</a:t>
            </a:r>
            <a:r>
              <a:rPr lang="ru-RU" dirty="0"/>
              <a:t> </a:t>
            </a:r>
            <a:r>
              <a:rPr lang="ru-RU" dirty="0" err="1"/>
              <a:t>relative</a:t>
            </a:r>
            <a:r>
              <a:rPr lang="ru-RU" dirty="0"/>
              <a:t> </a:t>
            </a:r>
            <a:r>
              <a:rPr lang="ru-RU" dirty="0" err="1"/>
              <a:t>effectiveness</a:t>
            </a:r>
            <a:r>
              <a:rPr lang="ru-RU" dirty="0"/>
              <a:t> </a:t>
            </a:r>
            <a:r>
              <a:rPr lang="ru-RU" dirty="0" err="1"/>
              <a:t>of</a:t>
            </a:r>
            <a:r>
              <a:rPr lang="ru-RU" dirty="0"/>
              <a:t> </a:t>
            </a:r>
            <a:r>
              <a:rPr lang="ru-RU" dirty="0" err="1"/>
              <a:t>different</a:t>
            </a:r>
            <a:r>
              <a:rPr lang="ru-RU" dirty="0"/>
              <a:t> </a:t>
            </a:r>
            <a:r>
              <a:rPr lang="ru-RU" dirty="0" err="1"/>
              <a:t>techniques</a:t>
            </a:r>
            <a:r>
              <a:rPr lang="ru-RU" dirty="0"/>
              <a:t>)</a:t>
            </a:r>
          </a:p>
        </p:txBody>
      </p:sp>
      <p:sp>
        <p:nvSpPr>
          <p:cNvPr id="4" name="Нижний колонтитул 3">
            <a:extLst>
              <a:ext uri="{FF2B5EF4-FFF2-40B4-BE49-F238E27FC236}">
                <a16:creationId xmlns:a16="http://schemas.microsoft.com/office/drawing/2014/main" id="{F6925CFF-576A-484B-ACBC-5EAE712AEDBA}"/>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FB8D0787-1611-4E59-870C-2E271F90F8B4}"/>
              </a:ext>
            </a:extLst>
          </p:cNvPr>
          <p:cNvSpPr>
            <a:spLocks noGrp="1"/>
          </p:cNvSpPr>
          <p:nvPr>
            <p:ph type="sldNum" sz="quarter" idx="12"/>
          </p:nvPr>
        </p:nvSpPr>
        <p:spPr/>
        <p:txBody>
          <a:bodyPr/>
          <a:lstStyle/>
          <a:p>
            <a:fld id="{DFA5D71E-5CDF-4C93-8A75-5B916FDC5BEA}" type="slidenum">
              <a:rPr lang="en-US" smtClean="0"/>
              <a:pPr/>
              <a:t>18</a:t>
            </a:fld>
            <a:endParaRPr lang="en-US" dirty="0"/>
          </a:p>
        </p:txBody>
      </p:sp>
    </p:spTree>
    <p:extLst>
      <p:ext uri="{BB962C8B-B14F-4D97-AF65-F5344CB8AC3E}">
        <p14:creationId xmlns:p14="http://schemas.microsoft.com/office/powerpoint/2010/main" val="2545064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150223-69A3-42F5-8E53-67398F1F79E5}"/>
              </a:ext>
            </a:extLst>
          </p:cNvPr>
          <p:cNvSpPr>
            <a:spLocks noGrp="1"/>
          </p:cNvSpPr>
          <p:nvPr>
            <p:ph type="title"/>
          </p:nvPr>
        </p:nvSpPr>
        <p:spPr>
          <a:xfrm>
            <a:off x="838200" y="18255"/>
            <a:ext cx="11292840" cy="830105"/>
          </a:xfrm>
        </p:spPr>
        <p:txBody>
          <a:bodyPr/>
          <a:lstStyle/>
          <a:p>
            <a:r>
              <a:rPr lang="ru-RU" dirty="0"/>
              <a:t>Процесс тестирования (</a:t>
            </a:r>
            <a:r>
              <a:rPr lang="en-GB" dirty="0"/>
              <a:t>Test Process)</a:t>
            </a:r>
            <a:endParaRPr lang="ru-RU" dirty="0"/>
          </a:p>
        </p:txBody>
      </p:sp>
      <p:sp>
        <p:nvSpPr>
          <p:cNvPr id="3" name="Объект 2">
            <a:extLst>
              <a:ext uri="{FF2B5EF4-FFF2-40B4-BE49-F238E27FC236}">
                <a16:creationId xmlns:a16="http://schemas.microsoft.com/office/drawing/2014/main" id="{FBE83D20-6AD2-4A4D-9838-213DC4AE73F1}"/>
              </a:ext>
            </a:extLst>
          </p:cNvPr>
          <p:cNvSpPr>
            <a:spLocks noGrp="1"/>
          </p:cNvSpPr>
          <p:nvPr>
            <p:ph idx="1"/>
          </p:nvPr>
        </p:nvSpPr>
        <p:spPr>
          <a:xfrm>
            <a:off x="939800" y="848360"/>
            <a:ext cx="11069320" cy="5455920"/>
          </a:xfrm>
        </p:spPr>
        <p:txBody>
          <a:bodyPr>
            <a:normAutofit/>
          </a:bodyPr>
          <a:lstStyle/>
          <a:p>
            <a:r>
              <a:rPr lang="ru-RU" dirty="0"/>
              <a:t>Практические соображения (</a:t>
            </a:r>
            <a:r>
              <a:rPr lang="ru-RU" dirty="0" err="1"/>
              <a:t>Practical</a:t>
            </a:r>
            <a:r>
              <a:rPr lang="ru-RU" dirty="0"/>
              <a:t> </a:t>
            </a:r>
            <a:r>
              <a:rPr lang="ru-RU" dirty="0" err="1"/>
              <a:t>considerations</a:t>
            </a:r>
            <a:r>
              <a:rPr lang="ru-RU" dirty="0"/>
              <a:t>)</a:t>
            </a:r>
          </a:p>
          <a:p>
            <a:r>
              <a:rPr lang="ru-RU" dirty="0"/>
              <a:t>Тестовые работы (Test </a:t>
            </a:r>
            <a:r>
              <a:rPr lang="ru-RU" dirty="0" err="1"/>
              <a:t>Activities</a:t>
            </a:r>
            <a:r>
              <a:rPr lang="ru-RU" dirty="0"/>
              <a:t>)</a:t>
            </a:r>
          </a:p>
          <a:p>
            <a:pPr marL="0" indent="0">
              <a:buNone/>
            </a:pPr>
            <a:endParaRPr lang="ru-RU" dirty="0"/>
          </a:p>
        </p:txBody>
      </p:sp>
      <p:sp>
        <p:nvSpPr>
          <p:cNvPr id="4" name="Нижний колонтитул 3">
            <a:extLst>
              <a:ext uri="{FF2B5EF4-FFF2-40B4-BE49-F238E27FC236}">
                <a16:creationId xmlns:a16="http://schemas.microsoft.com/office/drawing/2014/main" id="{1FA47952-9702-4344-B1B0-8107409CAED3}"/>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A8D46D-461E-4A43-9621-BDC594F553F6}"/>
              </a:ext>
            </a:extLst>
          </p:cNvPr>
          <p:cNvSpPr>
            <a:spLocks noGrp="1"/>
          </p:cNvSpPr>
          <p:nvPr>
            <p:ph type="sldNum" sz="quarter" idx="12"/>
          </p:nvPr>
        </p:nvSpPr>
        <p:spPr/>
        <p:txBody>
          <a:bodyPr/>
          <a:lstStyle/>
          <a:p>
            <a:fld id="{DFA5D71E-5CDF-4C93-8A75-5B916FDC5BEA}" type="slidenum">
              <a:rPr lang="en-US" smtClean="0"/>
              <a:pPr/>
              <a:t>19</a:t>
            </a:fld>
            <a:endParaRPr lang="en-US" dirty="0"/>
          </a:p>
        </p:txBody>
      </p:sp>
    </p:spTree>
    <p:extLst>
      <p:ext uri="{BB962C8B-B14F-4D97-AF65-F5344CB8AC3E}">
        <p14:creationId xmlns:p14="http://schemas.microsoft.com/office/powerpoint/2010/main" val="3918472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150223-69A3-42F5-8E53-67398F1F79E5}"/>
              </a:ext>
            </a:extLst>
          </p:cNvPr>
          <p:cNvSpPr>
            <a:spLocks noGrp="1"/>
          </p:cNvSpPr>
          <p:nvPr>
            <p:ph type="title"/>
          </p:nvPr>
        </p:nvSpPr>
        <p:spPr>
          <a:xfrm>
            <a:off x="828040" y="18255"/>
            <a:ext cx="11292840" cy="586265"/>
          </a:xfrm>
        </p:spPr>
        <p:txBody>
          <a:bodyPr>
            <a:normAutofit fontScale="90000"/>
          </a:bodyPr>
          <a:lstStyle/>
          <a:p>
            <a:r>
              <a:rPr lang="ru-RU" dirty="0"/>
              <a:t>Практические соображения (</a:t>
            </a:r>
            <a:r>
              <a:rPr lang="ru-RU" dirty="0" err="1"/>
              <a:t>Practical</a:t>
            </a:r>
            <a:r>
              <a:rPr lang="ru-RU" dirty="0"/>
              <a:t> </a:t>
            </a:r>
            <a:r>
              <a:rPr lang="ru-RU" dirty="0" err="1"/>
              <a:t>considerations</a:t>
            </a:r>
            <a:r>
              <a:rPr lang="ru-RU" dirty="0"/>
              <a:t>)</a:t>
            </a:r>
          </a:p>
        </p:txBody>
      </p:sp>
      <p:sp>
        <p:nvSpPr>
          <p:cNvPr id="3" name="Объект 2">
            <a:extLst>
              <a:ext uri="{FF2B5EF4-FFF2-40B4-BE49-F238E27FC236}">
                <a16:creationId xmlns:a16="http://schemas.microsoft.com/office/drawing/2014/main" id="{FBE83D20-6AD2-4A4D-9838-213DC4AE73F1}"/>
              </a:ext>
            </a:extLst>
          </p:cNvPr>
          <p:cNvSpPr>
            <a:spLocks noGrp="1"/>
          </p:cNvSpPr>
          <p:nvPr>
            <p:ph idx="1"/>
          </p:nvPr>
        </p:nvSpPr>
        <p:spPr>
          <a:xfrm>
            <a:off x="939800" y="604520"/>
            <a:ext cx="11069320" cy="6197600"/>
          </a:xfrm>
        </p:spPr>
        <p:txBody>
          <a:bodyPr>
            <a:normAutofit/>
          </a:bodyPr>
          <a:lstStyle/>
          <a:p>
            <a:pPr>
              <a:spcBef>
                <a:spcPts val="0"/>
              </a:spcBef>
            </a:pPr>
            <a:r>
              <a:rPr lang="ru-RU" sz="2000" dirty="0"/>
              <a:t>Программирование без персоналий (</a:t>
            </a:r>
            <a:r>
              <a:rPr lang="ru-RU" sz="2000" dirty="0" err="1"/>
              <a:t>Attitudes</a:t>
            </a:r>
            <a:r>
              <a:rPr lang="ru-RU" sz="2000" dirty="0"/>
              <a:t>/</a:t>
            </a:r>
            <a:r>
              <a:rPr lang="ru-RU" sz="2000" dirty="0" err="1"/>
              <a:t>Egoless</a:t>
            </a:r>
            <a:r>
              <a:rPr lang="ru-RU" sz="2000" dirty="0"/>
              <a:t> </a:t>
            </a:r>
            <a:r>
              <a:rPr lang="ru-RU" sz="2000" dirty="0" err="1"/>
              <a:t>programming</a:t>
            </a:r>
            <a:r>
              <a:rPr lang="ru-RU" sz="2000" dirty="0"/>
              <a:t>)</a:t>
            </a:r>
          </a:p>
          <a:p>
            <a:pPr>
              <a:spcBef>
                <a:spcPts val="0"/>
              </a:spcBef>
            </a:pPr>
            <a:r>
              <a:rPr lang="ru-RU" sz="2000" dirty="0"/>
              <a:t>Руководства по тестированию (Test </a:t>
            </a:r>
            <a:r>
              <a:rPr lang="ru-RU" sz="2000" dirty="0" err="1"/>
              <a:t>guides</a:t>
            </a:r>
            <a:r>
              <a:rPr lang="ru-RU" sz="2000" dirty="0"/>
              <a:t>)</a:t>
            </a:r>
          </a:p>
          <a:p>
            <a:pPr>
              <a:spcBef>
                <a:spcPts val="0"/>
              </a:spcBef>
            </a:pPr>
            <a:r>
              <a:rPr lang="ru-RU" sz="2000" dirty="0"/>
              <a:t>Управление процессом тестирования (Test </a:t>
            </a:r>
            <a:r>
              <a:rPr lang="ru-RU" sz="2000" dirty="0" err="1"/>
              <a:t>process</a:t>
            </a:r>
            <a:r>
              <a:rPr lang="ru-RU" sz="2000" dirty="0"/>
              <a:t> </a:t>
            </a:r>
            <a:r>
              <a:rPr lang="ru-RU" sz="2000" dirty="0" err="1"/>
              <a:t>management</a:t>
            </a:r>
            <a:r>
              <a:rPr lang="ru-RU" sz="2000" dirty="0"/>
              <a:t>)</a:t>
            </a:r>
          </a:p>
          <a:p>
            <a:pPr>
              <a:spcBef>
                <a:spcPts val="0"/>
              </a:spcBef>
            </a:pPr>
            <a:r>
              <a:rPr lang="ru-RU" sz="2000" dirty="0"/>
              <a:t>Документирование тестов и рабочего продукта (Test </a:t>
            </a:r>
            <a:r>
              <a:rPr lang="ru-RU" sz="2000" dirty="0" err="1"/>
              <a:t>documentation</a:t>
            </a:r>
            <a:r>
              <a:rPr lang="ru-RU" sz="2000" dirty="0"/>
              <a:t> </a:t>
            </a:r>
            <a:r>
              <a:rPr lang="ru-RU" sz="2000" dirty="0" err="1"/>
              <a:t>and</a:t>
            </a:r>
            <a:r>
              <a:rPr lang="ru-RU" sz="2000" dirty="0"/>
              <a:t> </a:t>
            </a:r>
            <a:r>
              <a:rPr lang="ru-RU" sz="2000" dirty="0" err="1"/>
              <a:t>work</a:t>
            </a:r>
            <a:r>
              <a:rPr lang="ru-RU" sz="2000" dirty="0"/>
              <a:t> </a:t>
            </a:r>
            <a:r>
              <a:rPr lang="ru-RU" sz="2000" dirty="0" err="1"/>
              <a:t>products</a:t>
            </a:r>
            <a:r>
              <a:rPr lang="ru-RU" sz="2000" dirty="0"/>
              <a:t>)</a:t>
            </a:r>
          </a:p>
          <a:p>
            <a:pPr>
              <a:spcBef>
                <a:spcPts val="0"/>
              </a:spcBef>
            </a:pPr>
            <a:r>
              <a:rPr lang="ru-RU" sz="2000" dirty="0"/>
              <a:t>Внутренние и независимые команды тестирования (</a:t>
            </a:r>
            <a:r>
              <a:rPr lang="ru-RU" sz="2000" dirty="0" err="1"/>
              <a:t>Internal</a:t>
            </a:r>
            <a:r>
              <a:rPr lang="ru-RU" sz="2000" dirty="0"/>
              <a:t> </a:t>
            </a:r>
            <a:r>
              <a:rPr lang="ru-RU" sz="2000" dirty="0" err="1"/>
              <a:t>vs</a:t>
            </a:r>
            <a:r>
              <a:rPr lang="ru-RU" sz="2000" dirty="0"/>
              <a:t>. </a:t>
            </a:r>
            <a:r>
              <a:rPr lang="ru-RU" sz="2000" dirty="0" err="1"/>
              <a:t>independent</a:t>
            </a:r>
            <a:r>
              <a:rPr lang="ru-RU" sz="2000" dirty="0"/>
              <a:t> </a:t>
            </a:r>
            <a:r>
              <a:rPr lang="ru-RU" sz="2000" dirty="0" err="1"/>
              <a:t>test</a:t>
            </a:r>
            <a:r>
              <a:rPr lang="ru-RU" sz="2000" dirty="0"/>
              <a:t> </a:t>
            </a:r>
            <a:r>
              <a:rPr lang="ru-RU" sz="2000" dirty="0" err="1"/>
              <a:t>team</a:t>
            </a:r>
            <a:r>
              <a:rPr lang="ru-RU" sz="2000" dirty="0"/>
              <a:t>)</a:t>
            </a:r>
          </a:p>
          <a:p>
            <a:pPr>
              <a:spcBef>
                <a:spcPts val="0"/>
              </a:spcBef>
            </a:pPr>
            <a:r>
              <a:rPr lang="ru-RU" sz="2000" dirty="0"/>
              <a:t>Оценка стоимости и усилий, а также другие измерения процесса (Cost/</a:t>
            </a:r>
            <a:r>
              <a:rPr lang="ru-RU" sz="2000" dirty="0" err="1"/>
              <a:t>effort</a:t>
            </a:r>
            <a:r>
              <a:rPr lang="ru-RU" sz="2000" dirty="0"/>
              <a:t> </a:t>
            </a:r>
            <a:r>
              <a:rPr lang="ru-RU" sz="2000" dirty="0" err="1"/>
              <a:t>estimation</a:t>
            </a:r>
            <a:r>
              <a:rPr lang="ru-RU" sz="2000" dirty="0"/>
              <a:t> </a:t>
            </a:r>
            <a:r>
              <a:rPr lang="ru-RU" sz="2000" dirty="0" err="1"/>
              <a:t>and</a:t>
            </a:r>
            <a:r>
              <a:rPr lang="ru-RU" sz="2000" dirty="0"/>
              <a:t> </a:t>
            </a:r>
            <a:r>
              <a:rPr lang="ru-RU" sz="2000" dirty="0" err="1"/>
              <a:t>other</a:t>
            </a:r>
            <a:r>
              <a:rPr lang="ru-RU" sz="2000" dirty="0"/>
              <a:t> </a:t>
            </a:r>
            <a:r>
              <a:rPr lang="ru-RU" sz="2000" dirty="0" err="1"/>
              <a:t>process</a:t>
            </a:r>
            <a:r>
              <a:rPr lang="ru-RU" sz="2000" dirty="0"/>
              <a:t> </a:t>
            </a:r>
            <a:r>
              <a:rPr lang="ru-RU" sz="2000" dirty="0" err="1"/>
              <a:t>measures</a:t>
            </a:r>
            <a:r>
              <a:rPr lang="ru-RU" sz="2000" dirty="0"/>
              <a:t>)</a:t>
            </a:r>
          </a:p>
          <a:p>
            <a:pPr>
              <a:spcBef>
                <a:spcPts val="0"/>
              </a:spcBef>
            </a:pPr>
            <a:r>
              <a:rPr lang="ru-RU" sz="2000" dirty="0"/>
              <a:t>Окончание тестирования (</a:t>
            </a:r>
            <a:r>
              <a:rPr lang="ru-RU" sz="2000" dirty="0" err="1"/>
              <a:t>Termination</a:t>
            </a:r>
            <a:r>
              <a:rPr lang="ru-RU" sz="2000" dirty="0"/>
              <a:t>)</a:t>
            </a:r>
          </a:p>
          <a:p>
            <a:pPr>
              <a:spcBef>
                <a:spcPts val="0"/>
              </a:spcBef>
            </a:pPr>
            <a:r>
              <a:rPr lang="ru-RU" sz="2000" dirty="0"/>
              <a:t>Повторное использование и шаблоны тестов (Test </a:t>
            </a:r>
            <a:r>
              <a:rPr lang="ru-RU" sz="2000" dirty="0" err="1"/>
              <a:t>reuse</a:t>
            </a:r>
            <a:r>
              <a:rPr lang="ru-RU" sz="2000" dirty="0"/>
              <a:t> </a:t>
            </a:r>
            <a:r>
              <a:rPr lang="ru-RU" sz="2000" dirty="0" err="1"/>
              <a:t>and</a:t>
            </a:r>
            <a:r>
              <a:rPr lang="ru-RU" sz="2000" dirty="0"/>
              <a:t> </a:t>
            </a:r>
            <a:r>
              <a:rPr lang="ru-RU" sz="2000" dirty="0" err="1"/>
              <a:t>test</a:t>
            </a:r>
            <a:r>
              <a:rPr lang="ru-RU" sz="2000" dirty="0"/>
              <a:t> </a:t>
            </a:r>
            <a:r>
              <a:rPr lang="ru-RU" sz="2000" dirty="0" err="1"/>
              <a:t>patterns</a:t>
            </a:r>
            <a:r>
              <a:rPr lang="ru-RU" sz="2000" dirty="0"/>
              <a:t>)</a:t>
            </a:r>
          </a:p>
          <a:p>
            <a:pPr lvl="1">
              <a:spcBef>
                <a:spcPts val="0"/>
              </a:spcBef>
            </a:pPr>
            <a:r>
              <a:rPr lang="ru-RU" sz="2000" dirty="0"/>
              <a:t>Доведение тестов до конца и обеспечение сопровождения программной системы необходимо каждый фрагмент системы тестировать систематическим образом, повторно используя наработанные тесты. Общий репозиторий тестовых активов должен находиться под контролем системы конфигурационного управления, с тем, чтобы любые изменения в требованиях или дизайне могли быть отражены в используемых наборах тестов, в том числе, с точки зрения их расширения новыми тестами, если этого требуют соответствующие изменения.</a:t>
            </a:r>
          </a:p>
          <a:p>
            <a:pPr lvl="1">
              <a:spcBef>
                <a:spcPts val="0"/>
              </a:spcBef>
            </a:pPr>
            <a:r>
              <a:rPr lang="ru-RU" sz="2000" dirty="0"/>
              <a:t>Шаблоны тестов конструируются на основе тестовых решений, наработанных для проверки определенных ситуаций или типовых фрагментов программных систем. Такие шаблоны должны быть документированы с учетом повторного использования, включая прозрачные возможности их адаптации под специфику программных решений, к которым такие шаблоны применяются.</a:t>
            </a:r>
          </a:p>
        </p:txBody>
      </p:sp>
      <p:sp>
        <p:nvSpPr>
          <p:cNvPr id="4" name="Нижний колонтитул 3">
            <a:extLst>
              <a:ext uri="{FF2B5EF4-FFF2-40B4-BE49-F238E27FC236}">
                <a16:creationId xmlns:a16="http://schemas.microsoft.com/office/drawing/2014/main" id="{1FA47952-9702-4344-B1B0-8107409CAED3}"/>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A8D46D-461E-4A43-9621-BDC594F553F6}"/>
              </a:ext>
            </a:extLst>
          </p:cNvPr>
          <p:cNvSpPr>
            <a:spLocks noGrp="1"/>
          </p:cNvSpPr>
          <p:nvPr>
            <p:ph type="sldNum" sz="quarter" idx="12"/>
          </p:nvPr>
        </p:nvSpPr>
        <p:spPr/>
        <p:txBody>
          <a:bodyPr/>
          <a:lstStyle/>
          <a:p>
            <a:fld id="{DFA5D71E-5CDF-4C93-8A75-5B916FDC5BEA}" type="slidenum">
              <a:rPr lang="en-US" smtClean="0"/>
              <a:pPr/>
              <a:t>20</a:t>
            </a:fld>
            <a:endParaRPr lang="en-US" dirty="0"/>
          </a:p>
        </p:txBody>
      </p:sp>
    </p:spTree>
    <p:extLst>
      <p:ext uri="{BB962C8B-B14F-4D97-AF65-F5344CB8AC3E}">
        <p14:creationId xmlns:p14="http://schemas.microsoft.com/office/powerpoint/2010/main" val="2661535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150223-69A3-42F5-8E53-67398F1F79E5}"/>
              </a:ext>
            </a:extLst>
          </p:cNvPr>
          <p:cNvSpPr>
            <a:spLocks noGrp="1"/>
          </p:cNvSpPr>
          <p:nvPr>
            <p:ph type="title"/>
          </p:nvPr>
        </p:nvSpPr>
        <p:spPr>
          <a:xfrm>
            <a:off x="838200" y="18255"/>
            <a:ext cx="11292840" cy="830105"/>
          </a:xfrm>
        </p:spPr>
        <p:txBody>
          <a:bodyPr/>
          <a:lstStyle/>
          <a:p>
            <a:r>
              <a:rPr lang="ru-RU" dirty="0"/>
              <a:t>Тестовые работы (</a:t>
            </a:r>
            <a:r>
              <a:rPr lang="en-GB" dirty="0"/>
              <a:t>Test Activities)</a:t>
            </a:r>
          </a:p>
        </p:txBody>
      </p:sp>
      <p:sp>
        <p:nvSpPr>
          <p:cNvPr id="3" name="Объект 2">
            <a:extLst>
              <a:ext uri="{FF2B5EF4-FFF2-40B4-BE49-F238E27FC236}">
                <a16:creationId xmlns:a16="http://schemas.microsoft.com/office/drawing/2014/main" id="{FBE83D20-6AD2-4A4D-9838-213DC4AE73F1}"/>
              </a:ext>
            </a:extLst>
          </p:cNvPr>
          <p:cNvSpPr>
            <a:spLocks noGrp="1"/>
          </p:cNvSpPr>
          <p:nvPr>
            <p:ph idx="1"/>
          </p:nvPr>
        </p:nvSpPr>
        <p:spPr>
          <a:xfrm>
            <a:off x="909320" y="701039"/>
            <a:ext cx="11069320" cy="6064885"/>
          </a:xfrm>
        </p:spPr>
        <p:txBody>
          <a:bodyPr>
            <a:normAutofit lnSpcReduction="10000"/>
          </a:bodyPr>
          <a:lstStyle/>
          <a:p>
            <a:pPr>
              <a:spcBef>
                <a:spcPts val="0"/>
              </a:spcBef>
            </a:pPr>
            <a:r>
              <a:rPr lang="ru-RU" dirty="0"/>
              <a:t>Планирование (Planning)</a:t>
            </a:r>
          </a:p>
          <a:p>
            <a:pPr>
              <a:spcBef>
                <a:spcPts val="0"/>
              </a:spcBef>
            </a:pPr>
            <a:r>
              <a:rPr lang="ru-RU"/>
              <a:t>Генерация </a:t>
            </a:r>
            <a:r>
              <a:rPr lang="ru-RU" dirty="0"/>
              <a:t>сценариев тестирования (Test-</a:t>
            </a:r>
            <a:r>
              <a:rPr lang="ru-RU" dirty="0" err="1"/>
              <a:t>case</a:t>
            </a:r>
            <a:r>
              <a:rPr lang="ru-RU" dirty="0"/>
              <a:t> </a:t>
            </a:r>
            <a:r>
              <a:rPr lang="ru-RU" dirty="0" err="1"/>
              <a:t>generation</a:t>
            </a:r>
            <a:r>
              <a:rPr lang="ru-RU" dirty="0"/>
              <a:t>)</a:t>
            </a:r>
          </a:p>
          <a:p>
            <a:pPr>
              <a:spcBef>
                <a:spcPts val="0"/>
              </a:spcBef>
            </a:pPr>
            <a:r>
              <a:rPr lang="ru-RU" dirty="0"/>
              <a:t>Разработка тестового окружения (Test </a:t>
            </a:r>
            <a:r>
              <a:rPr lang="ru-RU" dirty="0" err="1"/>
              <a:t>environment</a:t>
            </a:r>
            <a:r>
              <a:rPr lang="ru-RU" dirty="0"/>
              <a:t> </a:t>
            </a:r>
            <a:r>
              <a:rPr lang="ru-RU" dirty="0" err="1"/>
              <a:t>development</a:t>
            </a:r>
            <a:r>
              <a:rPr lang="ru-RU" dirty="0"/>
              <a:t>)</a:t>
            </a:r>
          </a:p>
          <a:p>
            <a:pPr>
              <a:spcBef>
                <a:spcPts val="0"/>
              </a:spcBef>
            </a:pPr>
            <a:r>
              <a:rPr lang="ru-RU" dirty="0"/>
              <a:t>Выполнение тестов (</a:t>
            </a:r>
            <a:r>
              <a:rPr lang="ru-RU" dirty="0" err="1"/>
              <a:t>Execution</a:t>
            </a:r>
            <a:r>
              <a:rPr lang="ru-RU" dirty="0"/>
              <a:t>)</a:t>
            </a:r>
          </a:p>
          <a:p>
            <a:pPr lvl="1">
              <a:spcBef>
                <a:spcPts val="0"/>
              </a:spcBef>
            </a:pPr>
            <a:r>
              <a:rPr lang="ru-RU" dirty="0"/>
              <a:t>Выполнение тестов должно содержать основные принципы ведения научного эксперимента:</a:t>
            </a:r>
          </a:p>
          <a:p>
            <a:pPr lvl="1">
              <a:spcBef>
                <a:spcPts val="0"/>
              </a:spcBef>
            </a:pPr>
            <a:r>
              <a:rPr lang="ru-RU" dirty="0"/>
              <a:t>•	должны фиксироваться все работы и результаты процесса тестирования;</a:t>
            </a:r>
          </a:p>
          <a:p>
            <a:pPr lvl="1">
              <a:spcBef>
                <a:spcPts val="0"/>
              </a:spcBef>
            </a:pPr>
            <a:r>
              <a:rPr lang="ru-RU" dirty="0"/>
              <a:t>•	форма журналирования таких работ и их результатов должна быть такой, чтобы соответствующее содержание было понятно, однозначно </a:t>
            </a:r>
            <a:r>
              <a:rPr lang="ru-RU" dirty="0" err="1"/>
              <a:t>интрепретируемой</a:t>
            </a:r>
            <a:r>
              <a:rPr lang="ru-RU" dirty="0"/>
              <a:t> и повторяемо другими лицами (не теми, кто первоначально проводил тестирование);</a:t>
            </a:r>
          </a:p>
          <a:p>
            <a:pPr lvl="1">
              <a:spcBef>
                <a:spcPts val="0"/>
              </a:spcBef>
            </a:pPr>
            <a:r>
              <a:rPr lang="ru-RU" dirty="0"/>
              <a:t>•	тестирование должно проводиться в соответствии с заданными и документированными процедурами;</a:t>
            </a:r>
          </a:p>
          <a:p>
            <a:pPr lvl="1">
              <a:spcBef>
                <a:spcPts val="0"/>
              </a:spcBef>
            </a:pPr>
            <a:r>
              <a:rPr lang="ru-RU" dirty="0"/>
              <a:t>•	тестирование должно производиться над однозначно идентифицируемой версией и конфигурацией программной системы.</a:t>
            </a:r>
          </a:p>
          <a:p>
            <a:pPr lvl="1">
              <a:spcBef>
                <a:spcPts val="0"/>
              </a:spcBef>
            </a:pPr>
            <a:r>
              <a:rPr lang="ru-RU" dirty="0"/>
              <a:t>Ряд вопросов выполнения тестов и других работ по тестированию освещен в стандарте IEEE 1008-87.</a:t>
            </a:r>
          </a:p>
          <a:p>
            <a:pPr>
              <a:spcBef>
                <a:spcPts val="0"/>
              </a:spcBef>
            </a:pPr>
            <a:r>
              <a:rPr lang="ru-RU" dirty="0"/>
              <a:t>Анализ результатов тестирования (Test </a:t>
            </a:r>
            <a:r>
              <a:rPr lang="ru-RU" dirty="0" err="1"/>
              <a:t>results</a:t>
            </a:r>
            <a:r>
              <a:rPr lang="ru-RU" dirty="0"/>
              <a:t> </a:t>
            </a:r>
            <a:r>
              <a:rPr lang="ru-RU" dirty="0" err="1"/>
              <a:t>evaluation</a:t>
            </a:r>
            <a:r>
              <a:rPr lang="ru-RU" dirty="0"/>
              <a:t>)</a:t>
            </a:r>
          </a:p>
          <a:p>
            <a:pPr>
              <a:spcBef>
                <a:spcPts val="0"/>
              </a:spcBef>
            </a:pPr>
            <a:r>
              <a:rPr lang="ru-RU" dirty="0"/>
              <a:t>Отчёты о проблемах/журнал тестирования (</a:t>
            </a:r>
            <a:r>
              <a:rPr lang="ru-RU" dirty="0" err="1"/>
              <a:t>Problem</a:t>
            </a:r>
            <a:r>
              <a:rPr lang="ru-RU" dirty="0"/>
              <a:t> </a:t>
            </a:r>
            <a:r>
              <a:rPr lang="ru-RU" dirty="0" err="1"/>
              <a:t>reporting</a:t>
            </a:r>
            <a:r>
              <a:rPr lang="ru-RU" dirty="0"/>
              <a:t>/Test </a:t>
            </a:r>
            <a:r>
              <a:rPr lang="ru-RU" dirty="0" err="1"/>
              <a:t>log</a:t>
            </a:r>
            <a:r>
              <a:rPr lang="ru-RU" dirty="0"/>
              <a:t>)</a:t>
            </a:r>
          </a:p>
          <a:p>
            <a:pPr>
              <a:spcBef>
                <a:spcPts val="0"/>
              </a:spcBef>
            </a:pPr>
            <a:r>
              <a:rPr lang="ru-RU" dirty="0"/>
              <a:t>Отслеживание дефектов (</a:t>
            </a:r>
            <a:r>
              <a:rPr lang="ru-RU" dirty="0" err="1"/>
              <a:t>Defect</a:t>
            </a:r>
            <a:r>
              <a:rPr lang="ru-RU" dirty="0"/>
              <a:t> </a:t>
            </a:r>
            <a:r>
              <a:rPr lang="ru-RU" dirty="0" err="1"/>
              <a:t>tracking</a:t>
            </a:r>
            <a:r>
              <a:rPr lang="ru-RU" dirty="0"/>
              <a:t>)</a:t>
            </a:r>
          </a:p>
        </p:txBody>
      </p:sp>
      <p:sp>
        <p:nvSpPr>
          <p:cNvPr id="4" name="Нижний колонтитул 3">
            <a:extLst>
              <a:ext uri="{FF2B5EF4-FFF2-40B4-BE49-F238E27FC236}">
                <a16:creationId xmlns:a16="http://schemas.microsoft.com/office/drawing/2014/main" id="{1FA47952-9702-4344-B1B0-8107409CAED3}"/>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A8D46D-461E-4A43-9621-BDC594F553F6}"/>
              </a:ext>
            </a:extLst>
          </p:cNvPr>
          <p:cNvSpPr>
            <a:spLocks noGrp="1"/>
          </p:cNvSpPr>
          <p:nvPr>
            <p:ph type="sldNum" sz="quarter" idx="12"/>
          </p:nvPr>
        </p:nvSpPr>
        <p:spPr/>
        <p:txBody>
          <a:bodyPr/>
          <a:lstStyle/>
          <a:p>
            <a:fld id="{DFA5D71E-5CDF-4C93-8A75-5B916FDC5BEA}" type="slidenum">
              <a:rPr lang="en-US" smtClean="0"/>
              <a:pPr/>
              <a:t>21</a:t>
            </a:fld>
            <a:endParaRPr lang="en-US" dirty="0"/>
          </a:p>
        </p:txBody>
      </p:sp>
    </p:spTree>
    <p:extLst>
      <p:ext uri="{BB962C8B-B14F-4D97-AF65-F5344CB8AC3E}">
        <p14:creationId xmlns:p14="http://schemas.microsoft.com/office/powerpoint/2010/main" val="746440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F3CB39AC-FFD8-AA0A-4EDA-2A528BCCCF35}"/>
              </a:ext>
            </a:extLst>
          </p:cNvPr>
          <p:cNvSpPr>
            <a:spLocks noGrp="1"/>
          </p:cNvSpPr>
          <p:nvPr>
            <p:ph type="title"/>
          </p:nvPr>
        </p:nvSpPr>
        <p:spPr>
          <a:xfrm>
            <a:off x="1000284" y="490185"/>
            <a:ext cx="3300784" cy="1600200"/>
          </a:xfrm>
        </p:spPr>
        <p:txBody>
          <a:bodyPr/>
          <a:lstStyle/>
          <a:p>
            <a:r>
              <a:rPr lang="ru-RU" dirty="0"/>
              <a:t>Домашнее задание</a:t>
            </a:r>
          </a:p>
        </p:txBody>
      </p:sp>
      <p:sp>
        <p:nvSpPr>
          <p:cNvPr id="7" name="Объект 6">
            <a:extLst>
              <a:ext uri="{FF2B5EF4-FFF2-40B4-BE49-F238E27FC236}">
                <a16:creationId xmlns:a16="http://schemas.microsoft.com/office/drawing/2014/main" id="{27B2198E-E11A-2291-54CA-20C29E430DDA}"/>
              </a:ext>
            </a:extLst>
          </p:cNvPr>
          <p:cNvSpPr>
            <a:spLocks noGrp="1"/>
          </p:cNvSpPr>
          <p:nvPr>
            <p:ph idx="1"/>
          </p:nvPr>
        </p:nvSpPr>
        <p:spPr>
          <a:xfrm>
            <a:off x="3543300" y="987425"/>
            <a:ext cx="8382000" cy="4873625"/>
          </a:xfrm>
        </p:spPr>
        <p:txBody>
          <a:bodyPr>
            <a:noAutofit/>
          </a:bodyPr>
          <a:lstStyle/>
          <a:p>
            <a:r>
              <a:rPr lang="ru-RU" sz="1600" dirty="0"/>
              <a:t>Процессы жизненного цикла программных средств. ГОСТ Р ИСОМЭК 12207-2010</a:t>
            </a:r>
          </a:p>
          <a:p>
            <a:r>
              <a:rPr lang="ru-RU" sz="1600" dirty="0"/>
              <a:t>ГОСТ Р ИСО/МЭК 15288 — 2005 Стандарт Информационная технология. Системная инженерия. Процессы жизненного цикла систем</a:t>
            </a:r>
          </a:p>
          <a:p>
            <a:r>
              <a:rPr lang="ru-RU" sz="1600" dirty="0"/>
              <a:t>Открытые публикация по технологиям и практике тестирования</a:t>
            </a:r>
          </a:p>
        </p:txBody>
      </p:sp>
      <p:pic>
        <p:nvPicPr>
          <p:cNvPr id="17" name="Рисунок 16">
            <a:extLst>
              <a:ext uri="{FF2B5EF4-FFF2-40B4-BE49-F238E27FC236}">
                <a16:creationId xmlns:a16="http://schemas.microsoft.com/office/drawing/2014/main" id="{4413BD20-0A0D-65D3-8535-FB888B77064D}"/>
              </a:ext>
            </a:extLst>
          </p:cNvPr>
          <p:cNvPicPr>
            <a:picLocks noChangeAspect="1"/>
          </p:cNvPicPr>
          <p:nvPr/>
        </p:nvPicPr>
        <p:blipFill>
          <a:blip r:embed="rId2"/>
          <a:stretch>
            <a:fillRect/>
          </a:stretch>
        </p:blipFill>
        <p:spPr>
          <a:xfrm>
            <a:off x="162141" y="3592160"/>
            <a:ext cx="3973612" cy="2594679"/>
          </a:xfrm>
          <a:prstGeom prst="rect">
            <a:avLst/>
          </a:prstGeom>
        </p:spPr>
      </p:pic>
      <p:sp>
        <p:nvSpPr>
          <p:cNvPr id="4" name="Нижний колонтитул 3">
            <a:extLst>
              <a:ext uri="{FF2B5EF4-FFF2-40B4-BE49-F238E27FC236}">
                <a16:creationId xmlns:a16="http://schemas.microsoft.com/office/drawing/2014/main" id="{BA62E7A7-EA3D-F783-7964-85D5A8C7C33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5F7BEC99-DC93-DFFC-D3A9-08F9489AA3A1}"/>
              </a:ext>
            </a:extLst>
          </p:cNvPr>
          <p:cNvSpPr>
            <a:spLocks noGrp="1"/>
          </p:cNvSpPr>
          <p:nvPr>
            <p:ph type="sldNum" sz="quarter" idx="12"/>
          </p:nvPr>
        </p:nvSpPr>
        <p:spPr/>
        <p:txBody>
          <a:bodyPr/>
          <a:lstStyle/>
          <a:p>
            <a:fld id="{DFA5D71E-5CDF-4C93-8A75-5B916FDC5BEA}" type="slidenum">
              <a:rPr lang="en-US" smtClean="0"/>
              <a:pPr/>
              <a:t>22</a:t>
            </a:fld>
            <a:endParaRPr lang="en-US" dirty="0"/>
          </a:p>
        </p:txBody>
      </p:sp>
    </p:spTree>
    <p:extLst>
      <p:ext uri="{BB962C8B-B14F-4D97-AF65-F5344CB8AC3E}">
        <p14:creationId xmlns:p14="http://schemas.microsoft.com/office/powerpoint/2010/main" val="4145715031"/>
      </p:ext>
    </p:extLst>
  </p:cSld>
  <p:clrMapOvr>
    <a:masterClrMapping/>
  </p:clrMapOvr>
</p:sld>
</file>

<file path=ppt/theme/theme1.xml><?xml version="1.0" encoding="utf-8"?>
<a:theme xmlns:a="http://schemas.openxmlformats.org/drawingml/2006/main" name="MinimalXOVTI">
  <a:themeElements>
    <a:clrScheme name="Синий">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3042</TotalTime>
  <Words>4938</Words>
  <Application>Microsoft Office PowerPoint</Application>
  <PresentationFormat>Широкоэкранный</PresentationFormat>
  <Paragraphs>285</Paragraphs>
  <Slides>22</Slides>
  <Notes>5</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22</vt:i4>
      </vt:variant>
    </vt:vector>
  </HeadingPairs>
  <TitlesOfParts>
    <vt:vector size="32" baseType="lpstr">
      <vt:lpstr>Arial</vt:lpstr>
      <vt:lpstr>Arial Black</vt:lpstr>
      <vt:lpstr>Arial Narrow</vt:lpstr>
      <vt:lpstr>Calibri</vt:lpstr>
      <vt:lpstr>Courier New</vt:lpstr>
      <vt:lpstr>Impact</vt:lpstr>
      <vt:lpstr>Open sans</vt:lpstr>
      <vt:lpstr>Segoe UI</vt:lpstr>
      <vt:lpstr>Times New Roman</vt:lpstr>
      <vt:lpstr>MinimalXOVTI</vt:lpstr>
      <vt:lpstr>Программная инженерия</vt:lpstr>
      <vt:lpstr>Тема 5: Тестирование программного обеспечения</vt:lpstr>
      <vt:lpstr>Место тестирования программного обеспечения в программной инженерии</vt:lpstr>
      <vt:lpstr>Определение тестирования в программной инженерии</vt:lpstr>
      <vt:lpstr>Определяющие основные аспекты</vt:lpstr>
      <vt:lpstr>Объем понятия тестирования в программной инженерии</vt:lpstr>
      <vt:lpstr>Основы тестирования (Software Testing Fundamentals)</vt:lpstr>
      <vt:lpstr>Терминология тестирования (Testing-Related Terminology)</vt:lpstr>
      <vt:lpstr>Ключевые вопросы (Key Issues)</vt:lpstr>
      <vt:lpstr>Связь тестирования с другой деятельностью (Relationships of testing with other activities)</vt:lpstr>
      <vt:lpstr>Уровни тестирования (Test Levels)</vt:lpstr>
      <vt:lpstr>5.2.1 Над чем производятся тесты (The target of the test)</vt:lpstr>
      <vt:lpstr>Цели тестирования (Objectivies of Testing)</vt:lpstr>
      <vt:lpstr>Разработка, управляемая тестированием (Test-driven development)</vt:lpstr>
      <vt:lpstr>Техники тестирования (Test Techniques)</vt:lpstr>
      <vt:lpstr>Измерение результатов тестирования (Test-related measures)</vt:lpstr>
      <vt:lpstr>Оценка программ в процессе тестирования (Evaluation of the program under test, IEEE 982.1-98)</vt:lpstr>
      <vt:lpstr>Оценка выполненных тестов  (Evaluation of the tests performed)</vt:lpstr>
      <vt:lpstr>Процесс тестирования (Test Process)</vt:lpstr>
      <vt:lpstr>Практические соображения (Practical considerations)</vt:lpstr>
      <vt:lpstr>Тестовые работы (Test Activities)</vt:lpstr>
      <vt:lpstr>Домашнее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проектирования, развертывания и  сопровождения информационных систем</dc:title>
  <dc:creator>4562</dc:creator>
  <cp:lastModifiedBy>KDV</cp:lastModifiedBy>
  <cp:revision>68</cp:revision>
  <dcterms:created xsi:type="dcterms:W3CDTF">2023-02-07T19:37:43Z</dcterms:created>
  <dcterms:modified xsi:type="dcterms:W3CDTF">2025-11-25T18:42:44Z</dcterms:modified>
</cp:coreProperties>
</file>