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1"/>
  </p:sldMasterIdLst>
  <p:notesMasterIdLst>
    <p:notesMasterId r:id="rId26"/>
  </p:notesMasterIdLst>
  <p:sldIdLst>
    <p:sldId id="256" r:id="rId2"/>
    <p:sldId id="260" r:id="rId3"/>
    <p:sldId id="257" r:id="rId4"/>
    <p:sldId id="272" r:id="rId5"/>
    <p:sldId id="273" r:id="rId6"/>
    <p:sldId id="274" r:id="rId7"/>
    <p:sldId id="275" r:id="rId8"/>
    <p:sldId id="289" r:id="rId9"/>
    <p:sldId id="290" r:id="rId10"/>
    <p:sldId id="291" r:id="rId11"/>
    <p:sldId id="292" r:id="rId12"/>
    <p:sldId id="293" r:id="rId13"/>
    <p:sldId id="294" r:id="rId14"/>
    <p:sldId id="295" r:id="rId15"/>
    <p:sldId id="296" r:id="rId16"/>
    <p:sldId id="297" r:id="rId17"/>
    <p:sldId id="298" r:id="rId18"/>
    <p:sldId id="304" r:id="rId19"/>
    <p:sldId id="299" r:id="rId20"/>
    <p:sldId id="300" r:id="rId21"/>
    <p:sldId id="301" r:id="rId22"/>
    <p:sldId id="302" r:id="rId23"/>
    <p:sldId id="303" r:id="rId24"/>
    <p:sldId id="263"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DV" initials="K" lastIdx="1" clrIdx="0">
    <p:extLst>
      <p:ext uri="{19B8F6BF-5375-455C-9EA6-DF929625EA0E}">
        <p15:presenceInfo xmlns:p15="http://schemas.microsoft.com/office/powerpoint/2012/main" userId="KD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166" autoAdjust="0"/>
  </p:normalViewPr>
  <p:slideViewPr>
    <p:cSldViewPr snapToGrid="0">
      <p:cViewPr varScale="1">
        <p:scale>
          <a:sx n="86" d="100"/>
          <a:sy n="86" d="100"/>
        </p:scale>
        <p:origin x="14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6020B3-367F-41BF-A5D2-D2C6898A67B3}" type="datetimeFigureOut">
              <a:rPr lang="ru-RU" smtClean="0"/>
              <a:t>29.10.2025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9912B-E66D-4A8E-8CDB-D0164B49BF89}" type="slidenum">
              <a:rPr lang="ru-RU" smtClean="0"/>
              <a:t>‹#›</a:t>
            </a:fld>
            <a:endParaRPr lang="ru-RU"/>
          </a:p>
        </p:txBody>
      </p:sp>
    </p:spTree>
    <p:extLst>
      <p:ext uri="{BB962C8B-B14F-4D97-AF65-F5344CB8AC3E}">
        <p14:creationId xmlns:p14="http://schemas.microsoft.com/office/powerpoint/2010/main" val="6053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Основной причиной того, почему люди используют компьютеры в бизнес-целях, являются ограниченные возможности людей в обработке и хранении сложных структур и больших объемов информации, в частности, на протяжении длительного периода времени. Это соображение является одной из основных движущих сил в конструировании программного обеспечения: минимизация сложности. Потребность в уменьшении сложности влияет на все аспекты конструирования и особенно критична для процессов верификации (проверки) и тестирования результатов конструирования, т.е. самих программных систем.</a:t>
            </a:r>
          </a:p>
        </p:txBody>
      </p:sp>
      <p:sp>
        <p:nvSpPr>
          <p:cNvPr id="4" name="Номер слайда 3"/>
          <p:cNvSpPr>
            <a:spLocks noGrp="1"/>
          </p:cNvSpPr>
          <p:nvPr>
            <p:ph type="sldNum" sz="quarter" idx="5"/>
          </p:nvPr>
        </p:nvSpPr>
        <p:spPr/>
        <p:txBody>
          <a:bodyPr/>
          <a:lstStyle/>
          <a:p>
            <a:fld id="{DF59912B-E66D-4A8E-8CDB-D0164B49BF89}" type="slidenum">
              <a:rPr lang="ru-RU" smtClean="0"/>
              <a:t>7</a:t>
            </a:fld>
            <a:endParaRPr lang="ru-RU"/>
          </a:p>
        </p:txBody>
      </p:sp>
    </p:spTree>
    <p:extLst>
      <p:ext uri="{BB962C8B-B14F-4D97-AF65-F5344CB8AC3E}">
        <p14:creationId xmlns:p14="http://schemas.microsoft.com/office/powerpoint/2010/main" val="407344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Некоторые модели являются более линейными с точки зрения конструирования ПО. К ним относятся, например, водопадная (</a:t>
            </a:r>
            <a:r>
              <a:rPr lang="ru-RU" dirty="0" err="1"/>
              <a:t>waterfall</a:t>
            </a:r>
            <a:r>
              <a:rPr lang="ru-RU" dirty="0"/>
              <a:t>) и поэтапная (</a:t>
            </a:r>
            <a:r>
              <a:rPr lang="ru-RU" dirty="0" err="1"/>
              <a:t>staged-delivery</a:t>
            </a:r>
            <a:r>
              <a:rPr lang="ru-RU" dirty="0"/>
              <a:t>) модели жизненного цикла (моделям жизненного цикла посвящена специальная глава, написанная Сергеем Орликом и доступная как часть представленных здесь "Основ программной инженерии"). Эти модели рассматривают конструирование как деятельность, которая начинает проводиться только после завершения определенных обязательных к выполнению (</a:t>
            </a:r>
            <a:r>
              <a:rPr lang="ru-RU" dirty="0" err="1"/>
              <a:t>prerequisite</a:t>
            </a:r>
            <a:r>
              <a:rPr lang="ru-RU" dirty="0"/>
              <a:t>) работ, включающих детальное определение требований, подробный дизайн и детальное планирование. Более линейные подходы стараются подчеркнуть действия, предваряющие конструирование (т.е. требования и дизайн) и создать более четкое разделение между такими различными типами деятельности. В таких моделях основным содержанием конструирования может быть кодирование.</a:t>
            </a:r>
          </a:p>
          <a:p>
            <a:r>
              <a:rPr lang="ru-RU" dirty="0"/>
              <a:t>Другие модели более итеративны, к ним относятся – эволюционное прототипирование, экстремальное программирование и </a:t>
            </a:r>
            <a:r>
              <a:rPr lang="ru-RU" dirty="0" err="1"/>
              <a:t>Scrum</a:t>
            </a:r>
            <a:r>
              <a:rPr lang="ru-RU" dirty="0"/>
              <a:t>. Эти подходы сходятся к рассмотрению конструирования как деятельности, которая ведется одновременно с другими видами работ по созданию программного обеспечения и пересекаясь с ними (видимо, здесь имеется в виду взаимозависимость и влияние друг на друга), включая определение требований, проектирование и планирование. Эти подходы смешивают проектирование, кодирование и тестирование, часто рассматривая их комбинацию как конструирование.</a:t>
            </a:r>
          </a:p>
          <a:p>
            <a:r>
              <a:rPr lang="ru-RU" dirty="0"/>
              <a:t>Соответственно, что именно подразумевается под “конструированием” зависит в определенной степени от используемой модели жизненного цикла.</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12</a:t>
            </a:fld>
            <a:endParaRPr lang="ru-RU"/>
          </a:p>
        </p:txBody>
      </p:sp>
    </p:spTree>
    <p:extLst>
      <p:ext uri="{BB962C8B-B14F-4D97-AF65-F5344CB8AC3E}">
        <p14:creationId xmlns:p14="http://schemas.microsoft.com/office/powerpoint/2010/main" val="4055808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Использование визуальных конструкций ограничено сложностью визуального представления сложных выражений и утверждений только за счет перемещения визуальных сущностей на диаграмме (визуальном представлении). Однако, визуальная нотация может играть роль достаточно мощного инструмента, когда применяется в тех задачах программирования, где необходимо построение пользовательского интерфейса для программ, чья логика. Детализированное поведение определено ранее.</a:t>
            </a:r>
          </a:p>
          <a:p>
            <a:pPr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Сегодняшние работы (и их состояние) в области архитектур и приложений, управляемых моделями, в первую очередь - OMG MDA (Model-</a:t>
            </a:r>
            <a:r>
              <a:rPr lang="ru-RU" sz="1200" dirty="0" err="1">
                <a:solidFill>
                  <a:srgbClr val="000000"/>
                </a:solidFill>
                <a:effectLst/>
                <a:latin typeface="Times New Roman" panose="02020603050405020304" pitchFamily="18" charset="0"/>
                <a:ea typeface="Times New Roman" panose="02020603050405020304" pitchFamily="18" charset="0"/>
              </a:rPr>
              <a:t>Driven</a:t>
            </a:r>
            <a:r>
              <a:rPr lang="ru-RU" sz="1200" dirty="0">
                <a:solidFill>
                  <a:srgbClr val="000000"/>
                </a:solidFill>
                <a:effectLst/>
                <a:latin typeface="Times New Roman" panose="02020603050405020304" pitchFamily="18" charset="0"/>
                <a:ea typeface="Times New Roman" panose="02020603050405020304" pitchFamily="18" charset="0"/>
              </a:rPr>
              <a:t> Architecture www.omg.org/mda)/UML (Unified </a:t>
            </a:r>
            <a:r>
              <a:rPr lang="ru-RU" sz="1200" dirty="0" err="1">
                <a:solidFill>
                  <a:srgbClr val="000000"/>
                </a:solidFill>
                <a:effectLst/>
                <a:latin typeface="Times New Roman" panose="02020603050405020304" pitchFamily="18" charset="0"/>
                <a:ea typeface="Times New Roman" panose="02020603050405020304" pitchFamily="18" charset="0"/>
              </a:rPr>
              <a:t>Modeling</a:t>
            </a:r>
            <a:r>
              <a:rPr lang="ru-RU" sz="1200" dirty="0">
                <a:solidFill>
                  <a:srgbClr val="000000"/>
                </a:solidFill>
                <a:effectLst/>
                <a:latin typeface="Times New Roman" panose="02020603050405020304" pitchFamily="18" charset="0"/>
                <a:ea typeface="Times New Roman" panose="02020603050405020304" pitchFamily="18" charset="0"/>
              </a:rPr>
              <a:t> Language www.omg.org/</a:t>
            </a:r>
            <a:r>
              <a:rPr lang="ru-RU" sz="1200" dirty="0" err="1">
                <a:solidFill>
                  <a:srgbClr val="000000"/>
                </a:solidFill>
                <a:effectLst/>
                <a:latin typeface="Times New Roman" panose="02020603050405020304" pitchFamily="18" charset="0"/>
                <a:ea typeface="Times New Roman" panose="02020603050405020304" pitchFamily="18" charset="0"/>
              </a:rPr>
              <a:t>uml</a:t>
            </a:r>
            <a:r>
              <a:rPr lang="ru-RU" sz="1200" dirty="0">
                <a:solidFill>
                  <a:srgbClr val="000000"/>
                </a:solidFill>
                <a:effectLst/>
                <a:latin typeface="Times New Roman" panose="02020603050405020304" pitchFamily="18" charset="0"/>
                <a:ea typeface="Times New Roman" panose="02020603050405020304" pitchFamily="18" charset="0"/>
              </a:rPr>
              <a:t>), Microsoft DSL (Domain-</a:t>
            </a:r>
            <a:r>
              <a:rPr lang="ru-RU" sz="1200" dirty="0" err="1">
                <a:solidFill>
                  <a:srgbClr val="000000"/>
                </a:solidFill>
                <a:effectLst/>
                <a:latin typeface="Times New Roman" panose="02020603050405020304" pitchFamily="18" charset="0"/>
                <a:ea typeface="Times New Roman" panose="02020603050405020304" pitchFamily="18" charset="0"/>
              </a:rPr>
              <a:t>Specific</a:t>
            </a:r>
            <a:r>
              <a:rPr lang="ru-RU" sz="1200" dirty="0">
                <a:solidFill>
                  <a:srgbClr val="000000"/>
                </a:solidFill>
                <a:effectLst/>
                <a:latin typeface="Times New Roman" panose="02020603050405020304" pitchFamily="18" charset="0"/>
                <a:ea typeface="Times New Roman" panose="02020603050405020304" pitchFamily="18" charset="0"/>
              </a:rPr>
              <a:t> Language), направлены на то, чтобы использовать ту или иную визуальную нотацию, базирующуюся на мета-моделях, в качестве инструмента, применяемого и для определения функциональной логики системы. Можно ли в чистом виде считать эти нотации именно визуальными - вопрос спорный. Но в терминах, предлагаемых SWEBOK, они относятся именно к визуальным нотациям, так как предполагают однозначную интерпретацию визуального представления в виде текста и наоборот. Кроме того, исторически эти нотации определялись изначально как нотации визуального представления функциональности и уже в дальнейшем эти визуальные представления были отражены на </a:t>
            </a:r>
            <a:r>
              <a:rPr lang="ru-RU" sz="1200" dirty="0" err="1">
                <a:solidFill>
                  <a:srgbClr val="000000"/>
                </a:solidFill>
                <a:effectLst/>
                <a:latin typeface="Times New Roman" panose="02020603050405020304" pitchFamily="18" charset="0"/>
                <a:ea typeface="Times New Roman" panose="02020603050405020304" pitchFamily="18" charset="0"/>
              </a:rPr>
              <a:t>цровне</a:t>
            </a:r>
            <a:r>
              <a:rPr lang="ru-RU" sz="1200" dirty="0">
                <a:solidFill>
                  <a:srgbClr val="000000"/>
                </a:solidFill>
                <a:effectLst/>
                <a:latin typeface="Times New Roman" panose="02020603050405020304" pitchFamily="18" charset="0"/>
                <a:ea typeface="Times New Roman" panose="02020603050405020304" pitchFamily="18" charset="0"/>
              </a:rPr>
              <a:t> соответствующих мета-моделей (хотя это в большей степени верно для UML, чем DSL, но DSL можно рассматривать и как аналог UML, предполагающий </a:t>
            </a:r>
            <a:r>
              <a:rPr lang="ru-RU" sz="1200" dirty="0" err="1">
                <a:solidFill>
                  <a:srgbClr val="000000"/>
                </a:solidFill>
                <a:effectLst/>
                <a:latin typeface="Times New Roman" panose="02020603050405020304" pitchFamily="18" charset="0"/>
                <a:ea typeface="Times New Roman" panose="02020603050405020304" pitchFamily="18" charset="0"/>
              </a:rPr>
              <a:t>бОльшую</a:t>
            </a:r>
            <a:r>
              <a:rPr lang="ru-RU" sz="1200" dirty="0">
                <a:solidFill>
                  <a:srgbClr val="000000"/>
                </a:solidFill>
                <a:effectLst/>
                <a:latin typeface="Times New Roman" panose="02020603050405020304" pitchFamily="18" charset="0"/>
                <a:ea typeface="Times New Roman" panose="02020603050405020304" pitchFamily="18" charset="0"/>
              </a:rPr>
              <a:t> свободу применений и интегрированность с конкретной платформой - Microsoft). Другая область стандартов, направленных на применение визуальных нотаций для описания функциональности – Business Process Management </a:t>
            </a:r>
            <a:r>
              <a:rPr lang="ru-RU" sz="1200" dirty="0" err="1">
                <a:solidFill>
                  <a:srgbClr val="000000"/>
                </a:solidFill>
                <a:effectLst/>
                <a:latin typeface="Times New Roman" panose="02020603050405020304" pitchFamily="18" charset="0"/>
                <a:ea typeface="Times New Roman" panose="02020603050405020304" pitchFamily="18" charset="0"/>
              </a:rPr>
              <a:t>Notation</a:t>
            </a:r>
            <a:r>
              <a:rPr lang="ru-RU" sz="1200" dirty="0">
                <a:solidFill>
                  <a:srgbClr val="000000"/>
                </a:solidFill>
                <a:effectLst/>
                <a:latin typeface="Times New Roman" panose="02020603050405020304" pitchFamily="18" charset="0"/>
                <a:ea typeface="Times New Roman" panose="02020603050405020304" pitchFamily="18" charset="0"/>
              </a:rPr>
              <a:t> (BPMN - www.omg.org/</a:t>
            </a:r>
            <a:r>
              <a:rPr lang="ru-RU" sz="1200" dirty="0" err="1">
                <a:solidFill>
                  <a:srgbClr val="000000"/>
                </a:solidFill>
                <a:effectLst/>
                <a:latin typeface="Times New Roman" panose="02020603050405020304" pitchFamily="18" charset="0"/>
                <a:ea typeface="Times New Roman" panose="02020603050405020304" pitchFamily="18" charset="0"/>
              </a:rPr>
              <a:t>bpmn</a:t>
            </a:r>
            <a:r>
              <a:rPr lang="ru-RU" sz="1200" dirty="0">
                <a:solidFill>
                  <a:srgbClr val="000000"/>
                </a:solidFill>
                <a:effectLst/>
                <a:latin typeface="Times New Roman" panose="02020603050405020304" pitchFamily="18" charset="0"/>
                <a:ea typeface="Times New Roman" panose="02020603050405020304" pitchFamily="18" charset="0"/>
              </a:rPr>
              <a:t>) и связанный с ней язык Business Process </a:t>
            </a:r>
            <a:r>
              <a:rPr lang="ru-RU" sz="1200" dirty="0" err="1">
                <a:solidFill>
                  <a:srgbClr val="000000"/>
                </a:solidFill>
                <a:effectLst/>
                <a:latin typeface="Times New Roman" panose="02020603050405020304" pitchFamily="18" charset="0"/>
                <a:ea typeface="Times New Roman" panose="02020603050405020304" pitchFamily="18" charset="0"/>
              </a:rPr>
              <a:t>Execution</a:t>
            </a:r>
            <a:r>
              <a:rPr lang="ru-RU" sz="1200" dirty="0">
                <a:solidFill>
                  <a:srgbClr val="000000"/>
                </a:solidFill>
                <a:effectLst/>
                <a:latin typeface="Times New Roman" panose="02020603050405020304" pitchFamily="18" charset="0"/>
                <a:ea typeface="Times New Roman" panose="02020603050405020304" pitchFamily="18" charset="0"/>
              </a:rPr>
              <a:t> Language, построенный на базе XML. Таким образом, область обоснованного применения визуальных нотаций для конструирования программных систем качественно расшириться и, не исключено, мы станем свидетелями </a:t>
            </a:r>
            <a:r>
              <a:rPr lang="ru-RU" sz="1200" dirty="0" err="1">
                <a:solidFill>
                  <a:srgbClr val="000000"/>
                </a:solidFill>
                <a:effectLst/>
                <a:latin typeface="Times New Roman" panose="02020603050405020304" pitchFamily="18" charset="0"/>
                <a:ea typeface="Times New Roman" panose="02020603050405020304" pitchFamily="18" charset="0"/>
              </a:rPr>
              <a:t>de-facto</a:t>
            </a:r>
            <a:r>
              <a:rPr lang="ru-RU" sz="1200" dirty="0">
                <a:solidFill>
                  <a:srgbClr val="000000"/>
                </a:solidFill>
                <a:effectLst/>
                <a:latin typeface="Times New Roman" panose="02020603050405020304" pitchFamily="18" charset="0"/>
                <a:ea typeface="Times New Roman" panose="02020603050405020304" pitchFamily="18" charset="0"/>
              </a:rPr>
              <a:t> формирования новой категории нотаций, соглашений и смешанных типов языковых средств, предназначенных для конструирования программного обеспечения как естественного продолжения проектирования.</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18</a:t>
            </a:fld>
            <a:endParaRPr lang="ru-RU"/>
          </a:p>
        </p:txBody>
      </p:sp>
    </p:spTree>
    <p:extLst>
      <p:ext uri="{BB962C8B-B14F-4D97-AF65-F5344CB8AC3E}">
        <p14:creationId xmlns:p14="http://schemas.microsoft.com/office/powerpoint/2010/main" val="1377001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Во введении в стандарт IEEE </a:t>
            </a:r>
            <a:r>
              <a:rPr lang="ru-RU" dirty="0" err="1"/>
              <a:t>Std</a:t>
            </a:r>
            <a:r>
              <a:rPr lang="ru-RU" dirty="0"/>
              <a:t>. 1517-99 “IEEE Standard </a:t>
            </a:r>
            <a:r>
              <a:rPr lang="ru-RU" dirty="0" err="1"/>
              <a:t>for</a:t>
            </a:r>
            <a:r>
              <a:rPr lang="ru-RU" dirty="0"/>
              <a:t> Information Technology – Software </a:t>
            </a:r>
            <a:r>
              <a:rPr lang="ru-RU" dirty="0" err="1"/>
              <a:t>Lifecycle</a:t>
            </a:r>
            <a:r>
              <a:rPr lang="ru-RU" dirty="0"/>
              <a:t> Process – </a:t>
            </a:r>
            <a:r>
              <a:rPr lang="ru-RU" dirty="0" err="1"/>
              <a:t>Reuse</a:t>
            </a:r>
            <a:r>
              <a:rPr lang="ru-RU" dirty="0"/>
              <a:t> </a:t>
            </a:r>
            <a:r>
              <a:rPr lang="ru-RU" dirty="0" err="1"/>
              <a:t>Processes</a:t>
            </a:r>
            <a:r>
              <a:rPr lang="ru-RU" dirty="0"/>
              <a:t>” даётся следующее понимание повторному использованию в программном обеспечении: “Реализация повторного использования программного обеспечения подразумевает и влечёт за собой нечто большее, чем просто создание и использование библиотек активов. Оно требует формализации практики повторного использования на основе интеграции процессов и деятельности по повторному использованию в сам жизненный цикл программного обеспечения.” В то же время, повторное использование достаточно важно и непосредственно при конструировании программных систем, что подчеркивается включением этой темы в обсуждаемую область знаний конструирования ПО.</a:t>
            </a:r>
          </a:p>
          <a:p>
            <a:endParaRPr lang="ru-RU" dirty="0"/>
          </a:p>
        </p:txBody>
      </p:sp>
      <p:sp>
        <p:nvSpPr>
          <p:cNvPr id="4" name="Номер слайда 3"/>
          <p:cNvSpPr>
            <a:spLocks noGrp="1"/>
          </p:cNvSpPr>
          <p:nvPr>
            <p:ph type="sldNum" sz="quarter" idx="5"/>
          </p:nvPr>
        </p:nvSpPr>
        <p:spPr/>
        <p:txBody>
          <a:bodyPr/>
          <a:lstStyle/>
          <a:p>
            <a:fld id="{DF59912B-E66D-4A8E-8CDB-D0164B49BF89}" type="slidenum">
              <a:rPr lang="ru-RU" smtClean="0"/>
              <a:t>21</a:t>
            </a:fld>
            <a:endParaRPr lang="ru-RU"/>
          </a:p>
        </p:txBody>
      </p:sp>
    </p:spTree>
    <p:extLst>
      <p:ext uri="{BB962C8B-B14F-4D97-AF65-F5344CB8AC3E}">
        <p14:creationId xmlns:p14="http://schemas.microsoft.com/office/powerpoint/2010/main" val="1073479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Одна из ключевых деятельностей, осуществляемых в процессе конструирования, - </a:t>
            </a:r>
          </a:p>
        </p:txBody>
      </p:sp>
      <p:sp>
        <p:nvSpPr>
          <p:cNvPr id="4" name="Номер слайда 3"/>
          <p:cNvSpPr>
            <a:spLocks noGrp="1"/>
          </p:cNvSpPr>
          <p:nvPr>
            <p:ph type="sldNum" sz="quarter" idx="5"/>
          </p:nvPr>
        </p:nvSpPr>
        <p:spPr/>
        <p:txBody>
          <a:bodyPr/>
          <a:lstStyle/>
          <a:p>
            <a:fld id="{DF59912B-E66D-4A8E-8CDB-D0164B49BF89}" type="slidenum">
              <a:rPr lang="ru-RU" smtClean="0"/>
              <a:t>23</a:t>
            </a:fld>
            <a:endParaRPr lang="ru-RU"/>
          </a:p>
        </p:txBody>
      </p:sp>
    </p:spTree>
    <p:extLst>
      <p:ext uri="{BB962C8B-B14F-4D97-AF65-F5344CB8AC3E}">
        <p14:creationId xmlns:p14="http://schemas.microsoft.com/office/powerpoint/2010/main" val="1580790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normAutofit/>
          </a:bodyPr>
          <a:lstStyle>
            <a:lvl1pPr algn="ctr">
              <a:defRPr sz="4000" baseline="0">
                <a:solidFill>
                  <a:srgbClr val="0070C0"/>
                </a:solidFill>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atin typeface="Arial Narrow" panose="020B06060202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53E0805-E946-49A1-A715-7C9D8C1CD6FE}" type="datetime1">
              <a:rPr lang="en-US" smtClean="0"/>
              <a:t>10/29/2025</a:t>
            </a:fld>
            <a:endParaRPr lang="en-US" dirty="0"/>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990299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normAutofit/>
          </a:bodyPr>
          <a:lstStyle>
            <a:lvl1pPr>
              <a:defRPr sz="4000">
                <a:solidFill>
                  <a:srgbClr val="0070C0"/>
                </a:solidFill>
                <a:latin typeface="Impact" panose="020B080603090205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defRPr>
                <a:latin typeface="Arial Narrow" panose="020B0606020202030204" pitchFamily="34" charset="0"/>
              </a:defRPr>
            </a:lvl1pPr>
            <a:lvl2pPr marL="685800" indent="-228600">
              <a:buFont typeface="Courier New" panose="02070309020205020404" pitchFamily="49" charset="0"/>
              <a:buChar char="o"/>
              <a:defRPr>
                <a:latin typeface="Arial Narrow" panose="020B0606020202030204" pitchFamily="34" charset="0"/>
              </a:defRPr>
            </a:lvl2pPr>
            <a:lvl3pPr>
              <a:defRPr>
                <a:latin typeface="Arial Narrow" panose="020B0606020202030204" pitchFamily="34" charset="0"/>
              </a:defRPr>
            </a:lvl3pPr>
            <a:lvl4pPr marL="1600200" indent="-228600">
              <a:buFont typeface="Courier New" panose="02070309020205020404" pitchFamily="49" charset="0"/>
              <a:buChar char="o"/>
              <a:defRPr>
                <a:latin typeface="Arial Narrow" panose="020B0606020202030204" pitchFamily="34" charset="0"/>
              </a:defRPr>
            </a:lvl4pPr>
            <a:lvl5pPr>
              <a:defRPr>
                <a:latin typeface="Arial Narrow" panose="020B06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4EBB0E72-E0A4-4D7B-815B-6413EF16F256}" type="datetime1">
              <a:rPr lang="en-US" smtClean="0"/>
              <a:t>10/29/2025</a:t>
            </a:fld>
            <a:endParaRPr lang="en-US" dirty="0"/>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lvl1pPr>
              <a:defRPr kern="0" cap="none" spc="0" baseline="0"/>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lvl1pPr>
              <a:defRPr sz="240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9" name="Picture 3">
            <a:extLst>
              <a:ext uri="{FF2B5EF4-FFF2-40B4-BE49-F238E27FC236}">
                <a16:creationId xmlns:a16="http://schemas.microsoft.com/office/drawing/2014/main" id="{6BB1964A-EEF4-7C34-0A53-E047F165559A}"/>
              </a:ext>
            </a:extLst>
          </p:cNvPr>
          <p:cNvPicPr>
            <a:picLocks noChangeAspect="1"/>
          </p:cNvPicPr>
          <p:nvPr userDrawn="1"/>
        </p:nvPicPr>
        <p:blipFill rotWithShape="1">
          <a:blip r:embed="rId2"/>
          <a:srcRect l="48996" r="44914"/>
          <a:stretch/>
        </p:blipFill>
        <p:spPr>
          <a:xfrm flipH="1">
            <a:off x="2959" y="5629"/>
            <a:ext cx="835241" cy="6858000"/>
          </a:xfrm>
          <a:prstGeom prst="rect">
            <a:avLst/>
          </a:prstGeom>
        </p:spPr>
      </p:pic>
      <p:pic>
        <p:nvPicPr>
          <p:cNvPr id="10" name="Рисунок 9">
            <a:extLst>
              <a:ext uri="{FF2B5EF4-FFF2-40B4-BE49-F238E27FC236}">
                <a16:creationId xmlns:a16="http://schemas.microsoft.com/office/drawing/2014/main" id="{54B8041D-61A8-6E8D-B1A0-9F40D3F9F172}"/>
              </a:ext>
            </a:extLst>
          </p:cNvPr>
          <p:cNvPicPr>
            <a:picLocks noChangeAspect="1"/>
          </p:cNvPicPr>
          <p:nvPr userDrawn="1"/>
        </p:nvPicPr>
        <p:blipFill>
          <a:blip r:embed="rId3"/>
          <a:stretch>
            <a:fillRect/>
          </a:stretch>
        </p:blipFill>
        <p:spPr>
          <a:xfrm>
            <a:off x="49104" y="478053"/>
            <a:ext cx="742950" cy="714375"/>
          </a:xfrm>
          <a:prstGeom prst="rect">
            <a:avLst/>
          </a:prstGeom>
        </p:spPr>
      </p:pic>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0BF58049-EBA6-6666-4932-E3FF1741EF9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149715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CE93EA5A-1AE2-458D-9AE6-FF6025E0C491}" type="datetime1">
              <a:rPr lang="en-US" smtClean="0"/>
              <a:t>10/29/2025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408622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B970C53A-BD8C-4CF4-B47F-135838B79B0F}" type="datetime1">
              <a:rPr lang="en-US" smtClean="0"/>
              <a:t>10/29/2025</a:t>
            </a:fld>
            <a:endParaRPr lang="en-US" dirty="0"/>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8163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2D78A838-72D8-44E7-9178-64A7CE5C804D}" type="datetime1">
              <a:rPr lang="en-US" smtClean="0"/>
              <a:t>10/29/2025</a:t>
            </a:fld>
            <a:endParaRPr lang="en-US" dirty="0"/>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ru-RU"/>
              <a:t>© Д.В.Кубраков, 2023</a:t>
            </a:r>
            <a:endParaRPr lang="en-US" dirty="0"/>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8986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D5F827D9-E4EA-4EB0-8ED6-C829077BE1AC}" type="datetime1">
              <a:rPr lang="en-US" smtClean="0"/>
              <a:t>10/29/2025</a:t>
            </a:fld>
            <a:endParaRPr lang="en-US" dirty="0"/>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ru-RU"/>
              <a:t>© Д.В.Кубраков, 2023</a:t>
            </a:r>
            <a:endParaRPr lang="en-US" dirty="0"/>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84137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FCEABFE2-EF3F-417A-903C-9A93937A9246}" type="datetime1">
              <a:rPr lang="en-US" smtClean="0"/>
              <a:t>10/29/2025</a:t>
            </a:fld>
            <a:endParaRPr lang="en-US" dirty="0"/>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ru-RU"/>
              <a:t>© Д.В.Кубраков, 2023</a:t>
            </a:r>
            <a:endParaRPr lang="en-US" dirty="0"/>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237991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19AE38BA-0E5D-4FC3-AC73-BA0F12FAEDF1}" type="datetime1">
              <a:rPr lang="en-US" smtClean="0"/>
              <a:t>10/29/2025</a:t>
            </a:fld>
            <a:endParaRPr lang="en-US" dirty="0"/>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22774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41AE0786-E990-492E-AE6E-66BD6C6E2D32}" type="datetime1">
              <a:rPr lang="en-US" smtClean="0"/>
              <a:t>10/29/2025</a:t>
            </a:fld>
            <a:endParaRPr lang="en-US" dirty="0"/>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ru-RU"/>
              <a:t>© Д.В.Кубраков, 2023</a:t>
            </a:r>
            <a:endParaRPr lang="en-US" dirty="0"/>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116176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1C5AB7EE-B52D-4FD2-A1CD-223903584E4A}" type="datetime1">
              <a:rPr lang="en-US" smtClean="0"/>
              <a:t>10/29/2025</a:t>
            </a:fld>
            <a:endParaRPr lang="en-US" dirty="0"/>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912457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C6CDFF47-8CB5-4F0A-88AE-CAE1CC8C1576}" type="datetime1">
              <a:rPr lang="en-US" smtClean="0"/>
              <a:t>10/29/2025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55236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0347780B-8D62-4CAC-B30D-4811E6CDB64A}" type="datetime1">
              <a:rPr lang="en-US" smtClean="0"/>
              <a:t>10/29/2025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kern="0" cap="none" spc="0" baseline="0">
                <a:solidFill>
                  <a:schemeClr val="tx1">
                    <a:tint val="75000"/>
                  </a:schemeClr>
                </a:solidFill>
              </a:defRPr>
            </a:lvl1pPr>
          </a:lstStyle>
          <a:p>
            <a:r>
              <a:rPr lang="ru-RU"/>
              <a:t>© Д.В.Кубраков, 2023</a:t>
            </a:r>
            <a:endParaRPr lang="en-US" dirty="0"/>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2400" cap="all" spc="150" baseline="0">
                <a:solidFill>
                  <a:srgbClr val="0070C0"/>
                </a:solidFill>
                <a:latin typeface="Arial Black" panose="020B0A04020102020204" pitchFamily="34" charset="0"/>
              </a:defRPr>
            </a:lvl1pPr>
          </a:lstStyle>
          <a:p>
            <a:fld id="{DFA5D71E-5CDF-4C93-8A75-5B916FDC5BEA}" type="slidenum">
              <a:rPr lang="en-US" smtClean="0"/>
              <a:pPr/>
              <a:t>‹#›</a:t>
            </a:fld>
            <a:endParaRPr lang="en-US" dirty="0"/>
          </a:p>
        </p:txBody>
      </p:sp>
      <p:pic>
        <p:nvPicPr>
          <p:cNvPr id="7" name="Picture 3">
            <a:extLst>
              <a:ext uri="{FF2B5EF4-FFF2-40B4-BE49-F238E27FC236}">
                <a16:creationId xmlns:a16="http://schemas.microsoft.com/office/drawing/2014/main" id="{F01306B9-4B5A-554A-3E05-3740307511D3}"/>
              </a:ext>
            </a:extLst>
          </p:cNvPr>
          <p:cNvPicPr>
            <a:picLocks noChangeAspect="1"/>
          </p:cNvPicPr>
          <p:nvPr userDrawn="1"/>
        </p:nvPicPr>
        <p:blipFill rotWithShape="1">
          <a:blip r:embed="rId13"/>
          <a:srcRect l="48996" r="44914"/>
          <a:stretch/>
        </p:blipFill>
        <p:spPr>
          <a:xfrm flipH="1">
            <a:off x="2959" y="5629"/>
            <a:ext cx="835241" cy="6858000"/>
          </a:xfrm>
          <a:prstGeom prst="rect">
            <a:avLst/>
          </a:prstGeom>
        </p:spPr>
      </p:pic>
      <p:pic>
        <p:nvPicPr>
          <p:cNvPr id="8" name="Рисунок 7">
            <a:extLst>
              <a:ext uri="{FF2B5EF4-FFF2-40B4-BE49-F238E27FC236}">
                <a16:creationId xmlns:a16="http://schemas.microsoft.com/office/drawing/2014/main" id="{46460162-D4D7-727E-4087-A21E1BC61EA2}"/>
              </a:ext>
            </a:extLst>
          </p:cNvPr>
          <p:cNvPicPr>
            <a:picLocks noChangeAspect="1"/>
          </p:cNvPicPr>
          <p:nvPr userDrawn="1"/>
        </p:nvPicPr>
        <p:blipFill>
          <a:blip r:embed="rId14"/>
          <a:stretch>
            <a:fillRect/>
          </a:stretch>
        </p:blipFill>
        <p:spPr>
          <a:xfrm>
            <a:off x="49104" y="478053"/>
            <a:ext cx="742950" cy="714375"/>
          </a:xfrm>
          <a:prstGeom prst="rect">
            <a:avLst/>
          </a:prstGeom>
        </p:spPr>
      </p:pic>
      <p:pic>
        <p:nvPicPr>
          <p:cNvPr id="9" name="Рисунок 8" descr="Изображение выглядит как текст&#10;&#10;Автоматически созданное описание">
            <a:extLst>
              <a:ext uri="{FF2B5EF4-FFF2-40B4-BE49-F238E27FC236}">
                <a16:creationId xmlns:a16="http://schemas.microsoft.com/office/drawing/2014/main" id="{5C66A050-02AF-9111-FA5E-72472BBA9342}"/>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032918"/>
            <a:ext cx="843280" cy="835241"/>
          </a:xfrm>
          <a:prstGeom prst="rect">
            <a:avLst/>
          </a:prstGeom>
        </p:spPr>
      </p:pic>
    </p:spTree>
    <p:extLst>
      <p:ext uri="{BB962C8B-B14F-4D97-AF65-F5344CB8AC3E}">
        <p14:creationId xmlns:p14="http://schemas.microsoft.com/office/powerpoint/2010/main" val="96281769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dt="0"/>
  <p:txStyles>
    <p:titleStyle>
      <a:lvl1pPr algn="l" defTabSz="914400" rtl="0" eaLnBrk="1" latinLnBrk="0" hangingPunct="1">
        <a:lnSpc>
          <a:spcPct val="90000"/>
        </a:lnSpc>
        <a:spcBef>
          <a:spcPct val="0"/>
        </a:spcBef>
        <a:buNone/>
        <a:defRPr sz="4000" kern="1200">
          <a:solidFill>
            <a:srgbClr val="0070C0"/>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Arial Narrow" panose="020B060602020203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Arial Narrow" panose="020B060602020203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Arial Narrow" panose="020B060602020203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Arial Narrow" panose="020B060602020203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Arial Narrow" panose="020B0606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dvkubrakov@yandex.ru"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11" name="Rectangle 10">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sp useBgFill="1">
        <p:nvSpPr>
          <p:cNvPr id="13" name="Oval 12">
            <a:extLst>
              <a:ext uri="{FF2B5EF4-FFF2-40B4-BE49-F238E27FC236}">
                <a16:creationId xmlns:a16="http://schemas.microsoft.com/office/drawing/2014/main" id="{D4ABA013-0939-4293-B39F-3B85576FB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22250" y="1219200"/>
            <a:ext cx="373689" cy="373689"/>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5" name="Graphic 10">
            <a:extLst>
              <a:ext uri="{FF2B5EF4-FFF2-40B4-BE49-F238E27FC236}">
                <a16:creationId xmlns:a16="http://schemas.microsoft.com/office/drawing/2014/main" id="{51E206C0-387B-4108-8BD3-D98A4DA7E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5890" y="28456"/>
            <a:ext cx="1977027" cy="197702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p:nvSpPr>
          <p:cNvPr id="2" name="Заголовок 1">
            <a:extLst>
              <a:ext uri="{FF2B5EF4-FFF2-40B4-BE49-F238E27FC236}">
                <a16:creationId xmlns:a16="http://schemas.microsoft.com/office/drawing/2014/main" id="{A2887982-DD03-CD60-C60E-D06357F4012D}"/>
              </a:ext>
            </a:extLst>
          </p:cNvPr>
          <p:cNvSpPr>
            <a:spLocks noGrp="1"/>
          </p:cNvSpPr>
          <p:nvPr>
            <p:ph type="ctrTitle"/>
          </p:nvPr>
        </p:nvSpPr>
        <p:spPr>
          <a:xfrm>
            <a:off x="485634" y="1181668"/>
            <a:ext cx="6332586" cy="3184274"/>
          </a:xfrm>
        </p:spPr>
        <p:txBody>
          <a:bodyPr anchor="b">
            <a:noAutofit/>
          </a:bodyPr>
          <a:lstStyle/>
          <a:p>
            <a:pPr algn="l"/>
            <a:r>
              <a:rPr lang="ru-RU" dirty="0"/>
              <a:t>Программная инженерия</a:t>
            </a:r>
          </a:p>
        </p:txBody>
      </p:sp>
      <p:sp>
        <p:nvSpPr>
          <p:cNvPr id="3" name="Подзаголовок 2">
            <a:extLst>
              <a:ext uri="{FF2B5EF4-FFF2-40B4-BE49-F238E27FC236}">
                <a16:creationId xmlns:a16="http://schemas.microsoft.com/office/drawing/2014/main" id="{2CAAB4E2-8F8F-A87E-1CD0-D82B1A4E6862}"/>
              </a:ext>
            </a:extLst>
          </p:cNvPr>
          <p:cNvSpPr>
            <a:spLocks noGrp="1"/>
          </p:cNvSpPr>
          <p:nvPr>
            <p:ph type="subTitle" idx="1"/>
          </p:nvPr>
        </p:nvSpPr>
        <p:spPr>
          <a:xfrm>
            <a:off x="452753" y="4524807"/>
            <a:ext cx="6353035" cy="1495379"/>
          </a:xfrm>
        </p:spPr>
        <p:txBody>
          <a:bodyPr>
            <a:normAutofit/>
          </a:bodyPr>
          <a:lstStyle/>
          <a:p>
            <a:pPr algn="l"/>
            <a:r>
              <a:rPr lang="ru-RU" sz="2200" dirty="0"/>
              <a:t>Дмитрий Владимирович </a:t>
            </a:r>
            <a:r>
              <a:rPr lang="ru-RU" sz="2200" dirty="0" err="1"/>
              <a:t>Кубраков</a:t>
            </a:r>
            <a:br>
              <a:rPr lang="ru-RU" sz="2200" dirty="0"/>
            </a:br>
            <a:r>
              <a:rPr lang="en-US" sz="2200" dirty="0">
                <a:hlinkClick r:id="rId2"/>
              </a:rPr>
              <a:t>dvkubrakov@yandex.ru</a:t>
            </a:r>
            <a:br>
              <a:rPr lang="ru-RU" sz="2200" dirty="0"/>
            </a:br>
            <a:endParaRPr lang="ru-RU" sz="2200" dirty="0"/>
          </a:p>
        </p:txBody>
      </p:sp>
      <p:pic>
        <p:nvPicPr>
          <p:cNvPr id="4" name="Picture 3">
            <a:extLst>
              <a:ext uri="{FF2B5EF4-FFF2-40B4-BE49-F238E27FC236}">
                <a16:creationId xmlns:a16="http://schemas.microsoft.com/office/drawing/2014/main" id="{CCD81D93-1CCB-D99A-90E3-80BEE3ED79C8}"/>
              </a:ext>
            </a:extLst>
          </p:cNvPr>
          <p:cNvPicPr>
            <a:picLocks noChangeAspect="1"/>
          </p:cNvPicPr>
          <p:nvPr/>
        </p:nvPicPr>
        <p:blipFill rotWithShape="1">
          <a:blip r:embed="rId3"/>
          <a:srcRect l="29052" r="35580"/>
          <a:stretch/>
        </p:blipFill>
        <p:spPr>
          <a:xfrm>
            <a:off x="7330303" y="1"/>
            <a:ext cx="4851171" cy="6858000"/>
          </a:xfrm>
          <a:prstGeom prst="rect">
            <a:avLst/>
          </a:prstGeom>
        </p:spPr>
      </p:pic>
      <p:sp useBgFill="1">
        <p:nvSpPr>
          <p:cNvPr id="17" name="Graphic 10">
            <a:extLst>
              <a:ext uri="{FF2B5EF4-FFF2-40B4-BE49-F238E27FC236}">
                <a16:creationId xmlns:a16="http://schemas.microsoft.com/office/drawing/2014/main" id="{74A68384-D945-4F45-B9FB-C5A00DCC9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967314" y="5207478"/>
            <a:ext cx="719888" cy="71988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pic>
        <p:nvPicPr>
          <p:cNvPr id="6" name="Рисунок 5">
            <a:extLst>
              <a:ext uri="{FF2B5EF4-FFF2-40B4-BE49-F238E27FC236}">
                <a16:creationId xmlns:a16="http://schemas.microsoft.com/office/drawing/2014/main" id="{2B147AE8-D193-9BCD-E6F6-8537542F2BF9}"/>
              </a:ext>
            </a:extLst>
          </p:cNvPr>
          <p:cNvPicPr>
            <a:picLocks noChangeAspect="1"/>
          </p:cNvPicPr>
          <p:nvPr/>
        </p:nvPicPr>
        <p:blipFill>
          <a:blip r:embed="rId4"/>
          <a:stretch>
            <a:fillRect/>
          </a:stretch>
        </p:blipFill>
        <p:spPr>
          <a:xfrm>
            <a:off x="728314" y="570040"/>
            <a:ext cx="742950" cy="714375"/>
          </a:xfrm>
          <a:prstGeom prst="rect">
            <a:avLst/>
          </a:prstGeom>
        </p:spPr>
      </p:pic>
    </p:spTree>
    <p:extLst>
      <p:ext uri="{BB962C8B-B14F-4D97-AF65-F5344CB8AC3E}">
        <p14:creationId xmlns:p14="http://schemas.microsoft.com/office/powerpoint/2010/main" val="425550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E2257B39-652C-19DA-7F0C-98DB3BE628A3}"/>
              </a:ext>
            </a:extLst>
          </p:cNvPr>
          <p:cNvSpPr>
            <a:spLocks noGrp="1"/>
          </p:cNvSpPr>
          <p:nvPr>
            <p:ph type="title"/>
          </p:nvPr>
        </p:nvSpPr>
        <p:spPr>
          <a:xfrm>
            <a:off x="838200" y="92075"/>
            <a:ext cx="10515600" cy="1292406"/>
          </a:xfrm>
        </p:spPr>
        <p:txBody>
          <a:bodyPr>
            <a:noAutofit/>
          </a:bodyPr>
          <a:lstStyle/>
          <a:p>
            <a:r>
              <a:rPr lang="ru-RU" sz="4400" dirty="0"/>
              <a:t>Тема 4</a:t>
            </a:r>
            <a:r>
              <a:rPr lang="ru-RU" sz="4400"/>
              <a:t>: Конструирование </a:t>
            </a:r>
            <a:r>
              <a:rPr lang="ru-RU" sz="4400" dirty="0"/>
              <a:t>программного обеспечения</a:t>
            </a:r>
          </a:p>
        </p:txBody>
      </p:sp>
      <p:sp>
        <p:nvSpPr>
          <p:cNvPr id="7" name="Текст 6">
            <a:extLst>
              <a:ext uri="{FF2B5EF4-FFF2-40B4-BE49-F238E27FC236}">
                <a16:creationId xmlns:a16="http://schemas.microsoft.com/office/drawing/2014/main" id="{DE856234-CE97-B13C-9F29-1CFC3908611B}"/>
              </a:ext>
            </a:extLst>
          </p:cNvPr>
          <p:cNvSpPr>
            <a:spLocks noGrp="1"/>
          </p:cNvSpPr>
          <p:nvPr>
            <p:ph type="body" idx="1"/>
          </p:nvPr>
        </p:nvSpPr>
        <p:spPr>
          <a:xfrm>
            <a:off x="1010215" y="1507444"/>
            <a:ext cx="11108267" cy="3471962"/>
          </a:xfrm>
        </p:spPr>
        <p:txBody>
          <a:bodyPr>
            <a:noAutofit/>
          </a:bodyPr>
          <a:lstStyle/>
          <a:p>
            <a:pPr marL="342900" lvl="0" indent="-342900">
              <a:buFont typeface="+mj-lt"/>
              <a:buAutoNum type="arabicPeriod"/>
            </a:pPr>
            <a:r>
              <a:rPr lang="ru-RU" sz="2800" dirty="0">
                <a:solidFill>
                  <a:schemeClr val="tx1"/>
                </a:solidFill>
              </a:rPr>
              <a:t>Место конструирования в программной инженерии</a:t>
            </a:r>
          </a:p>
          <a:p>
            <a:pPr marL="342900" lvl="0" indent="-342900">
              <a:buFont typeface="+mj-lt"/>
              <a:buAutoNum type="arabicPeriod"/>
            </a:pPr>
            <a:r>
              <a:rPr lang="ru-RU" sz="2800" dirty="0">
                <a:solidFill>
                  <a:schemeClr val="tx1"/>
                </a:solidFill>
              </a:rPr>
              <a:t>Основы конструирования (</a:t>
            </a:r>
            <a:r>
              <a:rPr lang="en-GB" sz="2800" dirty="0">
                <a:solidFill>
                  <a:schemeClr val="tx1"/>
                </a:solidFill>
              </a:rPr>
              <a:t>Software Construction Fundamentals)</a:t>
            </a:r>
            <a:endParaRPr lang="ru-RU" sz="2800" dirty="0">
              <a:solidFill>
                <a:schemeClr val="tx1"/>
              </a:solidFill>
            </a:endParaRPr>
          </a:p>
          <a:p>
            <a:pPr marL="342900" lvl="0" indent="-342900">
              <a:buFont typeface="+mj-lt"/>
              <a:buAutoNum type="arabicPeriod"/>
            </a:pPr>
            <a:r>
              <a:rPr lang="ru-RU" sz="2800" dirty="0">
                <a:solidFill>
                  <a:schemeClr val="tx1"/>
                </a:solidFill>
              </a:rPr>
              <a:t>Управление конструированием (</a:t>
            </a:r>
            <a:r>
              <a:rPr lang="en-GB" sz="2800" dirty="0">
                <a:solidFill>
                  <a:schemeClr val="tx1"/>
                </a:solidFill>
              </a:rPr>
              <a:t>Managing Construction)</a:t>
            </a:r>
            <a:endParaRPr lang="ru-RU" sz="2800" dirty="0">
              <a:solidFill>
                <a:schemeClr val="tx1"/>
              </a:solidFill>
            </a:endParaRPr>
          </a:p>
          <a:p>
            <a:pPr marL="342900" lvl="0" indent="-342900">
              <a:buFont typeface="+mj-lt"/>
              <a:buAutoNum type="arabicPeriod"/>
            </a:pPr>
            <a:r>
              <a:rPr lang="ru-RU" sz="2800" dirty="0">
                <a:solidFill>
                  <a:schemeClr val="tx1"/>
                </a:solidFill>
              </a:rPr>
              <a:t>Практические соображения (</a:t>
            </a:r>
            <a:r>
              <a:rPr lang="ru-RU" sz="2800" dirty="0" err="1">
                <a:solidFill>
                  <a:schemeClr val="tx1"/>
                </a:solidFill>
              </a:rPr>
              <a:t>Practical</a:t>
            </a:r>
            <a:r>
              <a:rPr lang="ru-RU" sz="2800" dirty="0">
                <a:solidFill>
                  <a:schemeClr val="tx1"/>
                </a:solidFill>
              </a:rPr>
              <a:t> </a:t>
            </a:r>
            <a:r>
              <a:rPr lang="ru-RU" sz="2800" dirty="0" err="1">
                <a:solidFill>
                  <a:schemeClr val="tx1"/>
                </a:solidFill>
              </a:rPr>
              <a:t>Considerations</a:t>
            </a:r>
            <a:r>
              <a:rPr lang="ru-RU" sz="2800" dirty="0">
                <a:solidFill>
                  <a:schemeClr val="tx1"/>
                </a:solidFill>
              </a:rPr>
              <a:t>)</a:t>
            </a:r>
          </a:p>
        </p:txBody>
      </p:sp>
      <p:sp>
        <p:nvSpPr>
          <p:cNvPr id="4" name="Нижний колонтитул 3">
            <a:extLst>
              <a:ext uri="{FF2B5EF4-FFF2-40B4-BE49-F238E27FC236}">
                <a16:creationId xmlns:a16="http://schemas.microsoft.com/office/drawing/2014/main" id="{D1ED3A2E-9E2F-BB29-A210-810328DCBB52}"/>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820B03AF-AB6B-E580-9C13-D493D038F887}"/>
              </a:ext>
            </a:extLst>
          </p:cNvPr>
          <p:cNvSpPr>
            <a:spLocks noGrp="1"/>
          </p:cNvSpPr>
          <p:nvPr>
            <p:ph type="sldNum" sz="quarter" idx="12"/>
          </p:nvPr>
        </p:nvSpPr>
        <p:spPr/>
        <p:txBody>
          <a:bodyPr/>
          <a:lstStyle/>
          <a:p>
            <a:fld id="{DFA5D71E-5CDF-4C93-8A75-5B916FDC5BEA}" type="slidenum">
              <a:rPr lang="en-US" smtClean="0"/>
              <a:pPr/>
              <a:t>2</a:t>
            </a:fld>
            <a:endParaRPr lang="en-US" dirty="0"/>
          </a:p>
        </p:txBody>
      </p:sp>
    </p:spTree>
    <p:extLst>
      <p:ext uri="{BB962C8B-B14F-4D97-AF65-F5344CB8AC3E}">
        <p14:creationId xmlns:p14="http://schemas.microsoft.com/office/powerpoint/2010/main" val="2469822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fontScale="90000"/>
          </a:bodyPr>
          <a:lstStyle/>
          <a:p>
            <a:r>
              <a:rPr lang="ru-RU" sz="2800" dirty="0"/>
              <a:t>Место конструирования программного обеспечения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3</a:t>
            </a:fld>
            <a:endParaRPr lang="en-US" dirty="0"/>
          </a:p>
        </p:txBody>
      </p:sp>
      <p:sp>
        <p:nvSpPr>
          <p:cNvPr id="11" name="Объект 10">
            <a:extLst>
              <a:ext uri="{FF2B5EF4-FFF2-40B4-BE49-F238E27FC236}">
                <a16:creationId xmlns:a16="http://schemas.microsoft.com/office/drawing/2014/main" id="{2FD9986B-08C9-43B4-AD92-08B85B4656A3}"/>
              </a:ext>
            </a:extLst>
          </p:cNvPr>
          <p:cNvSpPr>
            <a:spLocks noGrp="1"/>
          </p:cNvSpPr>
          <p:nvPr>
            <p:ph idx="1"/>
          </p:nvPr>
        </p:nvSpPr>
        <p:spPr>
          <a:xfrm>
            <a:off x="11353800" y="286813"/>
            <a:ext cx="669159" cy="4334985"/>
          </a:xfrm>
        </p:spPr>
        <p:txBody>
          <a:bodyPr>
            <a:normAutofit/>
          </a:bodyPr>
          <a:lstStyle/>
          <a:p>
            <a:r>
              <a:rPr lang="ru-RU" sz="800" dirty="0"/>
              <a:t>1</a:t>
            </a:r>
          </a:p>
        </p:txBody>
      </p:sp>
      <p:pic>
        <p:nvPicPr>
          <p:cNvPr id="6" name="Рисунок 5">
            <a:extLst>
              <a:ext uri="{FF2B5EF4-FFF2-40B4-BE49-F238E27FC236}">
                <a16:creationId xmlns:a16="http://schemas.microsoft.com/office/drawing/2014/main" id="{0065F451-A3EA-4A00-A1D8-44B50D29BB6B}"/>
              </a:ext>
            </a:extLst>
          </p:cNvPr>
          <p:cNvPicPr>
            <a:picLocks noChangeAspect="1"/>
          </p:cNvPicPr>
          <p:nvPr/>
        </p:nvPicPr>
        <p:blipFill>
          <a:blip r:embed="rId2"/>
          <a:stretch>
            <a:fillRect/>
          </a:stretch>
        </p:blipFill>
        <p:spPr>
          <a:xfrm>
            <a:off x="1886309" y="744016"/>
            <a:ext cx="9197616" cy="5866334"/>
          </a:xfrm>
          <a:prstGeom prst="rect">
            <a:avLst/>
          </a:prstGeom>
        </p:spPr>
      </p:pic>
    </p:spTree>
    <p:extLst>
      <p:ext uri="{BB962C8B-B14F-4D97-AF65-F5344CB8AC3E}">
        <p14:creationId xmlns:p14="http://schemas.microsoft.com/office/powerpoint/2010/main" val="254530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Определение конструирования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4</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82177" y="850006"/>
            <a:ext cx="10515600" cy="5640945"/>
          </a:xfrm>
        </p:spPr>
        <p:txBody>
          <a:bodyPr>
            <a:normAutofit fontScale="77500" lnSpcReduction="20000"/>
          </a:bodyPr>
          <a:lstStyle/>
          <a:p>
            <a:r>
              <a:rPr lang="ru-RU" b="1" dirty="0"/>
              <a:t>Конструирование программного обеспечения (Software Construction)</a:t>
            </a:r>
          </a:p>
          <a:p>
            <a:r>
              <a:rPr lang="ru-RU" b="1" dirty="0"/>
              <a:t>Термин конструирование программного обеспечения (</a:t>
            </a:r>
            <a:r>
              <a:rPr lang="ru-RU" b="1" dirty="0" err="1"/>
              <a:t>software</a:t>
            </a:r>
            <a:r>
              <a:rPr lang="ru-RU" b="1" dirty="0"/>
              <a:t> </a:t>
            </a:r>
            <a:r>
              <a:rPr lang="ru-RU" b="1" dirty="0" err="1"/>
              <a:t>construction</a:t>
            </a:r>
            <a:r>
              <a:rPr lang="ru-RU" b="1" dirty="0"/>
              <a:t>) описывает детальное создание рабочей программной системы посредством комбинации кодирования, верификации (проверки), модульного тестирования (</a:t>
            </a:r>
            <a:r>
              <a:rPr lang="ru-RU" b="1" dirty="0" err="1"/>
              <a:t>unit</a:t>
            </a:r>
            <a:r>
              <a:rPr lang="ru-RU" b="1" dirty="0"/>
              <a:t> </a:t>
            </a:r>
            <a:r>
              <a:rPr lang="ru-RU" b="1" dirty="0" err="1"/>
              <a:t>testing</a:t>
            </a:r>
            <a:r>
              <a:rPr lang="ru-RU" b="1" dirty="0"/>
              <a:t>), интеграционного тестирования и отладки.</a:t>
            </a:r>
          </a:p>
          <a:p>
            <a:r>
              <a:rPr lang="ru-RU" dirty="0"/>
              <a:t>Результат процесса проектирования – Элементы конфигурации ПО (</a:t>
            </a:r>
            <a:r>
              <a:rPr lang="ru-RU" sz="2900" dirty="0"/>
              <a:t>конфигурационные элементы - </a:t>
            </a:r>
            <a:r>
              <a:rPr lang="en-US" sz="2900" dirty="0"/>
              <a:t>configuration items</a:t>
            </a:r>
            <a:r>
              <a:rPr lang="ru-RU" sz="2900" dirty="0"/>
              <a:t>), т.е. большая часть активов программного проекта.</a:t>
            </a:r>
          </a:p>
          <a:p>
            <a:r>
              <a:rPr lang="ru-RU" dirty="0"/>
              <a:t>Рассматриваемое как процесс, </a:t>
            </a:r>
            <a:r>
              <a:rPr lang="ru-RU" b="1" dirty="0"/>
              <a:t>конструирование есть инженерная деятельность в рамках жизненного цикла</a:t>
            </a:r>
            <a:r>
              <a:rPr lang="ru-RU" dirty="0"/>
              <a:t> (в данном контексте – программного обеспечения), в которой надлежащим образом анализируются требования для создания описания внутренней структуры программных элементов, являющейся основой для кода программного обеспечения как такового. Конструкция ПО (как результат деятельности по конструированию) должен описывать устройство элементов программного обеспечения, то есть представлять декомпозицию элемента программного элемента в виде организованной структуры частей кода (компонентами), последовательности и условий их вызова, а также интерфейсов между компонентами.</a:t>
            </a:r>
          </a:p>
          <a:p>
            <a:r>
              <a:rPr lang="ru-RU" b="1" dirty="0"/>
              <a:t>Важнейшей характеристикой готовности конструкции является тот уровень детализации описаний элементов ПО (компонентов), который позволяет перейти к непосредственному программированию</a:t>
            </a:r>
            <a:r>
              <a:rPr lang="ru-RU" dirty="0"/>
              <a:t>.</a:t>
            </a:r>
          </a:p>
        </p:txBody>
      </p:sp>
    </p:spTree>
    <p:extLst>
      <p:ext uri="{BB962C8B-B14F-4D97-AF65-F5344CB8AC3E}">
        <p14:creationId xmlns:p14="http://schemas.microsoft.com/office/powerpoint/2010/main" val="294333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51340"/>
            <a:ext cx="11353800" cy="560493"/>
          </a:xfrm>
        </p:spPr>
        <p:txBody>
          <a:bodyPr>
            <a:normAutofit/>
          </a:bodyPr>
          <a:lstStyle/>
          <a:p>
            <a:r>
              <a:rPr lang="ru-RU" sz="2800" dirty="0"/>
              <a:t>Объем понятия конструирования в программной инженерии</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5</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955017" y="697731"/>
            <a:ext cx="10515600" cy="4019284"/>
          </a:xfrm>
        </p:spPr>
        <p:txBody>
          <a:bodyPr>
            <a:normAutofit/>
          </a:bodyPr>
          <a:lstStyle/>
          <a:p>
            <a:endParaRPr lang="ru-RU" dirty="0"/>
          </a:p>
          <a:p>
            <a:endParaRPr lang="ru-RU" dirty="0"/>
          </a:p>
        </p:txBody>
      </p:sp>
      <p:pic>
        <p:nvPicPr>
          <p:cNvPr id="7" name="Рисунок 6">
            <a:extLst>
              <a:ext uri="{FF2B5EF4-FFF2-40B4-BE49-F238E27FC236}">
                <a16:creationId xmlns:a16="http://schemas.microsoft.com/office/drawing/2014/main" id="{B3C62BA4-A93A-4B24-B612-2FE2BF6F6C78}"/>
              </a:ext>
            </a:extLst>
          </p:cNvPr>
          <p:cNvPicPr>
            <a:picLocks noChangeAspect="1"/>
          </p:cNvPicPr>
          <p:nvPr/>
        </p:nvPicPr>
        <p:blipFill>
          <a:blip r:embed="rId2"/>
          <a:stretch>
            <a:fillRect/>
          </a:stretch>
        </p:blipFill>
        <p:spPr>
          <a:xfrm>
            <a:off x="3296992" y="687982"/>
            <a:ext cx="6247058" cy="6117630"/>
          </a:xfrm>
          <a:prstGeom prst="rect">
            <a:avLst/>
          </a:prstGeom>
        </p:spPr>
      </p:pic>
    </p:spTree>
    <p:extLst>
      <p:ext uri="{BB962C8B-B14F-4D97-AF65-F5344CB8AC3E}">
        <p14:creationId xmlns:p14="http://schemas.microsoft.com/office/powerpoint/2010/main" val="1685451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84207" y="92075"/>
            <a:ext cx="11353800" cy="1414672"/>
          </a:xfrm>
        </p:spPr>
        <p:txBody>
          <a:bodyPr>
            <a:normAutofit fontScale="90000"/>
          </a:bodyPr>
          <a:lstStyle/>
          <a:p>
            <a:r>
              <a:rPr lang="ru-RU" sz="6000" dirty="0"/>
              <a:t>Основы конструирования </a:t>
            </a:r>
            <a:br>
              <a:rPr lang="ru-RU" sz="6000" dirty="0"/>
            </a:br>
            <a:r>
              <a:rPr lang="ru-RU" sz="6000" dirty="0"/>
              <a:t>(</a:t>
            </a:r>
            <a:r>
              <a:rPr lang="en-GB" sz="6000" dirty="0"/>
              <a:t>Software Construction Fundamentals)</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6</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42612" y="2073377"/>
            <a:ext cx="10515600" cy="4019284"/>
          </a:xfrm>
        </p:spPr>
        <p:txBody>
          <a:bodyPr>
            <a:normAutofit/>
          </a:bodyPr>
          <a:lstStyle/>
          <a:p>
            <a:r>
              <a:rPr lang="ru-RU" dirty="0"/>
              <a:t>Минимизация сложности</a:t>
            </a:r>
          </a:p>
          <a:p>
            <a:r>
              <a:rPr lang="ru-RU" dirty="0"/>
              <a:t>Ожидание изменений</a:t>
            </a:r>
          </a:p>
          <a:p>
            <a:r>
              <a:rPr lang="ru-RU" dirty="0"/>
              <a:t>Конструирование с возможностью проверки</a:t>
            </a:r>
          </a:p>
          <a:p>
            <a:r>
              <a:rPr lang="ru-RU" dirty="0"/>
              <a:t>Стандарты в конструировании</a:t>
            </a:r>
          </a:p>
          <a:p>
            <a:pPr marL="0" indent="0">
              <a:buNone/>
            </a:pPr>
            <a:endParaRPr lang="ru-RU" dirty="0"/>
          </a:p>
          <a:p>
            <a:pPr marL="0" indent="0">
              <a:buNone/>
            </a:pPr>
            <a:r>
              <a:rPr lang="en-US" dirty="0"/>
              <a:t>NB! </a:t>
            </a:r>
            <a:r>
              <a:rPr lang="ru-RU" dirty="0"/>
              <a:t>Первые три концепции применяются не только к конструированию, </a:t>
            </a:r>
            <a:br>
              <a:rPr lang="en-US" dirty="0"/>
            </a:br>
            <a:r>
              <a:rPr lang="ru-RU" dirty="0"/>
              <a:t>но и проектированию, и лежат в основе современных методологий управления жизненным циклом программных систем.</a:t>
            </a:r>
          </a:p>
          <a:p>
            <a:endParaRPr lang="ru-RU" dirty="0"/>
          </a:p>
        </p:txBody>
      </p:sp>
    </p:spTree>
    <p:extLst>
      <p:ext uri="{BB962C8B-B14F-4D97-AF65-F5344CB8AC3E}">
        <p14:creationId xmlns:p14="http://schemas.microsoft.com/office/powerpoint/2010/main" val="332934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Минимизация сложности (</a:t>
            </a:r>
            <a:r>
              <a:rPr lang="en-GB" sz="2800" dirty="0"/>
              <a:t>Minimizing Complexity)</a:t>
            </a:r>
            <a:endParaRPr lang="ru-RU" sz="6000" dirty="0"/>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7</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35530" y="936703"/>
            <a:ext cx="10515600" cy="5350502"/>
          </a:xfrm>
        </p:spPr>
        <p:txBody>
          <a:bodyPr>
            <a:normAutofit fontScale="92500" lnSpcReduction="20000"/>
          </a:bodyPr>
          <a:lstStyle/>
          <a:p>
            <a:pPr marL="0" indent="0">
              <a:buNone/>
            </a:pPr>
            <a:r>
              <a:rPr lang="ru-RU" dirty="0"/>
              <a:t>Уменьшение сложности в конструировании программного обеспечения достигается при уделении особого внимания созданию простого и легко читаемого кода, пусть и в ущерб стремлению сделать его идеальным (например, с точки зрения гибкости или следования тем или иным представлениям о красоте, утончённости кода, ловкости тех или иных приемов, позволяющих его сократить в ущерб размерам и т.п.). Это не значит, что должно ущемляться применение тех или иных развитых языковых возможностей используемых средств программирования. Это подразумевает “лишь” придание большей значимости читаемости кода, простоте тестирования, приемлемому уровню производительности и удовлетворению заданных критериев, вместо постоянного совершенствования кода, не оглядываясь на сроки, функциональность и другие характеристики и ограничения проекта.</a:t>
            </a:r>
          </a:p>
          <a:p>
            <a:pPr marL="0" indent="0">
              <a:buNone/>
            </a:pPr>
            <a:r>
              <a:rPr lang="ru-RU" dirty="0"/>
              <a:t>Минимизация сложности достигается, в частности, следованием стандартам (обсуждаются в теме 1.4 “Стандарты в конструировании”), использованием ряда специфических техник (освещаются в 3.3 “Кодирование”) и поддержкой практик, направленных на обеспечение качества в конструировании (3.5 “Качество конструирования”).</a:t>
            </a:r>
          </a:p>
          <a:p>
            <a:pPr marL="0" indent="0">
              <a:buNone/>
            </a:pPr>
            <a:endParaRPr lang="ru-RU" dirty="0"/>
          </a:p>
        </p:txBody>
      </p:sp>
    </p:spTree>
    <p:extLst>
      <p:ext uri="{BB962C8B-B14F-4D97-AF65-F5344CB8AC3E}">
        <p14:creationId xmlns:p14="http://schemas.microsoft.com/office/powerpoint/2010/main" val="1078930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7349CA-6D1A-6B46-C7EA-73B00B5CD142}"/>
              </a:ext>
            </a:extLst>
          </p:cNvPr>
          <p:cNvSpPr>
            <a:spLocks noGrp="1"/>
          </p:cNvSpPr>
          <p:nvPr>
            <p:ph type="title"/>
          </p:nvPr>
        </p:nvSpPr>
        <p:spPr>
          <a:xfrm>
            <a:off x="838200" y="92074"/>
            <a:ext cx="11353800" cy="560493"/>
          </a:xfrm>
        </p:spPr>
        <p:txBody>
          <a:bodyPr>
            <a:normAutofit/>
          </a:bodyPr>
          <a:lstStyle/>
          <a:p>
            <a:r>
              <a:rPr lang="ru-RU" sz="2800" dirty="0"/>
              <a:t>Ожидание изменений (</a:t>
            </a:r>
            <a:r>
              <a:rPr lang="ru-RU" sz="2800" dirty="0" err="1"/>
              <a:t>Anticipating</a:t>
            </a:r>
            <a:r>
              <a:rPr lang="ru-RU" sz="2800" dirty="0"/>
              <a:t> </a:t>
            </a:r>
            <a:r>
              <a:rPr lang="ru-RU" sz="2800" dirty="0" err="1"/>
              <a:t>Changes</a:t>
            </a:r>
            <a:r>
              <a:rPr lang="ru-RU" sz="2800" dirty="0"/>
              <a:t>)</a:t>
            </a:r>
          </a:p>
        </p:txBody>
      </p:sp>
      <p:sp>
        <p:nvSpPr>
          <p:cNvPr id="4" name="Нижний колонтитул 3">
            <a:extLst>
              <a:ext uri="{FF2B5EF4-FFF2-40B4-BE49-F238E27FC236}">
                <a16:creationId xmlns:a16="http://schemas.microsoft.com/office/drawing/2014/main" id="{919F52A1-AC2E-E477-4355-2E1547404334}"/>
              </a:ext>
            </a:extLst>
          </p:cNvPr>
          <p:cNvSpPr>
            <a:spLocks noGrp="1"/>
          </p:cNvSpPr>
          <p:nvPr>
            <p:ph type="ftr" sz="quarter" idx="11"/>
          </p:nvPr>
        </p:nvSpPr>
        <p:spPr/>
        <p:txBody>
          <a:bodyPr/>
          <a:lstStyle/>
          <a:p>
            <a:r>
              <a:rPr lang="ru-RU" dirty="0"/>
              <a:t>© </a:t>
            </a:r>
            <a:r>
              <a:rPr lang="ru-RU" dirty="0" err="1"/>
              <a:t>Д.В.Кубраков</a:t>
            </a:r>
            <a:r>
              <a:rPr lang="ru-RU" dirty="0"/>
              <a:t>, 2025</a:t>
            </a:r>
            <a:endParaRPr lang="en-US" dirty="0"/>
          </a:p>
        </p:txBody>
      </p:sp>
      <p:sp>
        <p:nvSpPr>
          <p:cNvPr id="5" name="Номер слайда 4">
            <a:extLst>
              <a:ext uri="{FF2B5EF4-FFF2-40B4-BE49-F238E27FC236}">
                <a16:creationId xmlns:a16="http://schemas.microsoft.com/office/drawing/2014/main" id="{FA8F4C57-B0B4-6810-690E-95E3D3B95760}"/>
              </a:ext>
            </a:extLst>
          </p:cNvPr>
          <p:cNvSpPr>
            <a:spLocks noGrp="1"/>
          </p:cNvSpPr>
          <p:nvPr>
            <p:ph type="sldNum" sz="quarter" idx="12"/>
          </p:nvPr>
        </p:nvSpPr>
        <p:spPr/>
        <p:txBody>
          <a:bodyPr/>
          <a:lstStyle/>
          <a:p>
            <a:fld id="{DFA5D71E-5CDF-4C93-8A75-5B916FDC5BEA}" type="slidenum">
              <a:rPr lang="en-US" smtClean="0"/>
              <a:pPr/>
              <a:t>8</a:t>
            </a:fld>
            <a:endParaRPr lang="en-US" dirty="0"/>
          </a:p>
        </p:txBody>
      </p:sp>
      <p:sp>
        <p:nvSpPr>
          <p:cNvPr id="6" name="Объект 5">
            <a:extLst>
              <a:ext uri="{FF2B5EF4-FFF2-40B4-BE49-F238E27FC236}">
                <a16:creationId xmlns:a16="http://schemas.microsoft.com/office/drawing/2014/main" id="{2685B71C-1C3A-4099-8641-F733E7C8AF9D}"/>
              </a:ext>
            </a:extLst>
          </p:cNvPr>
          <p:cNvSpPr>
            <a:spLocks noGrp="1"/>
          </p:cNvSpPr>
          <p:nvPr>
            <p:ph idx="1"/>
          </p:nvPr>
        </p:nvSpPr>
        <p:spPr>
          <a:xfrm>
            <a:off x="1035530" y="1717289"/>
            <a:ext cx="10515600" cy="4569916"/>
          </a:xfrm>
        </p:spPr>
        <p:txBody>
          <a:bodyPr>
            <a:normAutofit/>
          </a:bodyPr>
          <a:lstStyle/>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Большинство программных систем изменяются с течением времени. Причин этому – множество. Ожидание изменений является одной из движущих сил конструирования программного обеспечения. Программное обеспечение не является изолированным от внешнего окружения (как системного, так и с точки зрения области деятельности, для автоматизации задач и проблем которого оно применяется). Более того, программные системы являются частью изменяющейся среды и должны меняться вместе с ней, а, иногда, и быть источником изменений самой среды.</a:t>
            </a:r>
          </a:p>
          <a:p>
            <a:pPr indent="450215"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Ожидание изменений поддерживается рядом техник, представленных в теме 3.3 “Кодирование”.</a:t>
            </a:r>
          </a:p>
          <a:p>
            <a:pPr marL="0" indent="0">
              <a:buNone/>
            </a:pPr>
            <a:endParaRPr lang="ru-RU" dirty="0"/>
          </a:p>
        </p:txBody>
      </p:sp>
    </p:spTree>
    <p:extLst>
      <p:ext uri="{BB962C8B-B14F-4D97-AF65-F5344CB8AC3E}">
        <p14:creationId xmlns:p14="http://schemas.microsoft.com/office/powerpoint/2010/main" val="479745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FA411A-7D38-418A-A8AA-5B5B113B9DCA}"/>
              </a:ext>
            </a:extLst>
          </p:cNvPr>
          <p:cNvSpPr>
            <a:spLocks noGrp="1"/>
          </p:cNvSpPr>
          <p:nvPr>
            <p:ph type="title"/>
          </p:nvPr>
        </p:nvSpPr>
        <p:spPr/>
        <p:txBody>
          <a:bodyPr/>
          <a:lstStyle/>
          <a:p>
            <a:r>
              <a:rPr lang="ru-RU" dirty="0"/>
              <a:t>Конструирование с возможностью проверки (</a:t>
            </a:r>
            <a:r>
              <a:rPr lang="ru-RU" dirty="0" err="1"/>
              <a:t>Constructing</a:t>
            </a:r>
            <a:r>
              <a:rPr lang="ru-RU" dirty="0"/>
              <a:t> </a:t>
            </a:r>
            <a:r>
              <a:rPr lang="ru-RU" dirty="0" err="1"/>
              <a:t>for</a:t>
            </a:r>
            <a:r>
              <a:rPr lang="ru-RU" dirty="0"/>
              <a:t> </a:t>
            </a:r>
            <a:r>
              <a:rPr lang="ru-RU" dirty="0" err="1"/>
              <a:t>Verification</a:t>
            </a:r>
            <a:r>
              <a:rPr lang="ru-RU" dirty="0"/>
              <a:t>)</a:t>
            </a:r>
          </a:p>
        </p:txBody>
      </p:sp>
      <p:sp>
        <p:nvSpPr>
          <p:cNvPr id="3" name="Объект 2">
            <a:extLst>
              <a:ext uri="{FF2B5EF4-FFF2-40B4-BE49-F238E27FC236}">
                <a16:creationId xmlns:a16="http://schemas.microsoft.com/office/drawing/2014/main" id="{D2CD9C65-503D-4E6E-AA5F-76D23BFB74C0}"/>
              </a:ext>
            </a:extLst>
          </p:cNvPr>
          <p:cNvSpPr>
            <a:spLocks noGrp="1"/>
          </p:cNvSpPr>
          <p:nvPr>
            <p:ph idx="1"/>
          </p:nvPr>
        </p:nvSpPr>
        <p:spPr/>
        <p:txBody>
          <a:bodyPr>
            <a:normAutofit fontScale="85000" lnSpcReduction="10000"/>
          </a:bodyPr>
          <a:lstStyle/>
          <a:p>
            <a:r>
              <a:rPr lang="ru-RU" dirty="0"/>
              <a:t>“Конструирование для проверки” (а именно такой смысл заложен в оригинальное название данной темы) предполагает, что построение программных систем должно вестись таким образом, чтобы сама программная система помогала вести поиск причин сбоев, будучи прозрачной для применения различных методов проверки (и, кстати, внесения необходимых изменений), как на стадии независимого тестирования (например, инженерами-тестировщиками), так и в процессе операционной деятельности - эксплуатации, когда особенно важна возможность быстрого обнаружения и исправления возникающих ошибок.</a:t>
            </a:r>
          </a:p>
          <a:p>
            <a:r>
              <a:rPr lang="ru-RU" dirty="0"/>
              <a:t>Среди техник, направленных на достижение такого результата конструирования:</a:t>
            </a:r>
          </a:p>
          <a:p>
            <a:pPr lvl="1"/>
            <a:r>
              <a:rPr lang="ru-RU" dirty="0"/>
              <a:t>обзор, оценка кода (</a:t>
            </a:r>
            <a:r>
              <a:rPr lang="ru-RU" dirty="0" err="1"/>
              <a:t>code</a:t>
            </a:r>
            <a:r>
              <a:rPr lang="ru-RU" dirty="0"/>
              <a:t> </a:t>
            </a:r>
            <a:r>
              <a:rPr lang="ru-RU" dirty="0" err="1"/>
              <a:t>review</a:t>
            </a:r>
            <a:r>
              <a:rPr lang="ru-RU" dirty="0"/>
              <a:t>);</a:t>
            </a:r>
          </a:p>
          <a:p>
            <a:pPr lvl="1"/>
            <a:r>
              <a:rPr lang="ru-RU" dirty="0"/>
              <a:t>модульное тестирование (</a:t>
            </a:r>
            <a:r>
              <a:rPr lang="ru-RU" dirty="0" err="1"/>
              <a:t>unit-testing</a:t>
            </a:r>
            <a:r>
              <a:rPr lang="ru-RU" dirty="0"/>
              <a:t>);</a:t>
            </a:r>
          </a:p>
          <a:p>
            <a:pPr lvl="1"/>
            <a:r>
              <a:rPr lang="ru-RU" dirty="0"/>
              <a:t>структурирование кода для и совместно с применениям автоматизированных средств тестирования (</a:t>
            </a:r>
            <a:r>
              <a:rPr lang="ru-RU" dirty="0" err="1"/>
              <a:t>automated</a:t>
            </a:r>
            <a:r>
              <a:rPr lang="ru-RU" dirty="0"/>
              <a:t> </a:t>
            </a:r>
            <a:r>
              <a:rPr lang="ru-RU" dirty="0" err="1"/>
              <a:t>testing</a:t>
            </a:r>
            <a:r>
              <a:rPr lang="ru-RU" dirty="0"/>
              <a:t>);</a:t>
            </a:r>
          </a:p>
          <a:p>
            <a:pPr lvl="1"/>
            <a:r>
              <a:rPr lang="ru-RU" dirty="0"/>
              <a:t>ограниченное применение сложных или тяжелых для понимания языковых структур.</a:t>
            </a:r>
          </a:p>
          <a:p>
            <a:endParaRPr lang="ru-RU" dirty="0"/>
          </a:p>
        </p:txBody>
      </p:sp>
      <p:sp>
        <p:nvSpPr>
          <p:cNvPr id="4" name="Нижний колонтитул 3">
            <a:extLst>
              <a:ext uri="{FF2B5EF4-FFF2-40B4-BE49-F238E27FC236}">
                <a16:creationId xmlns:a16="http://schemas.microsoft.com/office/drawing/2014/main" id="{0495B050-CE40-49EA-85F8-546A161F3C94}"/>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147C09C4-D97F-4F6F-99EB-D7895DA0BB61}"/>
              </a:ext>
            </a:extLst>
          </p:cNvPr>
          <p:cNvSpPr>
            <a:spLocks noGrp="1"/>
          </p:cNvSpPr>
          <p:nvPr>
            <p:ph type="sldNum" sz="quarter" idx="12"/>
          </p:nvPr>
        </p:nvSpPr>
        <p:spPr/>
        <p:txBody>
          <a:bodyPr/>
          <a:lstStyle/>
          <a:p>
            <a:fld id="{DFA5D71E-5CDF-4C93-8A75-5B916FDC5BEA}" type="slidenum">
              <a:rPr lang="en-US" smtClean="0"/>
              <a:pPr/>
              <a:t>9</a:t>
            </a:fld>
            <a:endParaRPr lang="en-US" dirty="0"/>
          </a:p>
        </p:txBody>
      </p:sp>
    </p:spTree>
    <p:extLst>
      <p:ext uri="{BB962C8B-B14F-4D97-AF65-F5344CB8AC3E}">
        <p14:creationId xmlns:p14="http://schemas.microsoft.com/office/powerpoint/2010/main" val="3564377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95902A-815C-4073-869B-860AFA4616BB}"/>
              </a:ext>
            </a:extLst>
          </p:cNvPr>
          <p:cNvSpPr>
            <a:spLocks noGrp="1"/>
          </p:cNvSpPr>
          <p:nvPr>
            <p:ph type="title"/>
          </p:nvPr>
        </p:nvSpPr>
        <p:spPr>
          <a:xfrm>
            <a:off x="842493" y="0"/>
            <a:ext cx="11353800" cy="1325563"/>
          </a:xfrm>
        </p:spPr>
        <p:txBody>
          <a:bodyPr>
            <a:normAutofit/>
          </a:bodyPr>
          <a:lstStyle/>
          <a:p>
            <a:r>
              <a:rPr lang="ru-RU" dirty="0"/>
              <a:t>Стандарты в конструировании </a:t>
            </a:r>
            <a:br>
              <a:rPr lang="ru-RU" dirty="0"/>
            </a:br>
            <a:r>
              <a:rPr lang="ru-RU" dirty="0"/>
              <a:t>(Standards </a:t>
            </a:r>
            <a:r>
              <a:rPr lang="ru-RU" dirty="0" err="1"/>
              <a:t>in</a:t>
            </a:r>
            <a:r>
              <a:rPr lang="ru-RU" dirty="0"/>
              <a:t> </a:t>
            </a:r>
            <a:r>
              <a:rPr lang="ru-RU" dirty="0" err="1"/>
              <a:t>Constructing</a:t>
            </a:r>
            <a:r>
              <a:rPr lang="ru-RU" dirty="0"/>
              <a:t>)</a:t>
            </a:r>
          </a:p>
        </p:txBody>
      </p:sp>
      <p:sp>
        <p:nvSpPr>
          <p:cNvPr id="3" name="Объект 2">
            <a:extLst>
              <a:ext uri="{FF2B5EF4-FFF2-40B4-BE49-F238E27FC236}">
                <a16:creationId xmlns:a16="http://schemas.microsoft.com/office/drawing/2014/main" id="{C4C7E1CA-9AB1-4198-8015-5F73ADAC6AC1}"/>
              </a:ext>
            </a:extLst>
          </p:cNvPr>
          <p:cNvSpPr>
            <a:spLocks noGrp="1"/>
          </p:cNvSpPr>
          <p:nvPr>
            <p:ph idx="1"/>
          </p:nvPr>
        </p:nvSpPr>
        <p:spPr>
          <a:xfrm>
            <a:off x="1044261" y="1253331"/>
            <a:ext cx="10855817" cy="5512594"/>
          </a:xfrm>
        </p:spPr>
        <p:txBody>
          <a:bodyPr>
            <a:normAutofit fontScale="92500" lnSpcReduction="10000"/>
          </a:bodyPr>
          <a:lstStyle/>
          <a:p>
            <a:r>
              <a:rPr lang="ru-RU" sz="1600" dirty="0"/>
              <a:t>Стандарты, которые напрямую применяются при конструировании, включают:</a:t>
            </a:r>
          </a:p>
          <a:p>
            <a:r>
              <a:rPr lang="ru-RU" sz="1600" dirty="0"/>
              <a:t>•	коммуникационные методы (например, стандарты форматов документов и &lt;оформления&gt; содержания);</a:t>
            </a:r>
          </a:p>
          <a:p>
            <a:r>
              <a:rPr lang="ru-RU" sz="1600" dirty="0"/>
              <a:t>•	языки программирования и соответствующие стили кодирования (например, Java Language </a:t>
            </a:r>
            <a:r>
              <a:rPr lang="ru-RU" sz="1600" dirty="0" err="1"/>
              <a:t>Specification</a:t>
            </a:r>
            <a:r>
              <a:rPr lang="ru-RU" sz="1600" dirty="0"/>
              <a:t>, являющийся частью стандартной документации JDK – Java Development Kit и Java Style Guide, предлагающий общий стиль кодирования для языка программирования Java);</a:t>
            </a:r>
          </a:p>
          <a:p>
            <a:r>
              <a:rPr lang="ru-RU" sz="1600" dirty="0"/>
              <a:t>•	платформы (например, стандарты программных интерфейсов для вызовов функций операционной среды, такие как прикладные программные интерфейсы платформы Windows - Win32 API, Application </a:t>
            </a:r>
            <a:r>
              <a:rPr lang="ru-RU" sz="1600" dirty="0" err="1"/>
              <a:t>Programming</a:t>
            </a:r>
            <a:r>
              <a:rPr lang="ru-RU" sz="1600" dirty="0"/>
              <a:t> Interface или .NET Framework SDK, Software Development Kit);</a:t>
            </a:r>
          </a:p>
          <a:p>
            <a:r>
              <a:rPr lang="ru-RU" sz="1600" dirty="0"/>
              <a:t>•	инструменты (не в терминах сред разработки, но возможных средств конструирования – например, UML как один из стандартов для определения нотаций для диаграмм, представляющих структура кода и его элементов или некоторых аспектов поведения кода).</a:t>
            </a:r>
          </a:p>
          <a:p>
            <a:r>
              <a:rPr lang="ru-RU" sz="1600" b="1" dirty="0"/>
              <a:t>Использование внешних стандартов. </a:t>
            </a:r>
            <a:r>
              <a:rPr lang="ru-RU" sz="1600" dirty="0"/>
              <a:t>Конструирование зависит от внешних стандартов, связанных с языками программирования, используемым инструментальным обеспечением, техническими интерфейсами и взаимным влиянием Конструирования программного обеспечения и других областей знаний программной инженерии (в том числе, связанных дисциплин, например, управления проектами). Стандарты создаются разными источниками, например, консорциумом OMG – Object Management Group (в частности. Стандарты CORBA, UML, MDA, …), международными организациями по стандартизации такими, как ISO/IEC, IEEE, TMF, …, производителями платформ, операционных сред и т.д. (например, Microsoft, Sun Microsystems, CISCO, NOKIA, …), производителями инструментов, систем управления базами данных </a:t>
            </a:r>
            <a:r>
              <a:rPr lang="ru-RU" sz="1600" dirty="0" err="1"/>
              <a:t>ит.п</a:t>
            </a:r>
            <a:r>
              <a:rPr lang="ru-RU" sz="1600" dirty="0"/>
              <a:t>. (</a:t>
            </a:r>
            <a:r>
              <a:rPr lang="ru-RU" sz="1600" dirty="0" err="1"/>
              <a:t>Borland</a:t>
            </a:r>
            <a:r>
              <a:rPr lang="ru-RU" sz="1600" dirty="0"/>
              <a:t>, IBM, Microsoft, Sun, Oracle, ...). Понимание этого факта позволяет определить достаточный и полный набор стандартов, применяемых в проектной команде или организации в целом.</a:t>
            </a:r>
          </a:p>
          <a:p>
            <a:r>
              <a:rPr lang="ru-RU" sz="1600" b="1" dirty="0"/>
              <a:t>Использование внутренних стандартов. </a:t>
            </a:r>
            <a:r>
              <a:rPr lang="ru-RU" sz="1600" dirty="0"/>
              <a:t>Определенные стандарты, соглашения и процедуры могут быть также созданы внутри организации или даже проектной команды. Эти стандарты поддерживают координацию между определенными видами деятельности, группами операций, минимизируют сложность (в том числе при взаимодействии членов проектной группы и за ее пределами), могут быть связаны с вопросами ожидания и обработки изменений, рисков и вопросами конструирования для проверки и дальнейшего тестирования. В сочетании со внешними стандартами, внутренние стандарты призваны определить общие правила игры для всех членов проектной команды, договорившись о терминах, процедурах и других значимых соглашениях, вне зависимости от степени формализации процессов конструирования, в частности, и процессов жизненного цикла, в общем случае.</a:t>
            </a:r>
          </a:p>
        </p:txBody>
      </p:sp>
      <p:sp>
        <p:nvSpPr>
          <p:cNvPr id="4" name="Нижний колонтитул 3">
            <a:extLst>
              <a:ext uri="{FF2B5EF4-FFF2-40B4-BE49-F238E27FC236}">
                <a16:creationId xmlns:a16="http://schemas.microsoft.com/office/drawing/2014/main" id="{A001C4C7-31CA-4089-8ECB-79397D8BF23A}"/>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678BC78-D375-4B45-9962-DC12E3AEE529}"/>
              </a:ext>
            </a:extLst>
          </p:cNvPr>
          <p:cNvSpPr>
            <a:spLocks noGrp="1"/>
          </p:cNvSpPr>
          <p:nvPr>
            <p:ph type="sldNum" sz="quarter" idx="12"/>
          </p:nvPr>
        </p:nvSpPr>
        <p:spPr/>
        <p:txBody>
          <a:bodyPr/>
          <a:lstStyle/>
          <a:p>
            <a:fld id="{DFA5D71E-5CDF-4C93-8A75-5B916FDC5BEA}" type="slidenum">
              <a:rPr lang="en-US" smtClean="0"/>
              <a:pPr/>
              <a:t>10</a:t>
            </a:fld>
            <a:endParaRPr lang="en-US" dirty="0"/>
          </a:p>
        </p:txBody>
      </p:sp>
    </p:spTree>
    <p:extLst>
      <p:ext uri="{BB962C8B-B14F-4D97-AF65-F5344CB8AC3E}">
        <p14:creationId xmlns:p14="http://schemas.microsoft.com/office/powerpoint/2010/main" val="2755608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C9CB3F-A86A-415A-B38A-D6B51FB19720}"/>
              </a:ext>
            </a:extLst>
          </p:cNvPr>
          <p:cNvSpPr>
            <a:spLocks noGrp="1"/>
          </p:cNvSpPr>
          <p:nvPr>
            <p:ph type="title"/>
          </p:nvPr>
        </p:nvSpPr>
        <p:spPr/>
        <p:txBody>
          <a:bodyPr/>
          <a:lstStyle/>
          <a:p>
            <a:r>
              <a:rPr lang="ru-RU" dirty="0"/>
              <a:t>Управление конструированием (</a:t>
            </a:r>
            <a:r>
              <a:rPr lang="en-GB" dirty="0"/>
              <a:t>Managing Construction)</a:t>
            </a:r>
            <a:endParaRPr lang="ru-RU" dirty="0"/>
          </a:p>
        </p:txBody>
      </p:sp>
      <p:sp>
        <p:nvSpPr>
          <p:cNvPr id="3" name="Объект 2">
            <a:extLst>
              <a:ext uri="{FF2B5EF4-FFF2-40B4-BE49-F238E27FC236}">
                <a16:creationId xmlns:a16="http://schemas.microsoft.com/office/drawing/2014/main" id="{2EDA6E9B-59EA-4255-B65F-213C007933C5}"/>
              </a:ext>
            </a:extLst>
          </p:cNvPr>
          <p:cNvSpPr>
            <a:spLocks noGrp="1"/>
          </p:cNvSpPr>
          <p:nvPr>
            <p:ph idx="1"/>
          </p:nvPr>
        </p:nvSpPr>
        <p:spPr/>
        <p:txBody>
          <a:bodyPr/>
          <a:lstStyle/>
          <a:p>
            <a:r>
              <a:rPr lang="ru-RU" dirty="0"/>
              <a:t>Модели конструирования (</a:t>
            </a:r>
            <a:r>
              <a:rPr lang="en-GB" dirty="0"/>
              <a:t>Construction Models)</a:t>
            </a:r>
            <a:endParaRPr lang="ru-RU" dirty="0"/>
          </a:p>
          <a:p>
            <a:r>
              <a:rPr lang="ru-RU" dirty="0"/>
              <a:t>Планирование конструирования (Construction Planning)</a:t>
            </a:r>
          </a:p>
          <a:p>
            <a:r>
              <a:rPr lang="ru-RU" dirty="0"/>
              <a:t>Измерения в конструировании (Construction </a:t>
            </a:r>
            <a:r>
              <a:rPr lang="ru-RU" dirty="0" err="1"/>
              <a:t>Measurement</a:t>
            </a:r>
            <a:r>
              <a:rPr lang="ru-RU" dirty="0"/>
              <a:t>)</a:t>
            </a:r>
          </a:p>
        </p:txBody>
      </p:sp>
      <p:sp>
        <p:nvSpPr>
          <p:cNvPr id="4" name="Нижний колонтитул 3">
            <a:extLst>
              <a:ext uri="{FF2B5EF4-FFF2-40B4-BE49-F238E27FC236}">
                <a16:creationId xmlns:a16="http://schemas.microsoft.com/office/drawing/2014/main" id="{9F2FE39D-822E-494D-AE93-DAC581079FFC}"/>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00306A8D-8EE8-44BE-B812-60B61CDB7B68}"/>
              </a:ext>
            </a:extLst>
          </p:cNvPr>
          <p:cNvSpPr>
            <a:spLocks noGrp="1"/>
          </p:cNvSpPr>
          <p:nvPr>
            <p:ph type="sldNum" sz="quarter" idx="12"/>
          </p:nvPr>
        </p:nvSpPr>
        <p:spPr/>
        <p:txBody>
          <a:bodyPr/>
          <a:lstStyle/>
          <a:p>
            <a:fld id="{DFA5D71E-5CDF-4C93-8A75-5B916FDC5BEA}" type="slidenum">
              <a:rPr lang="en-US" smtClean="0"/>
              <a:pPr/>
              <a:t>11</a:t>
            </a:fld>
            <a:endParaRPr lang="en-US" dirty="0"/>
          </a:p>
        </p:txBody>
      </p:sp>
    </p:spTree>
    <p:extLst>
      <p:ext uri="{BB962C8B-B14F-4D97-AF65-F5344CB8AC3E}">
        <p14:creationId xmlns:p14="http://schemas.microsoft.com/office/powerpoint/2010/main" val="626555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69EC5A-BB45-4986-931C-254C549E4FDD}"/>
              </a:ext>
            </a:extLst>
          </p:cNvPr>
          <p:cNvSpPr>
            <a:spLocks noGrp="1"/>
          </p:cNvSpPr>
          <p:nvPr>
            <p:ph type="title"/>
          </p:nvPr>
        </p:nvSpPr>
        <p:spPr>
          <a:xfrm>
            <a:off x="838200" y="92075"/>
            <a:ext cx="11216425" cy="936313"/>
          </a:xfrm>
        </p:spPr>
        <p:txBody>
          <a:bodyPr>
            <a:normAutofit/>
          </a:bodyPr>
          <a:lstStyle/>
          <a:p>
            <a:r>
              <a:rPr lang="ru-RU" dirty="0"/>
              <a:t>Модели конструирования (Construction </a:t>
            </a:r>
            <a:r>
              <a:rPr lang="ru-RU" dirty="0" err="1"/>
              <a:t>Models</a:t>
            </a:r>
            <a:r>
              <a:rPr lang="ru-RU" dirty="0"/>
              <a:t>)</a:t>
            </a:r>
          </a:p>
        </p:txBody>
      </p:sp>
      <p:sp>
        <p:nvSpPr>
          <p:cNvPr id="3" name="Объект 2">
            <a:extLst>
              <a:ext uri="{FF2B5EF4-FFF2-40B4-BE49-F238E27FC236}">
                <a16:creationId xmlns:a16="http://schemas.microsoft.com/office/drawing/2014/main" id="{21C67EAE-9E93-434C-9D22-5F701FF38904}"/>
              </a:ext>
            </a:extLst>
          </p:cNvPr>
          <p:cNvSpPr>
            <a:spLocks noGrp="1"/>
          </p:cNvSpPr>
          <p:nvPr>
            <p:ph idx="1"/>
          </p:nvPr>
        </p:nvSpPr>
        <p:spPr>
          <a:xfrm>
            <a:off x="975575" y="1120463"/>
            <a:ext cx="11216425" cy="5737537"/>
          </a:xfrm>
        </p:spPr>
        <p:txBody>
          <a:bodyPr>
            <a:normAutofit/>
          </a:bodyPr>
          <a:lstStyle/>
          <a:p>
            <a:r>
              <a:rPr lang="ru-RU" dirty="0"/>
              <a:t>Модели конструирования определяют комплекс операций, включающих последовательность, результаты (например, исходный код и соответствующие </a:t>
            </a:r>
            <a:r>
              <a:rPr lang="ru-RU" dirty="0" err="1"/>
              <a:t>unit</a:t>
            </a:r>
            <a:r>
              <a:rPr lang="ru-RU" dirty="0"/>
              <a:t>-тесты) и другие аспекты, связанные с общим жизненным циклом разработки. В большинстве случаев, модели конструирования определяются используемым стандартом жизненного цикла, применяемыми методологиями и практиками. Некоторые стандарты жизненного цикла, по своей природе, являются ориентированными на конструирование – например, экстремальное программирование (XP- </a:t>
            </a:r>
            <a:r>
              <a:rPr lang="ru-RU" dirty="0" err="1"/>
              <a:t>eXtreme</a:t>
            </a:r>
            <a:r>
              <a:rPr lang="ru-RU" dirty="0"/>
              <a:t> </a:t>
            </a:r>
            <a:r>
              <a:rPr lang="ru-RU" dirty="0" err="1"/>
              <a:t>Programming</a:t>
            </a:r>
            <a:r>
              <a:rPr lang="ru-RU" dirty="0"/>
              <a:t>). Некоторые рассматривают конструирование в неразрывной связи с проектированием (в части моделирования), например, RUP (</a:t>
            </a:r>
            <a:r>
              <a:rPr lang="ru-RU" dirty="0" err="1"/>
              <a:t>Rational</a:t>
            </a:r>
            <a:r>
              <a:rPr lang="ru-RU" dirty="0"/>
              <a:t> Unified Process).</a:t>
            </a:r>
          </a:p>
          <a:p>
            <a:r>
              <a:rPr lang="ru-RU" dirty="0"/>
              <a:t>Создано множество моделей разработки программного обеспечения. Ряд из них в большей степени сфокусирован на конструировании программного обеспечения, как таковом.</a:t>
            </a:r>
          </a:p>
          <a:p>
            <a:endParaRPr lang="ru-RU" dirty="0"/>
          </a:p>
        </p:txBody>
      </p:sp>
      <p:sp>
        <p:nvSpPr>
          <p:cNvPr id="4" name="Нижний колонтитул 3">
            <a:extLst>
              <a:ext uri="{FF2B5EF4-FFF2-40B4-BE49-F238E27FC236}">
                <a16:creationId xmlns:a16="http://schemas.microsoft.com/office/drawing/2014/main" id="{C99170E8-1196-489D-8064-C8B2526EE903}"/>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43FD0D08-7394-4639-8E9D-48F24504D2F7}"/>
              </a:ext>
            </a:extLst>
          </p:cNvPr>
          <p:cNvSpPr>
            <a:spLocks noGrp="1"/>
          </p:cNvSpPr>
          <p:nvPr>
            <p:ph type="sldNum" sz="quarter" idx="12"/>
          </p:nvPr>
        </p:nvSpPr>
        <p:spPr/>
        <p:txBody>
          <a:bodyPr/>
          <a:lstStyle/>
          <a:p>
            <a:fld id="{DFA5D71E-5CDF-4C93-8A75-5B916FDC5BEA}" type="slidenum">
              <a:rPr lang="en-US" smtClean="0"/>
              <a:pPr/>
              <a:t>12</a:t>
            </a:fld>
            <a:endParaRPr lang="en-US" dirty="0"/>
          </a:p>
        </p:txBody>
      </p:sp>
    </p:spTree>
    <p:extLst>
      <p:ext uri="{BB962C8B-B14F-4D97-AF65-F5344CB8AC3E}">
        <p14:creationId xmlns:p14="http://schemas.microsoft.com/office/powerpoint/2010/main" val="2831105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0DC056-2B13-4B2F-A1EB-D691FEEEA97A}"/>
              </a:ext>
            </a:extLst>
          </p:cNvPr>
          <p:cNvSpPr>
            <a:spLocks noGrp="1"/>
          </p:cNvSpPr>
          <p:nvPr>
            <p:ph type="title"/>
          </p:nvPr>
        </p:nvSpPr>
        <p:spPr/>
        <p:txBody>
          <a:bodyPr>
            <a:normAutofit fontScale="90000"/>
          </a:bodyPr>
          <a:lstStyle/>
          <a:p>
            <a:r>
              <a:rPr lang="ru-RU" dirty="0"/>
              <a:t>Планирование конструирования (</a:t>
            </a:r>
            <a:r>
              <a:rPr lang="en-GB" dirty="0"/>
              <a:t>Construction Planning)</a:t>
            </a:r>
            <a:br>
              <a:rPr lang="en-GB" dirty="0"/>
            </a:br>
            <a:endParaRPr lang="ru-RU" dirty="0"/>
          </a:p>
        </p:txBody>
      </p:sp>
      <p:sp>
        <p:nvSpPr>
          <p:cNvPr id="3" name="Объект 2">
            <a:extLst>
              <a:ext uri="{FF2B5EF4-FFF2-40B4-BE49-F238E27FC236}">
                <a16:creationId xmlns:a16="http://schemas.microsoft.com/office/drawing/2014/main" id="{4CB7C9E2-35D6-4198-ADC5-377510490C68}"/>
              </a:ext>
            </a:extLst>
          </p:cNvPr>
          <p:cNvSpPr>
            <a:spLocks noGrp="1"/>
          </p:cNvSpPr>
          <p:nvPr>
            <p:ph idx="1"/>
          </p:nvPr>
        </p:nvSpPr>
        <p:spPr>
          <a:xfrm>
            <a:off x="838199" y="1825625"/>
            <a:ext cx="11152031" cy="4351338"/>
          </a:xfrm>
        </p:spPr>
        <p:txBody>
          <a:bodyPr>
            <a:normAutofit fontScale="62500" lnSpcReduction="20000"/>
          </a:bodyPr>
          <a:lstStyle/>
          <a:p>
            <a:r>
              <a:rPr lang="ru-RU" dirty="0"/>
              <a:t>Выбор метода (методологии) конструирования является ключевым аспектом для планирования конструкторской деятельности. Такой выбор значим для всей конструкторской деятельности, а также необходимых условий её осуществления, определяя порядок соответствующих операций и уровень выполнения заданных условий перед тем как начнется конструирование или составляющие его действия. Например, модульное тестирование в ряде методов является частью работ, после написания соответствующего функционального кода, в то время, как ряд гибких (</a:t>
            </a:r>
            <a:r>
              <a:rPr lang="ru-RU" dirty="0" err="1"/>
              <a:t>agile</a:t>
            </a:r>
            <a:r>
              <a:rPr lang="ru-RU" dirty="0"/>
              <a:t>) практик, например, XP (кстати, первыми начавшие использовать такие методы верификации кода), требуют написания Unit-тестов до того, как пишется соответствующий код, требующий тестирования.</a:t>
            </a:r>
          </a:p>
          <a:p>
            <a:r>
              <a:rPr lang="ru-RU" dirty="0"/>
              <a:t>Используемый подход к конструированию влияет на возможность уменьшения (в идеале - минимизации) сложности, готовности к изменениям и конструировании с возможностью проверки.</a:t>
            </a:r>
          </a:p>
          <a:p>
            <a:r>
              <a:rPr lang="ru-RU" dirty="0"/>
              <a:t>Планирование конструкторской деятельности определяет порядок, в котором создаются компоненты и другие активы данной области знаний (фазы деятельности), проводятся работы по обеспечению качества получаемого программного обеспечения, распределяются* задачи и соответствующие ресурсы, в том числе, определяются назначения/отображения работ конкретным инженерам-программистам, членам проектной группы. Все это, конечно, происходит, следуя правилам, определяемым используемым методом (методологией, практиками и т.п.).</a:t>
            </a:r>
          </a:p>
          <a:p>
            <a:r>
              <a:rPr lang="ru-RU" dirty="0"/>
              <a:t>*Заметьте – не распределяют, а распределяются, подразумевая процесс, приводящий к обеспечению явной связи между задачей и ресурсами. В нечетко регламентированных (это ни в коем случае не ругательство, это определение – ведь существует же понятие нечёткая логика, неструктурированные базы данных, например, в отношении </a:t>
            </a:r>
            <a:r>
              <a:rPr lang="ru-RU" dirty="0" err="1"/>
              <a:t>нереляционных</a:t>
            </a:r>
            <a:r>
              <a:rPr lang="ru-RU" dirty="0"/>
              <a:t> систем и т.п.) и неформальных методах, таких, как XP, члены проектной группы сами принимают на себя ответственность по решению определенных задач, а “владение” кодом является совместным на основе сотрудничества, как одного из ключевых принципов работы проектной команды.</a:t>
            </a:r>
          </a:p>
          <a:p>
            <a:endParaRPr lang="ru-RU" dirty="0"/>
          </a:p>
        </p:txBody>
      </p:sp>
      <p:sp>
        <p:nvSpPr>
          <p:cNvPr id="4" name="Нижний колонтитул 3">
            <a:extLst>
              <a:ext uri="{FF2B5EF4-FFF2-40B4-BE49-F238E27FC236}">
                <a16:creationId xmlns:a16="http://schemas.microsoft.com/office/drawing/2014/main" id="{DE4863AD-0E24-45A6-9C31-F3176A4537D9}"/>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7B121A63-7D4F-4094-95B3-5BA5CE39FECB}"/>
              </a:ext>
            </a:extLst>
          </p:cNvPr>
          <p:cNvSpPr>
            <a:spLocks noGrp="1"/>
          </p:cNvSpPr>
          <p:nvPr>
            <p:ph type="sldNum" sz="quarter" idx="12"/>
          </p:nvPr>
        </p:nvSpPr>
        <p:spPr/>
        <p:txBody>
          <a:bodyPr/>
          <a:lstStyle/>
          <a:p>
            <a:fld id="{DFA5D71E-5CDF-4C93-8A75-5B916FDC5BEA}" type="slidenum">
              <a:rPr lang="en-US" smtClean="0"/>
              <a:pPr/>
              <a:t>13</a:t>
            </a:fld>
            <a:endParaRPr lang="en-US" dirty="0"/>
          </a:p>
        </p:txBody>
      </p:sp>
    </p:spTree>
    <p:extLst>
      <p:ext uri="{BB962C8B-B14F-4D97-AF65-F5344CB8AC3E}">
        <p14:creationId xmlns:p14="http://schemas.microsoft.com/office/powerpoint/2010/main" val="4110820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3634DA-AD12-4CBD-9868-42309630E28A}"/>
              </a:ext>
            </a:extLst>
          </p:cNvPr>
          <p:cNvSpPr>
            <a:spLocks noGrp="1"/>
          </p:cNvSpPr>
          <p:nvPr>
            <p:ph type="title"/>
          </p:nvPr>
        </p:nvSpPr>
        <p:spPr>
          <a:xfrm>
            <a:off x="838199" y="1"/>
            <a:ext cx="11216425" cy="1068945"/>
          </a:xfrm>
        </p:spPr>
        <p:txBody>
          <a:bodyPr>
            <a:normAutofit fontScale="90000"/>
          </a:bodyPr>
          <a:lstStyle/>
          <a:p>
            <a:r>
              <a:rPr lang="ru-RU" dirty="0"/>
              <a:t>Измерения в конструировании </a:t>
            </a:r>
            <a:br>
              <a:rPr lang="ru-RU" dirty="0"/>
            </a:br>
            <a:r>
              <a:rPr lang="ru-RU" dirty="0"/>
              <a:t>(Construction </a:t>
            </a:r>
            <a:r>
              <a:rPr lang="ru-RU" dirty="0" err="1"/>
              <a:t>Measurement</a:t>
            </a:r>
            <a:r>
              <a:rPr lang="ru-RU" dirty="0"/>
              <a:t>)</a:t>
            </a:r>
          </a:p>
        </p:txBody>
      </p:sp>
      <p:sp>
        <p:nvSpPr>
          <p:cNvPr id="3" name="Объект 2">
            <a:extLst>
              <a:ext uri="{FF2B5EF4-FFF2-40B4-BE49-F238E27FC236}">
                <a16:creationId xmlns:a16="http://schemas.microsoft.com/office/drawing/2014/main" id="{45116626-6D33-40D1-9760-68249EB6E820}"/>
              </a:ext>
            </a:extLst>
          </p:cNvPr>
          <p:cNvSpPr>
            <a:spLocks noGrp="1"/>
          </p:cNvSpPr>
          <p:nvPr>
            <p:ph idx="1"/>
          </p:nvPr>
        </p:nvSpPr>
        <p:spPr>
          <a:xfrm>
            <a:off x="838200" y="1068946"/>
            <a:ext cx="11216424" cy="5789053"/>
          </a:xfrm>
        </p:spPr>
        <p:txBody>
          <a:bodyPr>
            <a:normAutofit fontScale="92500"/>
          </a:bodyPr>
          <a:lstStyle/>
          <a:p>
            <a:r>
              <a:rPr lang="ru-RU" sz="1400" dirty="0"/>
              <a:t>Большая часть результатов, да и самой деятельности по конструированию программного обеспечения, может быть измерена, в том числе - количественно. Это и исходный разработанный код, и модифицированный объем кода, и степень повторного использования, и многие другие характеристики. Эти измерения, или как их еще принято называть – результаты аудита кода и метрики кода, несут большую пользу как для оценки рисков и качества (приводящих к соответствующим операциям по снижению рисков и повышению качества), а также, для управления конструированием и программными проектами, в целом. О каком планировании может идти речь, если мы не способны предсказать (например, на основе оценки результатов предыдущих проектов) ни длительность работ, ни стоимость отдельных задач, ни вероятность возникновения дефектов против заданных параметров приемлемого качества?</a:t>
            </a:r>
          </a:p>
          <a:p>
            <a:r>
              <a:rPr lang="ru-RU" sz="1400" dirty="0"/>
              <a:t>Код является одним из наиболее четко детерминированных активов проекта (постепенно такими становятся и модели, строящиеся на основе структур метаданных, и тесно связанные с кодом - например, UML). Код является и самим носителям требуемой функциональности. Соответственно, применение измерений в отношении кода становится тем инструментом, который влияет и на управление и на сам код.</a:t>
            </a:r>
          </a:p>
          <a:p>
            <a:r>
              <a:rPr lang="ru-RU" sz="1400" dirty="0"/>
              <a:t>Последнее время, большое внимание многие профессиональные разработчики, то есть инженеры-конструкторы программного обеспечения, уделяют рефакторинг кода, как методы его реструктурирования, призванные без изменения содержания (то есть функциональности и функциональной целостности) обеспечить решение задач минимизации сложности, готовности к изменениям (гибкости), прозрачности документирования и многих других актуальных аспектов конструирования. Но, к сожалению, многие забывают о необходимости мотивированности изменений, даже на уровне рефакторинга. Применение измерений, в частности, метрик, позволяет определить необходимость внесения таких изменений, проведения рефакторинга. И не потому что “так, наверное, будет всё же лучше, </a:t>
            </a:r>
            <a:r>
              <a:rPr lang="ru-RU" sz="1400" dirty="0" err="1"/>
              <a:t>красивше</a:t>
            </a:r>
            <a:r>
              <a:rPr lang="ru-RU" sz="1400" dirty="0"/>
              <a:t>...”, а потому, что в иерархии наследования из 10 поколений классов – 9 являются абстрактными (“из любви к искусству”), а на 10-м (в силу превышений сроков проекта, после того, как долго и “в кайф” создавали архитектурно-красивый код) “повешено” 20 (!) бизнес-методов. Вот это – действительно обоснованная причина для рефакторинга, который, даже с применением самых совершенных инструментальных средств, вместе с обдумыванием необходимости рефакторинга, а потом, иногда, и борьбой с его последствиями из-за несогласованности членов команды (а это уже жизнь, даже в самом идеальном коллективе, где люди понимают друг друга с полуслова) часто является просто тратой времени. Если применяется рефакторинг, но не применяются метрики – в подавляющем большинстве случаев, это отрицательно влияет на проект. И таких примеров работ, требующих применения измерений, но, к несчастью, игнорирующих их, можно приводить достаточно долго. Вы, наверняка, сами можете рассказать на эту тему много примеров из жизни.</a:t>
            </a:r>
          </a:p>
          <a:p>
            <a:r>
              <a:rPr lang="ru-RU" sz="1400" dirty="0"/>
              <a:t>Почему “авторизованный перевод” этой темы SWEBOK оказался столь эмоционален? Практика автора показывает, что в погоне за “красотой”, разработчики слишком часто забывают о цели их работы и воспринимают деятельность по управлению проектами (не буду спорить, иногда лишь формальную, для “прикрытия” всего, что только можно …) со стороны менеджеров и, тем более, любой аудит – как однозначную помеху “полёту мысли”. Зря. Если все именно так обстоит в вашем случае – проект, с большой вероятностью, а иногда и просто, “если не случится чудо”, можно считать пусть и не провальным (“</a:t>
            </a:r>
            <a:r>
              <a:rPr lang="ru-RU" sz="1400" dirty="0" err="1"/>
              <a:t>фуух</a:t>
            </a:r>
            <a:r>
              <a:rPr lang="ru-RU" sz="1400" dirty="0"/>
              <a:t>... не закрыли....”), то, наверняка, </a:t>
            </a:r>
            <a:r>
              <a:rPr lang="ru-RU" sz="1400" dirty="0" err="1"/>
              <a:t>выйдущим</a:t>
            </a:r>
            <a:r>
              <a:rPr lang="ru-RU" sz="1400" dirty="0"/>
              <a:t> за рамки тех или иных ограничений, будь то сроки, деньги, качество или, наконец, время, которое разработчик мог провести с семьей. И не сидеть ночью, дописывая функциональность или отлавливая очередную ошибку за несколько дней до передачи проекта в эксплуатацию. Все эти вопросы преследуют одну единственную цель – предсказуемость работ и результата. И измерения – важный инструмент достижения этой цели.</a:t>
            </a:r>
          </a:p>
          <a:p>
            <a:r>
              <a:rPr lang="ru-RU" sz="1400" dirty="0"/>
              <a:t>Область знаний “Software Engineering Process” уделяет специальное внимание вопросам измерений при создании программного обеспечения.</a:t>
            </a:r>
          </a:p>
          <a:p>
            <a:endParaRPr lang="ru-RU" sz="1400" dirty="0"/>
          </a:p>
        </p:txBody>
      </p:sp>
      <p:sp>
        <p:nvSpPr>
          <p:cNvPr id="4" name="Нижний колонтитул 3">
            <a:extLst>
              <a:ext uri="{FF2B5EF4-FFF2-40B4-BE49-F238E27FC236}">
                <a16:creationId xmlns:a16="http://schemas.microsoft.com/office/drawing/2014/main" id="{CCACDF9A-6176-4F64-A2C2-A91C84E72E42}"/>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C93FE00A-B62E-4146-9092-7208CDEB0C16}"/>
              </a:ext>
            </a:extLst>
          </p:cNvPr>
          <p:cNvSpPr>
            <a:spLocks noGrp="1"/>
          </p:cNvSpPr>
          <p:nvPr>
            <p:ph type="sldNum" sz="quarter" idx="12"/>
          </p:nvPr>
        </p:nvSpPr>
        <p:spPr/>
        <p:txBody>
          <a:bodyPr/>
          <a:lstStyle/>
          <a:p>
            <a:fld id="{DFA5D71E-5CDF-4C93-8A75-5B916FDC5BEA}" type="slidenum">
              <a:rPr lang="en-US" smtClean="0"/>
              <a:pPr/>
              <a:t>14</a:t>
            </a:fld>
            <a:endParaRPr lang="en-US" dirty="0"/>
          </a:p>
        </p:txBody>
      </p:sp>
    </p:spTree>
    <p:extLst>
      <p:ext uri="{BB962C8B-B14F-4D97-AF65-F5344CB8AC3E}">
        <p14:creationId xmlns:p14="http://schemas.microsoft.com/office/powerpoint/2010/main" val="393658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9F78FB-A6ED-4632-9D9B-E707F8A8C00A}"/>
              </a:ext>
            </a:extLst>
          </p:cNvPr>
          <p:cNvSpPr>
            <a:spLocks noGrp="1"/>
          </p:cNvSpPr>
          <p:nvPr>
            <p:ph type="title"/>
          </p:nvPr>
        </p:nvSpPr>
        <p:spPr>
          <a:xfrm>
            <a:off x="838200" y="92075"/>
            <a:ext cx="10515600" cy="1325563"/>
          </a:xfrm>
        </p:spPr>
        <p:txBody>
          <a:bodyPr/>
          <a:lstStyle/>
          <a:p>
            <a:r>
              <a:rPr lang="ru-RU" dirty="0"/>
              <a:t>Практические соображения (</a:t>
            </a:r>
            <a:r>
              <a:rPr lang="en-GB" dirty="0"/>
              <a:t>Practical Considerations)</a:t>
            </a:r>
            <a:endParaRPr lang="ru-RU" dirty="0"/>
          </a:p>
        </p:txBody>
      </p:sp>
      <p:sp>
        <p:nvSpPr>
          <p:cNvPr id="3" name="Объект 2">
            <a:extLst>
              <a:ext uri="{FF2B5EF4-FFF2-40B4-BE49-F238E27FC236}">
                <a16:creationId xmlns:a16="http://schemas.microsoft.com/office/drawing/2014/main" id="{43777B27-1295-452D-9542-4A306E64318B}"/>
              </a:ext>
            </a:extLst>
          </p:cNvPr>
          <p:cNvSpPr>
            <a:spLocks noGrp="1"/>
          </p:cNvSpPr>
          <p:nvPr>
            <p:ph idx="1"/>
          </p:nvPr>
        </p:nvSpPr>
        <p:spPr>
          <a:xfrm>
            <a:off x="838199" y="3000777"/>
            <a:ext cx="11023243" cy="3232598"/>
          </a:xfrm>
        </p:spPr>
        <p:txBody>
          <a:bodyPr/>
          <a:lstStyle/>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Проектирование в конструировании (Construction Design)</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Языки конструирования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Construction Languages</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Кодирование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Coding</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Тестирование в конструировании (Construction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Testing</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Повторное использование (</a:t>
            </a:r>
            <a:r>
              <a:rPr lang="ru-RU" sz="1800" b="1" dirty="0" err="1">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Reuse</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Качество конструирования (Construction Quality)</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Интеграция (</a:t>
            </a:r>
            <a:r>
              <a:rPr lang="en-US"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Integration</a:t>
            </a:r>
            <a:r>
              <a:rPr lang="ru-RU" sz="1800" b="1" dirty="0">
                <a:solidFill>
                  <a:srgbClr val="7A5ADA"/>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Нижний колонтитул 3">
            <a:extLst>
              <a:ext uri="{FF2B5EF4-FFF2-40B4-BE49-F238E27FC236}">
                <a16:creationId xmlns:a16="http://schemas.microsoft.com/office/drawing/2014/main" id="{3319BF08-1A45-4D8A-BA82-93C363ED071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18F5DAD-CAB6-4E46-B5F3-FB6B24D6C491}"/>
              </a:ext>
            </a:extLst>
          </p:cNvPr>
          <p:cNvSpPr>
            <a:spLocks noGrp="1"/>
          </p:cNvSpPr>
          <p:nvPr>
            <p:ph type="sldNum" sz="quarter" idx="12"/>
          </p:nvPr>
        </p:nvSpPr>
        <p:spPr/>
        <p:txBody>
          <a:bodyPr/>
          <a:lstStyle/>
          <a:p>
            <a:fld id="{DFA5D71E-5CDF-4C93-8A75-5B916FDC5BEA}" type="slidenum">
              <a:rPr lang="en-US" smtClean="0"/>
              <a:pPr/>
              <a:t>15</a:t>
            </a:fld>
            <a:endParaRPr lang="en-US" dirty="0"/>
          </a:p>
        </p:txBody>
      </p:sp>
      <p:sp>
        <p:nvSpPr>
          <p:cNvPr id="6" name="TextBox 5">
            <a:extLst>
              <a:ext uri="{FF2B5EF4-FFF2-40B4-BE49-F238E27FC236}">
                <a16:creationId xmlns:a16="http://schemas.microsoft.com/office/drawing/2014/main" id="{060BE80C-9FEE-46AB-948B-E6D2D9440502}"/>
              </a:ext>
            </a:extLst>
          </p:cNvPr>
          <p:cNvSpPr txBox="1"/>
          <p:nvPr/>
        </p:nvSpPr>
        <p:spPr>
          <a:xfrm>
            <a:off x="1001333" y="1417638"/>
            <a:ext cx="11190667" cy="1477328"/>
          </a:xfrm>
          <a:prstGeom prst="rect">
            <a:avLst/>
          </a:prstGeom>
          <a:noFill/>
        </p:spPr>
        <p:txBody>
          <a:bodyPr wrap="square" rtlCol="0">
            <a:spAutoFit/>
          </a:bodyPr>
          <a:lstStyle/>
          <a:p>
            <a:r>
              <a:rPr lang="ru-RU" dirty="0"/>
              <a:t>Конструирование – </a:t>
            </a:r>
            <a:r>
              <a:rPr lang="ru-RU" b="1" dirty="0"/>
              <a:t>деятельность</a:t>
            </a:r>
            <a:r>
              <a:rPr lang="ru-RU" dirty="0"/>
              <a:t>, в рамках которой программное обеспечение приводится к соглашению </a:t>
            </a:r>
            <a:r>
              <a:rPr lang="ru-RU" strike="sngStrike" dirty="0"/>
              <a:t>с произвольными (иногда - хаотическими) </a:t>
            </a:r>
            <a:r>
              <a:rPr lang="ru-RU" dirty="0"/>
              <a:t>ограничениями реального мира, которые требуют от программного обеспечения точного следования им. Приближаясь к ограничениям реального мира, конструирование (в большей степени, чем любая другая область знаний) ведется на основе практических соображений и техник.</a:t>
            </a:r>
          </a:p>
        </p:txBody>
      </p:sp>
    </p:spTree>
    <p:extLst>
      <p:ext uri="{BB962C8B-B14F-4D97-AF65-F5344CB8AC3E}">
        <p14:creationId xmlns:p14="http://schemas.microsoft.com/office/powerpoint/2010/main" val="3852078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F697BD-32DF-49AB-8B28-8BE9A073DC06}"/>
              </a:ext>
            </a:extLst>
          </p:cNvPr>
          <p:cNvSpPr>
            <a:spLocks noGrp="1"/>
          </p:cNvSpPr>
          <p:nvPr>
            <p:ph type="title"/>
          </p:nvPr>
        </p:nvSpPr>
        <p:spPr/>
        <p:txBody>
          <a:bodyPr>
            <a:normAutofit/>
          </a:bodyPr>
          <a:lstStyle/>
          <a:p>
            <a:r>
              <a:rPr lang="ru-RU" dirty="0"/>
              <a:t>Проектирование в конструировании (Construction Design)</a:t>
            </a:r>
          </a:p>
        </p:txBody>
      </p:sp>
      <p:sp>
        <p:nvSpPr>
          <p:cNvPr id="3" name="Объект 2">
            <a:extLst>
              <a:ext uri="{FF2B5EF4-FFF2-40B4-BE49-F238E27FC236}">
                <a16:creationId xmlns:a16="http://schemas.microsoft.com/office/drawing/2014/main" id="{4F90752B-8637-4CE9-BB42-02F6B96FFAA6}"/>
              </a:ext>
            </a:extLst>
          </p:cNvPr>
          <p:cNvSpPr>
            <a:spLocks noGrp="1"/>
          </p:cNvSpPr>
          <p:nvPr>
            <p:ph idx="1"/>
          </p:nvPr>
        </p:nvSpPr>
        <p:spPr/>
        <p:txBody>
          <a:bodyPr>
            <a:normAutofit fontScale="92500" lnSpcReduction="10000"/>
          </a:bodyPr>
          <a:lstStyle/>
          <a:p>
            <a:r>
              <a:rPr lang="ru-RU" dirty="0"/>
              <a:t>Некоторые проекты предполагают больший объем работ по проектированию именно на стадии конструирования; другие проекты явно выделяют проектную деятельность в форме фазы дизайна. Вне зависимости от четкости выделения деятельности по проектированию, как таковой, практически всегда на стадии конструирования приходится заниматься и вопросами детального дизайна системы. Такие проектные работы имеют стремление к следованию устойчивым ограничениям, навязываемым конкретными проблемами, решение которых должно быть обеспечено использованием конструируемой программной системы.</a:t>
            </a:r>
          </a:p>
          <a:p>
            <a:r>
              <a:rPr lang="ru-RU" dirty="0"/>
              <a:t>Детали деятельности по проектированию на стадии конструирования в основном те же самые, что и описанные в области знаний “Проектирование программного обеспечения” (Software Design). Отличие заключается в большем внимании деталям.</a:t>
            </a:r>
          </a:p>
          <a:p>
            <a:endParaRPr lang="ru-RU" dirty="0"/>
          </a:p>
        </p:txBody>
      </p:sp>
      <p:sp>
        <p:nvSpPr>
          <p:cNvPr id="4" name="Нижний колонтитул 3">
            <a:extLst>
              <a:ext uri="{FF2B5EF4-FFF2-40B4-BE49-F238E27FC236}">
                <a16:creationId xmlns:a16="http://schemas.microsoft.com/office/drawing/2014/main" id="{1B085650-4D77-4F4C-A527-1ACD1992496F}"/>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845C9D1A-DE84-41AE-A52E-B8C8780B60C2}"/>
              </a:ext>
            </a:extLst>
          </p:cNvPr>
          <p:cNvSpPr>
            <a:spLocks noGrp="1"/>
          </p:cNvSpPr>
          <p:nvPr>
            <p:ph type="sldNum" sz="quarter" idx="12"/>
          </p:nvPr>
        </p:nvSpPr>
        <p:spPr/>
        <p:txBody>
          <a:bodyPr/>
          <a:lstStyle/>
          <a:p>
            <a:fld id="{DFA5D71E-5CDF-4C93-8A75-5B916FDC5BEA}" type="slidenum">
              <a:rPr lang="en-US" smtClean="0"/>
              <a:pPr/>
              <a:t>16</a:t>
            </a:fld>
            <a:endParaRPr lang="en-US" dirty="0"/>
          </a:p>
        </p:txBody>
      </p:sp>
    </p:spTree>
    <p:extLst>
      <p:ext uri="{BB962C8B-B14F-4D97-AF65-F5344CB8AC3E}">
        <p14:creationId xmlns:p14="http://schemas.microsoft.com/office/powerpoint/2010/main" val="213507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01FA05-D652-42ED-BD72-2EF1217D6EF7}"/>
              </a:ext>
            </a:extLst>
          </p:cNvPr>
          <p:cNvSpPr>
            <a:spLocks noGrp="1"/>
          </p:cNvSpPr>
          <p:nvPr>
            <p:ph type="title"/>
          </p:nvPr>
        </p:nvSpPr>
        <p:spPr>
          <a:xfrm>
            <a:off x="838199" y="1"/>
            <a:ext cx="11242183" cy="1326523"/>
          </a:xfrm>
        </p:spPr>
        <p:txBody>
          <a:bodyPr>
            <a:normAutofit/>
          </a:bodyPr>
          <a:lstStyle/>
          <a:p>
            <a:r>
              <a:rPr lang="ru-RU" dirty="0"/>
              <a:t>Языки конструирования </a:t>
            </a:r>
            <a:br>
              <a:rPr lang="ru-RU" dirty="0"/>
            </a:br>
            <a:r>
              <a:rPr lang="ru-RU" dirty="0"/>
              <a:t>(</a:t>
            </a:r>
            <a:r>
              <a:rPr lang="en-GB" dirty="0"/>
              <a:t>Construction Languages)</a:t>
            </a:r>
            <a:endParaRPr lang="ru-RU" dirty="0"/>
          </a:p>
        </p:txBody>
      </p:sp>
      <p:sp>
        <p:nvSpPr>
          <p:cNvPr id="3" name="Объект 2">
            <a:extLst>
              <a:ext uri="{FF2B5EF4-FFF2-40B4-BE49-F238E27FC236}">
                <a16:creationId xmlns:a16="http://schemas.microsoft.com/office/drawing/2014/main" id="{A432CEBB-75E3-4D89-88AF-B16AB75421AC}"/>
              </a:ext>
            </a:extLst>
          </p:cNvPr>
          <p:cNvSpPr>
            <a:spLocks noGrp="1"/>
          </p:cNvSpPr>
          <p:nvPr>
            <p:ph idx="1"/>
          </p:nvPr>
        </p:nvSpPr>
        <p:spPr>
          <a:xfrm>
            <a:off x="838200" y="1326524"/>
            <a:ext cx="11242182" cy="5306095"/>
          </a:xfrm>
        </p:spPr>
        <p:txBody>
          <a:bodyPr>
            <a:normAutofit lnSpcReduction="10000"/>
          </a:bodyPr>
          <a:lstStyle/>
          <a:p>
            <a:pPr algn="just">
              <a:lnSpc>
                <a:spcPct val="102000"/>
              </a:lnSpc>
            </a:pPr>
            <a:r>
              <a:rPr lang="ru-RU" dirty="0">
                <a:solidFill>
                  <a:srgbClr val="000000"/>
                </a:solidFill>
                <a:effectLst/>
                <a:latin typeface="Times New Roman" panose="02020603050405020304" pitchFamily="18" charset="0"/>
                <a:ea typeface="Times New Roman" panose="02020603050405020304" pitchFamily="18" charset="0"/>
              </a:rPr>
              <a:t>Языки конструирования включают все формы коммуникаций, с помощью которых человек может задать решение проблемы, выполняемое на компьютере.</a:t>
            </a:r>
          </a:p>
          <a:p>
            <a:pPr lvl="1" algn="just">
              <a:lnSpc>
                <a:spcPct val="102000"/>
              </a:lnSpc>
            </a:pPr>
            <a:r>
              <a:rPr lang="ru-RU" sz="2000" dirty="0">
                <a:solidFill>
                  <a:srgbClr val="000000"/>
                </a:solidFill>
                <a:effectLst/>
                <a:latin typeface="Times New Roman" panose="02020603050405020304" pitchFamily="18" charset="0"/>
                <a:ea typeface="Times New Roman" panose="02020603050405020304" pitchFamily="18" charset="0"/>
              </a:rPr>
              <a:t>Простейший тип языков конструирования – </a:t>
            </a:r>
            <a:r>
              <a:rPr lang="ru-RU" sz="2000" i="1" dirty="0">
                <a:solidFill>
                  <a:srgbClr val="000000"/>
                </a:solidFill>
                <a:effectLst/>
                <a:latin typeface="Times New Roman" panose="02020603050405020304" pitchFamily="18" charset="0"/>
                <a:ea typeface="Times New Roman" panose="02020603050405020304" pitchFamily="18" charset="0"/>
              </a:rPr>
              <a:t>конфигурационный язык (</a:t>
            </a:r>
            <a:r>
              <a:rPr lang="ru-RU" sz="2000" i="1" dirty="0" err="1">
                <a:solidFill>
                  <a:srgbClr val="000000"/>
                </a:solidFill>
                <a:effectLst/>
                <a:latin typeface="Times New Roman" panose="02020603050405020304" pitchFamily="18" charset="0"/>
                <a:ea typeface="Times New Roman" panose="02020603050405020304" pitchFamily="18" charset="0"/>
              </a:rPr>
              <a:t>configuration</a:t>
            </a:r>
            <a:r>
              <a:rPr lang="ru-RU" sz="2000" i="1" dirty="0">
                <a:solidFill>
                  <a:srgbClr val="000000"/>
                </a:solidFill>
                <a:effectLst/>
                <a:latin typeface="Times New Roman" panose="02020603050405020304" pitchFamily="18" charset="0"/>
                <a:ea typeface="Times New Roman" panose="02020603050405020304" pitchFamily="18" charset="0"/>
              </a:rPr>
              <a:t> </a:t>
            </a:r>
            <a:r>
              <a:rPr lang="ru-RU" sz="2000" i="1" dirty="0" err="1">
                <a:solidFill>
                  <a:srgbClr val="000000"/>
                </a:solidFill>
                <a:effectLst/>
                <a:latin typeface="Times New Roman" panose="02020603050405020304" pitchFamily="18" charset="0"/>
                <a:ea typeface="Times New Roman" panose="02020603050405020304" pitchFamily="18" charset="0"/>
              </a:rPr>
              <a:t>language</a:t>
            </a:r>
            <a:r>
              <a:rPr lang="ru-RU" sz="2000" i="1" dirty="0">
                <a:solidFill>
                  <a:srgbClr val="000000"/>
                </a:solidFill>
                <a:effectLst/>
                <a:latin typeface="Times New Roman" panose="02020603050405020304" pitchFamily="18" charset="0"/>
                <a:ea typeface="Times New Roman" panose="02020603050405020304" pitchFamily="18" charset="0"/>
              </a:rPr>
              <a:t>)</a:t>
            </a:r>
            <a:r>
              <a:rPr lang="ru-RU" sz="2000" dirty="0">
                <a:solidFill>
                  <a:srgbClr val="000000"/>
                </a:solidFill>
                <a:effectLst/>
                <a:latin typeface="Times New Roman" panose="02020603050405020304" pitchFamily="18" charset="0"/>
                <a:ea typeface="Times New Roman" panose="02020603050405020304" pitchFamily="18" charset="0"/>
              </a:rPr>
              <a:t>, позволяющий задавать параметры выполнения программной системы.</a:t>
            </a:r>
          </a:p>
          <a:p>
            <a:pPr lvl="1">
              <a:buFont typeface="Arial" panose="020B0604020202020204" pitchFamily="34" charset="0"/>
              <a:buChar char="•"/>
            </a:pPr>
            <a:r>
              <a:rPr lang="ru-RU" sz="1050" b="1" i="0" dirty="0">
                <a:solidFill>
                  <a:srgbClr val="333333"/>
                </a:solidFill>
                <a:effectLst/>
                <a:latin typeface="YS Text"/>
              </a:rPr>
              <a:t>Специализированными</a:t>
            </a:r>
            <a:r>
              <a:rPr lang="ru-RU" sz="1050" b="0" i="0" dirty="0">
                <a:solidFill>
                  <a:srgbClr val="333333"/>
                </a:solidFill>
                <a:effectLst/>
                <a:latin typeface="YS Text"/>
              </a:rPr>
              <a:t> — предназначены для конкретной предметной области, например, для настройки веб-серверов, параметров СУБД, конфигураций </a:t>
            </a:r>
            <a:r>
              <a:rPr lang="ru-RU" sz="1050" b="0" i="0" dirty="0" err="1">
                <a:solidFill>
                  <a:srgbClr val="333333"/>
                </a:solidFill>
                <a:effectLst/>
                <a:latin typeface="YS Text"/>
              </a:rPr>
              <a:t>микросервисов</a:t>
            </a:r>
            <a:r>
              <a:rPr lang="ru-RU" sz="1050" b="0" i="0" dirty="0">
                <a:solidFill>
                  <a:srgbClr val="333333"/>
                </a:solidFill>
                <a:effectLst/>
                <a:latin typeface="YS Text"/>
              </a:rPr>
              <a:t>.</a:t>
            </a:r>
          </a:p>
          <a:p>
            <a:pPr lvl="1">
              <a:buFont typeface="Arial" panose="020B0604020202020204" pitchFamily="34" charset="0"/>
              <a:buChar char="•"/>
            </a:pPr>
            <a:r>
              <a:rPr lang="ru-RU" sz="1050" b="1" i="0" dirty="0">
                <a:solidFill>
                  <a:srgbClr val="333333"/>
                </a:solidFill>
                <a:effectLst/>
                <a:latin typeface="YS Text"/>
              </a:rPr>
              <a:t>Универсальными</a:t>
            </a:r>
            <a:r>
              <a:rPr lang="ru-RU" sz="1050" b="0" i="0" dirty="0">
                <a:solidFill>
                  <a:srgbClr val="333333"/>
                </a:solidFill>
                <a:effectLst/>
                <a:latin typeface="YS Text"/>
              </a:rPr>
              <a:t> — позволяют работать с различными форматами конфигурационных файлов, например, INI, JSON, TOML, YAML.</a:t>
            </a:r>
            <a:endParaRPr lang="ru-RU" sz="2000" dirty="0">
              <a:solidFill>
                <a:srgbClr val="000000"/>
              </a:solidFill>
              <a:effectLst/>
              <a:latin typeface="Times New Roman" panose="02020603050405020304" pitchFamily="18" charset="0"/>
              <a:ea typeface="Times New Roman" panose="02020603050405020304" pitchFamily="18" charset="0"/>
            </a:endParaRPr>
          </a:p>
          <a:p>
            <a:pPr lvl="1" algn="just">
              <a:lnSpc>
                <a:spcPct val="102000"/>
              </a:lnSpc>
            </a:pPr>
            <a:r>
              <a:rPr lang="ru-RU" sz="2000" i="1" dirty="0">
                <a:solidFill>
                  <a:srgbClr val="000000"/>
                </a:solidFill>
                <a:effectLst/>
                <a:latin typeface="Times New Roman" panose="02020603050405020304" pitchFamily="18" charset="0"/>
                <a:ea typeface="Times New Roman" panose="02020603050405020304" pitchFamily="18" charset="0"/>
              </a:rPr>
              <a:t>Инструментальный язык (</a:t>
            </a:r>
            <a:r>
              <a:rPr lang="ru-RU" sz="2000" i="1" dirty="0" err="1">
                <a:solidFill>
                  <a:srgbClr val="000000"/>
                </a:solidFill>
                <a:effectLst/>
                <a:latin typeface="Times New Roman" panose="02020603050405020304" pitchFamily="18" charset="0"/>
                <a:ea typeface="Times New Roman" panose="02020603050405020304" pitchFamily="18" charset="0"/>
              </a:rPr>
              <a:t>toolkit</a:t>
            </a:r>
            <a:r>
              <a:rPr lang="ru-RU" sz="2000" i="1" dirty="0">
                <a:solidFill>
                  <a:srgbClr val="000000"/>
                </a:solidFill>
                <a:effectLst/>
                <a:latin typeface="Times New Roman" panose="02020603050405020304" pitchFamily="18" charset="0"/>
                <a:ea typeface="Times New Roman" panose="02020603050405020304" pitchFamily="18" charset="0"/>
              </a:rPr>
              <a:t> </a:t>
            </a:r>
            <a:r>
              <a:rPr lang="ru-RU" sz="2000" i="1" dirty="0" err="1">
                <a:solidFill>
                  <a:srgbClr val="000000"/>
                </a:solidFill>
                <a:effectLst/>
                <a:latin typeface="Times New Roman" panose="02020603050405020304" pitchFamily="18" charset="0"/>
                <a:ea typeface="Times New Roman" panose="02020603050405020304" pitchFamily="18" charset="0"/>
              </a:rPr>
              <a:t>language</a:t>
            </a:r>
            <a:r>
              <a:rPr lang="ru-RU" sz="2000" i="1" dirty="0">
                <a:solidFill>
                  <a:srgbClr val="000000"/>
                </a:solidFill>
                <a:effectLst/>
                <a:latin typeface="Times New Roman" panose="02020603050405020304" pitchFamily="18" charset="0"/>
                <a:ea typeface="Times New Roman" panose="02020603050405020304" pitchFamily="18" charset="0"/>
              </a:rPr>
              <a:t>)</a:t>
            </a:r>
            <a:r>
              <a:rPr lang="ru-RU" sz="2000" dirty="0">
                <a:solidFill>
                  <a:srgbClr val="000000"/>
                </a:solidFill>
                <a:effectLst/>
                <a:latin typeface="Times New Roman" panose="02020603050405020304" pitchFamily="18" charset="0"/>
                <a:ea typeface="Times New Roman" panose="02020603050405020304" pitchFamily="18" charset="0"/>
              </a:rPr>
              <a:t> – язык конструирования из повторно-используемых элементов; обычно строится как сценарный язык (</a:t>
            </a:r>
            <a:r>
              <a:rPr lang="ru-RU" sz="2000" dirty="0" err="1">
                <a:solidFill>
                  <a:srgbClr val="000000"/>
                </a:solidFill>
                <a:effectLst/>
                <a:latin typeface="Times New Roman" panose="02020603050405020304" pitchFamily="18" charset="0"/>
                <a:ea typeface="Times New Roman" panose="02020603050405020304" pitchFamily="18" charset="0"/>
              </a:rPr>
              <a:t>script</a:t>
            </a:r>
            <a:r>
              <a:rPr lang="ru-RU" sz="2000" dirty="0">
                <a:solidFill>
                  <a:srgbClr val="000000"/>
                </a:solidFill>
                <a:effectLst/>
                <a:latin typeface="Times New Roman" panose="02020603050405020304" pitchFamily="18" charset="0"/>
                <a:ea typeface="Times New Roman" panose="02020603050405020304" pitchFamily="18" charset="0"/>
              </a:rPr>
              <a:t>), выполняемый в соответствующей среде.</a:t>
            </a:r>
          </a:p>
          <a:p>
            <a:pPr lvl="2" algn="just">
              <a:lnSpc>
                <a:spcPct val="102000"/>
              </a:lnSpc>
            </a:pPr>
            <a:r>
              <a:rPr lang="ru-RU" sz="1200" dirty="0">
                <a:solidFill>
                  <a:srgbClr val="000000"/>
                </a:solidFill>
                <a:effectLst/>
                <a:latin typeface="Times New Roman" panose="02020603050405020304" pitchFamily="18" charset="0"/>
                <a:ea typeface="Times New Roman" panose="02020603050405020304" pitchFamily="18" charset="0"/>
              </a:rPr>
              <a:t>DLTK (Dynamic </a:t>
            </a:r>
            <a:r>
              <a:rPr lang="ru-RU" sz="1200" dirty="0" err="1">
                <a:solidFill>
                  <a:srgbClr val="000000"/>
                </a:solidFill>
                <a:effectLst/>
                <a:latin typeface="Times New Roman" panose="02020603050405020304" pitchFamily="18" charset="0"/>
                <a:ea typeface="Times New Roman" panose="02020603050405020304" pitchFamily="18" charset="0"/>
              </a:rPr>
              <a:t>Languages</a:t>
            </a:r>
            <a:r>
              <a:rPr lang="ru-RU" sz="1200" dirty="0">
                <a:solidFill>
                  <a:srgbClr val="000000"/>
                </a:solidFill>
                <a:effectLst/>
                <a:latin typeface="Times New Roman" panose="02020603050405020304" pitchFamily="18" charset="0"/>
                <a:ea typeface="Times New Roman" panose="02020603050405020304" pitchFamily="18" charset="0"/>
              </a:rPr>
              <a:t> </a:t>
            </a:r>
            <a:r>
              <a:rPr lang="ru-RU" sz="1200" dirty="0" err="1">
                <a:solidFill>
                  <a:srgbClr val="000000"/>
                </a:solidFill>
                <a:effectLst/>
                <a:latin typeface="Times New Roman" panose="02020603050405020304" pitchFamily="18" charset="0"/>
                <a:ea typeface="Times New Roman" panose="02020603050405020304" pitchFamily="18" charset="0"/>
              </a:rPr>
              <a:t>Toolkit</a:t>
            </a:r>
            <a:r>
              <a:rPr lang="ru-RU" sz="1200" dirty="0">
                <a:solidFill>
                  <a:srgbClr val="000000"/>
                </a:solidFill>
                <a:effectLst/>
                <a:latin typeface="Times New Roman" panose="02020603050405020304" pitchFamily="18" charset="0"/>
                <a:ea typeface="Times New Roman" panose="02020603050405020304" pitchFamily="18" charset="0"/>
              </a:rPr>
              <a:t>) — инструментальный пакет разработчика для динамических языков на базе Eclipse, предназначен для разработчиков, исследователей и конечных пользователей, которые используют динамические языки.</a:t>
            </a:r>
          </a:p>
          <a:p>
            <a:pPr lvl="1" algn="just">
              <a:lnSpc>
                <a:spcPct val="102000"/>
              </a:lnSpc>
            </a:pPr>
            <a:r>
              <a:rPr lang="ru-RU" sz="2000" i="1" dirty="0">
                <a:solidFill>
                  <a:srgbClr val="000000"/>
                </a:solidFill>
                <a:effectLst/>
                <a:latin typeface="Times New Roman" panose="02020603050405020304" pitchFamily="18" charset="0"/>
                <a:ea typeface="Times New Roman" panose="02020603050405020304" pitchFamily="18" charset="0"/>
              </a:rPr>
              <a:t>Язык программирования (</a:t>
            </a:r>
            <a:r>
              <a:rPr lang="ru-RU" sz="2000" i="1" dirty="0" err="1">
                <a:solidFill>
                  <a:srgbClr val="000000"/>
                </a:solidFill>
                <a:effectLst/>
                <a:latin typeface="Times New Roman" panose="02020603050405020304" pitchFamily="18" charset="0"/>
                <a:ea typeface="Times New Roman" panose="02020603050405020304" pitchFamily="18" charset="0"/>
              </a:rPr>
              <a:t>programming</a:t>
            </a:r>
            <a:r>
              <a:rPr lang="ru-RU" sz="2000" i="1" dirty="0">
                <a:solidFill>
                  <a:srgbClr val="000000"/>
                </a:solidFill>
                <a:effectLst/>
                <a:latin typeface="Times New Roman" panose="02020603050405020304" pitchFamily="18" charset="0"/>
                <a:ea typeface="Times New Roman" panose="02020603050405020304" pitchFamily="18" charset="0"/>
              </a:rPr>
              <a:t> </a:t>
            </a:r>
            <a:r>
              <a:rPr lang="ru-RU" sz="2000" i="1" dirty="0" err="1">
                <a:solidFill>
                  <a:srgbClr val="000000"/>
                </a:solidFill>
                <a:effectLst/>
                <a:latin typeface="Times New Roman" panose="02020603050405020304" pitchFamily="18" charset="0"/>
                <a:ea typeface="Times New Roman" panose="02020603050405020304" pitchFamily="18" charset="0"/>
              </a:rPr>
              <a:t>language</a:t>
            </a:r>
            <a:r>
              <a:rPr lang="ru-RU" sz="2000" i="1" dirty="0">
                <a:solidFill>
                  <a:srgbClr val="000000"/>
                </a:solidFill>
                <a:effectLst/>
                <a:latin typeface="Times New Roman" panose="02020603050405020304" pitchFamily="18" charset="0"/>
                <a:ea typeface="Times New Roman" panose="02020603050405020304" pitchFamily="18" charset="0"/>
              </a:rPr>
              <a:t>)</a:t>
            </a:r>
            <a:r>
              <a:rPr lang="ru-RU" sz="2000" dirty="0">
                <a:solidFill>
                  <a:srgbClr val="000000"/>
                </a:solidFill>
                <a:effectLst/>
                <a:latin typeface="Times New Roman" panose="02020603050405020304" pitchFamily="18" charset="0"/>
                <a:ea typeface="Times New Roman" panose="02020603050405020304" pitchFamily="18" charset="0"/>
              </a:rPr>
              <a:t> – наиболее гибкий тип языков конструирования. Содержит минимальный объем информации о конкретных областях приложения и процессе разработки, требуя больше всего (по сравнению с другими типами языков конструирования) усилий на изучение и наработку опыта для эффективного применения при решении конкретных задач.</a:t>
            </a:r>
          </a:p>
          <a:p>
            <a:pPr marL="0" indent="0">
              <a:buNone/>
            </a:pPr>
            <a:endParaRPr lang="ru-RU" sz="4000" dirty="0"/>
          </a:p>
        </p:txBody>
      </p:sp>
      <p:sp>
        <p:nvSpPr>
          <p:cNvPr id="4" name="Нижний колонтитул 3">
            <a:extLst>
              <a:ext uri="{FF2B5EF4-FFF2-40B4-BE49-F238E27FC236}">
                <a16:creationId xmlns:a16="http://schemas.microsoft.com/office/drawing/2014/main" id="{23AF00B7-3678-41B7-9E2C-88F4C102473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0FE658-C093-4AF0-BD3B-8050111A1309}"/>
              </a:ext>
            </a:extLst>
          </p:cNvPr>
          <p:cNvSpPr>
            <a:spLocks noGrp="1"/>
          </p:cNvSpPr>
          <p:nvPr>
            <p:ph type="sldNum" sz="quarter" idx="12"/>
          </p:nvPr>
        </p:nvSpPr>
        <p:spPr/>
        <p:txBody>
          <a:bodyPr/>
          <a:lstStyle/>
          <a:p>
            <a:fld id="{DFA5D71E-5CDF-4C93-8A75-5B916FDC5BEA}" type="slidenum">
              <a:rPr lang="en-US" smtClean="0"/>
              <a:pPr/>
              <a:t>17</a:t>
            </a:fld>
            <a:endParaRPr lang="en-US" dirty="0"/>
          </a:p>
        </p:txBody>
      </p:sp>
    </p:spTree>
    <p:extLst>
      <p:ext uri="{BB962C8B-B14F-4D97-AF65-F5344CB8AC3E}">
        <p14:creationId xmlns:p14="http://schemas.microsoft.com/office/powerpoint/2010/main" val="749921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01FA05-D652-42ED-BD72-2EF1217D6EF7}"/>
              </a:ext>
            </a:extLst>
          </p:cNvPr>
          <p:cNvSpPr>
            <a:spLocks noGrp="1"/>
          </p:cNvSpPr>
          <p:nvPr>
            <p:ph type="title"/>
          </p:nvPr>
        </p:nvSpPr>
        <p:spPr>
          <a:xfrm>
            <a:off x="838199" y="1"/>
            <a:ext cx="11242183" cy="1326523"/>
          </a:xfrm>
        </p:spPr>
        <p:txBody>
          <a:bodyPr>
            <a:normAutofit/>
          </a:bodyPr>
          <a:lstStyle/>
          <a:p>
            <a:r>
              <a:rPr lang="ru-RU" dirty="0"/>
              <a:t>Языки конструирования </a:t>
            </a:r>
            <a:br>
              <a:rPr lang="ru-RU" dirty="0"/>
            </a:br>
            <a:r>
              <a:rPr lang="ru-RU" dirty="0"/>
              <a:t>(</a:t>
            </a:r>
            <a:r>
              <a:rPr lang="en-GB" dirty="0"/>
              <a:t>Construction Languages)</a:t>
            </a:r>
            <a:endParaRPr lang="ru-RU" dirty="0"/>
          </a:p>
        </p:txBody>
      </p:sp>
      <p:sp>
        <p:nvSpPr>
          <p:cNvPr id="3" name="Объект 2">
            <a:extLst>
              <a:ext uri="{FF2B5EF4-FFF2-40B4-BE49-F238E27FC236}">
                <a16:creationId xmlns:a16="http://schemas.microsoft.com/office/drawing/2014/main" id="{A432CEBB-75E3-4D89-88AF-B16AB75421AC}"/>
              </a:ext>
            </a:extLst>
          </p:cNvPr>
          <p:cNvSpPr>
            <a:spLocks noGrp="1"/>
          </p:cNvSpPr>
          <p:nvPr>
            <p:ph idx="1"/>
          </p:nvPr>
        </p:nvSpPr>
        <p:spPr>
          <a:xfrm>
            <a:off x="838200" y="1326524"/>
            <a:ext cx="11242182" cy="5306095"/>
          </a:xfrm>
        </p:spPr>
        <p:txBody>
          <a:bodyPr>
            <a:normAutofit fontScale="92500" lnSpcReduction="20000"/>
          </a:bodyPr>
          <a:lstStyle/>
          <a:p>
            <a:pPr algn="just">
              <a:lnSpc>
                <a:spcPct val="102000"/>
              </a:lnSpc>
            </a:pPr>
            <a:r>
              <a:rPr lang="ru-RU" sz="1800" dirty="0">
                <a:solidFill>
                  <a:srgbClr val="000000"/>
                </a:solidFill>
                <a:effectLst/>
                <a:latin typeface="Times New Roman" panose="02020603050405020304" pitchFamily="18" charset="0"/>
                <a:ea typeface="Times New Roman" panose="02020603050405020304" pitchFamily="18" charset="0"/>
              </a:rPr>
              <a:t>Существует три основных вида нотаций используемых при определении языков программирования:</a:t>
            </a:r>
          </a:p>
          <a:p>
            <a:pPr marL="342900" lvl="0" indent="-342900" algn="just">
              <a:buFont typeface="Symbol" panose="05050102010706020507" pitchFamily="18" charset="2"/>
              <a:buChar char=""/>
              <a:tabLst>
                <a:tab pos="457200" algn="l"/>
                <a:tab pos="44958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лингвистическая</a:t>
            </a:r>
          </a:p>
          <a:p>
            <a:pPr marL="342900" lvl="0" indent="-342900" algn="just">
              <a:buFont typeface="Symbol" panose="05050102010706020507" pitchFamily="18" charset="2"/>
              <a:buChar char=""/>
              <a:tabLst>
                <a:tab pos="457200" algn="l"/>
                <a:tab pos="44958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формальная</a:t>
            </a:r>
          </a:p>
          <a:p>
            <a:pPr marL="342900" lvl="0" indent="-342900" algn="just">
              <a:buFont typeface="Symbol" panose="05050102010706020507" pitchFamily="18" charset="2"/>
              <a:buChar char=""/>
              <a:tabLst>
                <a:tab pos="457200" algn="l"/>
                <a:tab pos="44958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визуальная</a:t>
            </a:r>
          </a:p>
          <a:p>
            <a:pPr algn="just">
              <a:lnSpc>
                <a:spcPct val="102000"/>
              </a:lnSpc>
            </a:pPr>
            <a:r>
              <a:rPr lang="ru-RU" sz="1800" i="1" dirty="0">
                <a:solidFill>
                  <a:srgbClr val="000000"/>
                </a:solidFill>
                <a:effectLst/>
                <a:latin typeface="Times New Roman" panose="02020603050405020304" pitchFamily="18" charset="0"/>
                <a:ea typeface="Times New Roman" panose="02020603050405020304" pitchFamily="18" charset="0"/>
              </a:rPr>
              <a:t>Лингвистические нотации</a:t>
            </a:r>
            <a:r>
              <a:rPr lang="ru-RU" sz="1800" dirty="0">
                <a:solidFill>
                  <a:srgbClr val="000000"/>
                </a:solidFill>
                <a:effectLst/>
                <a:latin typeface="Times New Roman" panose="02020603050405020304" pitchFamily="18" charset="0"/>
                <a:ea typeface="Times New Roman" panose="02020603050405020304" pitchFamily="18" charset="0"/>
              </a:rPr>
              <a:t> характеризуются, в частности, использованием строк текста, содержащих специализированные “слова”, представляющие сложные программные конструкции, и комбинируемые в шаблоны, напоминающие предложения, построенные в соответствии с определенным синтаксисом. В случае корректного использования таких нотаций, каждая получаемая строка обладает строгой смысловой нагрузкой (семантикой), обеспечивающей интуитивное понимание того, что будет происходить когда будет выполняться программное обеспечение, построенное с использованием такого языка конструирования.</a:t>
            </a:r>
          </a:p>
          <a:p>
            <a:pPr algn="just">
              <a:lnSpc>
                <a:spcPct val="102000"/>
              </a:lnSpc>
            </a:pPr>
            <a:r>
              <a:rPr lang="ru-RU" sz="1800" i="1" dirty="0">
                <a:solidFill>
                  <a:srgbClr val="000000"/>
                </a:solidFill>
                <a:effectLst/>
                <a:latin typeface="Times New Roman" panose="02020603050405020304" pitchFamily="18" charset="0"/>
                <a:ea typeface="Times New Roman" panose="02020603050405020304" pitchFamily="18" charset="0"/>
              </a:rPr>
              <a:t>Формальные нотации</a:t>
            </a:r>
            <a:r>
              <a:rPr lang="ru-RU" sz="1800" dirty="0">
                <a:solidFill>
                  <a:srgbClr val="000000"/>
                </a:solidFill>
                <a:effectLst/>
                <a:latin typeface="Times New Roman" panose="02020603050405020304" pitchFamily="18" charset="0"/>
                <a:ea typeface="Times New Roman" panose="02020603050405020304" pitchFamily="18" charset="0"/>
              </a:rPr>
              <a:t> являются менее интуитивными, чем лингвистические, и часто базируются на точных формальных (математических) определениях. Формальные нотации конструкций и формальные методы являются ядром практически всех форм системного программирования, точнее – поведения систем во времени. Такие нотации обеспечивают наибольшую готовность получаемого кода к тестированию, что намного важнее, чем просто возможность отображения на обычный человеческий язык. Формальные конструкции также используют точный метод определения комбинаций применяемых символов, что позволяет избежать неоднозначностей, присущих конструкциям естественных языков.</a:t>
            </a:r>
          </a:p>
          <a:p>
            <a:pPr algn="just">
              <a:lnSpc>
                <a:spcPct val="102000"/>
              </a:lnSpc>
            </a:pPr>
            <a:r>
              <a:rPr lang="ru-RU" sz="1800" i="1" dirty="0">
                <a:solidFill>
                  <a:srgbClr val="000000"/>
                </a:solidFill>
                <a:effectLst/>
                <a:latin typeface="Times New Roman" panose="02020603050405020304" pitchFamily="18" charset="0"/>
                <a:ea typeface="Times New Roman" panose="02020603050405020304" pitchFamily="18" charset="0"/>
              </a:rPr>
              <a:t>Визуальные нотации</a:t>
            </a:r>
            <a:r>
              <a:rPr lang="ru-RU" sz="1800" dirty="0">
                <a:solidFill>
                  <a:srgbClr val="000000"/>
                </a:solidFill>
                <a:effectLst/>
                <a:latin typeface="Times New Roman" panose="02020603050405020304" pitchFamily="18" charset="0"/>
                <a:ea typeface="Times New Roman" panose="02020603050405020304" pitchFamily="18" charset="0"/>
              </a:rPr>
              <a:t> наименее связаны с </a:t>
            </a:r>
            <a:r>
              <a:rPr lang="ru-RU" sz="1800" dirty="0" err="1">
                <a:solidFill>
                  <a:srgbClr val="000000"/>
                </a:solidFill>
                <a:effectLst/>
                <a:latin typeface="Times New Roman" panose="02020603050405020304" pitchFamily="18" charset="0"/>
                <a:ea typeface="Times New Roman" panose="02020603050405020304" pitchFamily="18" charset="0"/>
              </a:rPr>
              <a:t>текстово</a:t>
            </a:r>
            <a:r>
              <a:rPr lang="ru-RU" sz="1800" dirty="0">
                <a:solidFill>
                  <a:srgbClr val="000000"/>
                </a:solidFill>
                <a:effectLst/>
                <a:latin typeface="Times New Roman" panose="02020603050405020304" pitchFamily="18" charset="0"/>
                <a:ea typeface="Times New Roman" panose="02020603050405020304" pitchFamily="18" charset="0"/>
              </a:rPr>
              <a:t>-ориентированными подходами, предполагая непосредственную интерпретацию визуальных конструкций в процессе исполнения описываемой логики. При этом логика в визуальных нотациях задается расположением соответствующих визуальных сущностей, ответственных за те или иные операции и структуры данных.</a:t>
            </a:r>
          </a:p>
          <a:p>
            <a:pPr marL="0" indent="0">
              <a:buNone/>
            </a:pPr>
            <a:endParaRPr lang="ru-RU" dirty="0"/>
          </a:p>
        </p:txBody>
      </p:sp>
      <p:sp>
        <p:nvSpPr>
          <p:cNvPr id="4" name="Нижний колонтитул 3">
            <a:extLst>
              <a:ext uri="{FF2B5EF4-FFF2-40B4-BE49-F238E27FC236}">
                <a16:creationId xmlns:a16="http://schemas.microsoft.com/office/drawing/2014/main" id="{23AF00B7-3678-41B7-9E2C-88F4C102473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BA0FE658-C093-4AF0-BD3B-8050111A1309}"/>
              </a:ext>
            </a:extLst>
          </p:cNvPr>
          <p:cNvSpPr>
            <a:spLocks noGrp="1"/>
          </p:cNvSpPr>
          <p:nvPr>
            <p:ph type="sldNum" sz="quarter" idx="12"/>
          </p:nvPr>
        </p:nvSpPr>
        <p:spPr/>
        <p:txBody>
          <a:bodyPr/>
          <a:lstStyle/>
          <a:p>
            <a:fld id="{DFA5D71E-5CDF-4C93-8A75-5B916FDC5BEA}" type="slidenum">
              <a:rPr lang="en-US" smtClean="0"/>
              <a:pPr/>
              <a:t>18</a:t>
            </a:fld>
            <a:endParaRPr lang="en-US" dirty="0"/>
          </a:p>
        </p:txBody>
      </p:sp>
    </p:spTree>
    <p:extLst>
      <p:ext uri="{BB962C8B-B14F-4D97-AF65-F5344CB8AC3E}">
        <p14:creationId xmlns:p14="http://schemas.microsoft.com/office/powerpoint/2010/main" val="585885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AEA811-9D07-4916-83ED-C97CF53DE0B5}"/>
              </a:ext>
            </a:extLst>
          </p:cNvPr>
          <p:cNvSpPr>
            <a:spLocks noGrp="1"/>
          </p:cNvSpPr>
          <p:nvPr>
            <p:ph type="title"/>
          </p:nvPr>
        </p:nvSpPr>
        <p:spPr>
          <a:xfrm>
            <a:off x="838200" y="0"/>
            <a:ext cx="11353800" cy="671938"/>
          </a:xfrm>
        </p:spPr>
        <p:txBody>
          <a:bodyPr/>
          <a:lstStyle/>
          <a:p>
            <a:r>
              <a:rPr lang="ru-RU" dirty="0"/>
              <a:t>Кодирование (</a:t>
            </a:r>
            <a:r>
              <a:rPr lang="ru-RU" dirty="0" err="1"/>
              <a:t>Coding</a:t>
            </a:r>
            <a:r>
              <a:rPr lang="ru-RU" dirty="0"/>
              <a:t>)</a:t>
            </a:r>
          </a:p>
        </p:txBody>
      </p:sp>
      <p:sp>
        <p:nvSpPr>
          <p:cNvPr id="3" name="Объект 2">
            <a:extLst>
              <a:ext uri="{FF2B5EF4-FFF2-40B4-BE49-F238E27FC236}">
                <a16:creationId xmlns:a16="http://schemas.microsoft.com/office/drawing/2014/main" id="{360E8BC9-162A-4D31-B690-459183843BB4}"/>
              </a:ext>
            </a:extLst>
          </p:cNvPr>
          <p:cNvSpPr>
            <a:spLocks noGrp="1"/>
          </p:cNvSpPr>
          <p:nvPr>
            <p:ph idx="1"/>
          </p:nvPr>
        </p:nvSpPr>
        <p:spPr>
          <a:xfrm>
            <a:off x="838200" y="671938"/>
            <a:ext cx="10515600" cy="5505025"/>
          </a:xfrm>
        </p:spPr>
        <p:txBody>
          <a:bodyPr>
            <a:normAutofit fontScale="70000" lnSpcReduction="20000"/>
          </a:bodyPr>
          <a:lstStyle/>
          <a:p>
            <a:r>
              <a:rPr lang="ru-RU" dirty="0"/>
              <a:t>Практика конструирования программного обеспечения показывает активное применение следующих соображений и техник:</a:t>
            </a:r>
          </a:p>
          <a:p>
            <a:r>
              <a:rPr lang="ru-RU" dirty="0"/>
              <a:t>•	техники создания легко понимаемого исходного кода на основе использования соглашений об именовании, форматирования и структурирования кода;</a:t>
            </a:r>
          </a:p>
          <a:p>
            <a:r>
              <a:rPr lang="ru-RU" dirty="0"/>
              <a:t>•	использование классов, перечисляемых типов, переменных, именованных констант и других выразительных сущностей;</a:t>
            </a:r>
          </a:p>
          <a:p>
            <a:r>
              <a:rPr lang="ru-RU" dirty="0"/>
              <a:t>•	организация исходного текста (в выражения, шаблоны, классы, пакеты/модули и другие структуры);</a:t>
            </a:r>
          </a:p>
          <a:p>
            <a:r>
              <a:rPr lang="ru-RU" dirty="0"/>
              <a:t>•	использование структур управления;</a:t>
            </a:r>
          </a:p>
          <a:p>
            <a:r>
              <a:rPr lang="ru-RU" dirty="0"/>
              <a:t>•	обработка ошибочных условий и исключительных ситуаций;</a:t>
            </a:r>
          </a:p>
          <a:p>
            <a:r>
              <a:rPr lang="ru-RU" dirty="0"/>
              <a:t>•	предотвращение возможных брешей в безопасности (например, переполнение буфера или выход за пределы индекса в массиве);</a:t>
            </a:r>
          </a:p>
          <a:p>
            <a:r>
              <a:rPr lang="ru-RU" dirty="0"/>
              <a:t>•	использование ресурсов на основе применения механизмов исключения (из рассмотрения) и порядка доступа к параллельно используемым ресурсам (например, на основе блокировки данных, использования потоков и их синхронизации и т.п.);</a:t>
            </a:r>
          </a:p>
          <a:p>
            <a:r>
              <a:rPr lang="ru-RU" dirty="0"/>
              <a:t>•	документирование кода;</a:t>
            </a:r>
          </a:p>
          <a:p>
            <a:r>
              <a:rPr lang="ru-RU" dirty="0"/>
              <a:t>•	тонкая “настройка” кода;</a:t>
            </a:r>
          </a:p>
          <a:p>
            <a:r>
              <a:rPr lang="ru-RU" dirty="0"/>
              <a:t>•	рефакторинг (не упоминается SWEBOK).</a:t>
            </a:r>
          </a:p>
          <a:p>
            <a:endParaRPr lang="ru-RU" dirty="0"/>
          </a:p>
        </p:txBody>
      </p:sp>
      <p:sp>
        <p:nvSpPr>
          <p:cNvPr id="4" name="Нижний колонтитул 3">
            <a:extLst>
              <a:ext uri="{FF2B5EF4-FFF2-40B4-BE49-F238E27FC236}">
                <a16:creationId xmlns:a16="http://schemas.microsoft.com/office/drawing/2014/main" id="{C933C65B-9735-45C4-8F56-E26711164C24}"/>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17848102-65CB-480F-B3FC-336824CBBBC5}"/>
              </a:ext>
            </a:extLst>
          </p:cNvPr>
          <p:cNvSpPr>
            <a:spLocks noGrp="1"/>
          </p:cNvSpPr>
          <p:nvPr>
            <p:ph type="sldNum" sz="quarter" idx="12"/>
          </p:nvPr>
        </p:nvSpPr>
        <p:spPr/>
        <p:txBody>
          <a:bodyPr/>
          <a:lstStyle/>
          <a:p>
            <a:fld id="{DFA5D71E-5CDF-4C93-8A75-5B916FDC5BEA}" type="slidenum">
              <a:rPr lang="en-US" smtClean="0"/>
              <a:pPr/>
              <a:t>19</a:t>
            </a:fld>
            <a:endParaRPr lang="en-US" dirty="0"/>
          </a:p>
        </p:txBody>
      </p:sp>
    </p:spTree>
    <p:extLst>
      <p:ext uri="{BB962C8B-B14F-4D97-AF65-F5344CB8AC3E}">
        <p14:creationId xmlns:p14="http://schemas.microsoft.com/office/powerpoint/2010/main" val="64969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F2E8DE-6BB2-424B-907E-74A5DDF133BE}"/>
              </a:ext>
            </a:extLst>
          </p:cNvPr>
          <p:cNvSpPr>
            <a:spLocks noGrp="1"/>
          </p:cNvSpPr>
          <p:nvPr>
            <p:ph type="title"/>
          </p:nvPr>
        </p:nvSpPr>
        <p:spPr>
          <a:xfrm>
            <a:off x="838200" y="36319"/>
            <a:ext cx="10515600" cy="1325563"/>
          </a:xfrm>
        </p:spPr>
        <p:txBody>
          <a:bodyPr>
            <a:normAutofit/>
          </a:bodyPr>
          <a:lstStyle/>
          <a:p>
            <a:r>
              <a:rPr lang="ru-RU" dirty="0"/>
              <a:t>Тестирование в конструировании (Construction </a:t>
            </a:r>
            <a:r>
              <a:rPr lang="ru-RU" dirty="0" err="1"/>
              <a:t>Testing</a:t>
            </a:r>
            <a:r>
              <a:rPr lang="ru-RU" dirty="0"/>
              <a:t>)</a:t>
            </a:r>
          </a:p>
        </p:txBody>
      </p:sp>
      <p:sp>
        <p:nvSpPr>
          <p:cNvPr id="3" name="Объект 2">
            <a:extLst>
              <a:ext uri="{FF2B5EF4-FFF2-40B4-BE49-F238E27FC236}">
                <a16:creationId xmlns:a16="http://schemas.microsoft.com/office/drawing/2014/main" id="{C65A7B8E-8550-45BC-A37D-CAF4A7D2CFF8}"/>
              </a:ext>
            </a:extLst>
          </p:cNvPr>
          <p:cNvSpPr>
            <a:spLocks noGrp="1"/>
          </p:cNvSpPr>
          <p:nvPr>
            <p:ph idx="1"/>
          </p:nvPr>
        </p:nvSpPr>
        <p:spPr>
          <a:xfrm>
            <a:off x="838200" y="1307559"/>
            <a:ext cx="11353800" cy="5440362"/>
          </a:xfrm>
        </p:spPr>
        <p:txBody>
          <a:bodyPr>
            <a:normAutofit fontScale="77500" lnSpcReduction="20000"/>
          </a:bodyPr>
          <a:lstStyle/>
          <a:p>
            <a:r>
              <a:rPr lang="ru-RU" dirty="0"/>
              <a:t>При конструировании используются две формы тестирования, проводимого инженерами, непосредственно создающими исходный код:</a:t>
            </a:r>
          </a:p>
          <a:p>
            <a:r>
              <a:rPr lang="ru-RU" dirty="0"/>
              <a:t>•	модульное тестирование (</a:t>
            </a:r>
            <a:r>
              <a:rPr lang="ru-RU" dirty="0" err="1"/>
              <a:t>unit</a:t>
            </a:r>
            <a:r>
              <a:rPr lang="ru-RU" dirty="0"/>
              <a:t> </a:t>
            </a:r>
            <a:r>
              <a:rPr lang="ru-RU" dirty="0" err="1"/>
              <a:t>testing</a:t>
            </a:r>
            <a:r>
              <a:rPr lang="ru-RU" dirty="0"/>
              <a:t>)</a:t>
            </a:r>
          </a:p>
          <a:p>
            <a:r>
              <a:rPr lang="ru-RU" dirty="0"/>
              <a:t>•	интеграционное тестирование (</a:t>
            </a:r>
            <a:r>
              <a:rPr lang="ru-RU" dirty="0" err="1"/>
              <a:t>integration</a:t>
            </a:r>
            <a:r>
              <a:rPr lang="ru-RU" dirty="0"/>
              <a:t> </a:t>
            </a:r>
            <a:r>
              <a:rPr lang="ru-RU" dirty="0" err="1"/>
              <a:t>testing</a:t>
            </a:r>
            <a:r>
              <a:rPr lang="ru-RU" dirty="0"/>
              <a:t>)</a:t>
            </a:r>
          </a:p>
          <a:p>
            <a:r>
              <a:rPr lang="ru-RU" dirty="0"/>
              <a:t>Главная цель тестирования в конструировании уменьшить временной разрыв между моментом проявления ошибок, имеющихся в коде, и моментом их обнаружения. Во многих случаях, тестирование в конструировании производится после того, как код написан. В ряде случаев, тесты (что отмечалось ранее, на примере XP) пишутся до того, как создается код.</a:t>
            </a:r>
          </a:p>
          <a:p>
            <a:r>
              <a:rPr lang="ru-RU" dirty="0"/>
              <a:t>Тестировании в конструировании обычно включает подмножество видов тестирования, описанных в области знаний “Тестирование программного обеспечения” (Software </a:t>
            </a:r>
            <a:r>
              <a:rPr lang="ru-RU" dirty="0" err="1"/>
              <a:t>Testing</a:t>
            </a:r>
            <a:r>
              <a:rPr lang="ru-RU" dirty="0"/>
              <a:t>). Например, тестирование в конструировании обычно не включает системного тестирования, нагрузочного тестирования, </a:t>
            </a:r>
            <a:r>
              <a:rPr lang="ru-RU" dirty="0" err="1"/>
              <a:t>usability</a:t>
            </a:r>
            <a:r>
              <a:rPr lang="ru-RU" dirty="0"/>
              <a:t>-тестирования (оценки прозрачности использования) и других видов тестовой деятельности.</a:t>
            </a:r>
          </a:p>
          <a:p>
            <a:r>
              <a:rPr lang="ru-RU" dirty="0"/>
              <a:t>IEEE опубликовал два стандарта, посвященных данной теме:</a:t>
            </a:r>
          </a:p>
          <a:p>
            <a:r>
              <a:rPr lang="ru-RU" dirty="0"/>
              <a:t>•	IEEE </a:t>
            </a:r>
            <a:r>
              <a:rPr lang="ru-RU" dirty="0" err="1"/>
              <a:t>Std</a:t>
            </a:r>
            <a:r>
              <a:rPr lang="ru-RU" dirty="0"/>
              <a:t> 829-1998: “IEEE Standard </a:t>
            </a:r>
            <a:r>
              <a:rPr lang="ru-RU" dirty="0" err="1"/>
              <a:t>for</a:t>
            </a:r>
            <a:r>
              <a:rPr lang="ru-RU" dirty="0"/>
              <a:t> Software Test </a:t>
            </a:r>
            <a:r>
              <a:rPr lang="ru-RU" dirty="0" err="1"/>
              <a:t>Documentation</a:t>
            </a:r>
            <a:r>
              <a:rPr lang="ru-RU" dirty="0"/>
              <a:t>”</a:t>
            </a:r>
          </a:p>
          <a:p>
            <a:r>
              <a:rPr lang="ru-RU" dirty="0"/>
              <a:t>•	IEEE </a:t>
            </a:r>
            <a:r>
              <a:rPr lang="ru-RU" dirty="0" err="1"/>
              <a:t>Std</a:t>
            </a:r>
            <a:r>
              <a:rPr lang="ru-RU" dirty="0"/>
              <a:t> 1008-1987: “IEEE Standard </a:t>
            </a:r>
            <a:r>
              <a:rPr lang="ru-RU" dirty="0" err="1"/>
              <a:t>for</a:t>
            </a:r>
            <a:r>
              <a:rPr lang="ru-RU" dirty="0"/>
              <a:t> Software Unit </a:t>
            </a:r>
            <a:r>
              <a:rPr lang="ru-RU" dirty="0" err="1"/>
              <a:t>Testing</a:t>
            </a:r>
            <a:r>
              <a:rPr lang="ru-RU" dirty="0"/>
              <a:t>”</a:t>
            </a:r>
          </a:p>
          <a:p>
            <a:r>
              <a:rPr lang="ru-RU" dirty="0"/>
              <a:t>Напрямую с данной темой связаны под-темы SWEBOK 2.1.1 “Unit </a:t>
            </a:r>
            <a:r>
              <a:rPr lang="ru-RU" dirty="0" err="1"/>
              <a:t>Testing</a:t>
            </a:r>
            <a:r>
              <a:rPr lang="ru-RU" dirty="0"/>
              <a:t>” и 2.1.2 “</a:t>
            </a:r>
            <a:r>
              <a:rPr lang="ru-RU" dirty="0" err="1"/>
              <a:t>Integration</a:t>
            </a:r>
            <a:r>
              <a:rPr lang="ru-RU" dirty="0"/>
              <a:t> </a:t>
            </a:r>
            <a:r>
              <a:rPr lang="ru-RU" dirty="0" err="1"/>
              <a:t>Testing</a:t>
            </a:r>
            <a:r>
              <a:rPr lang="ru-RU" dirty="0"/>
              <a:t>”.</a:t>
            </a:r>
          </a:p>
          <a:p>
            <a:endParaRPr lang="ru-RU" dirty="0"/>
          </a:p>
        </p:txBody>
      </p:sp>
      <p:sp>
        <p:nvSpPr>
          <p:cNvPr id="4" name="Нижний колонтитул 3">
            <a:extLst>
              <a:ext uri="{FF2B5EF4-FFF2-40B4-BE49-F238E27FC236}">
                <a16:creationId xmlns:a16="http://schemas.microsoft.com/office/drawing/2014/main" id="{9CF6246E-2FC0-4A14-961B-D4AB2AE5025B}"/>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6F6AEAD1-24FC-480B-AE2F-ABCCAC7FEA8F}"/>
              </a:ext>
            </a:extLst>
          </p:cNvPr>
          <p:cNvSpPr>
            <a:spLocks noGrp="1"/>
          </p:cNvSpPr>
          <p:nvPr>
            <p:ph type="sldNum" sz="quarter" idx="12"/>
          </p:nvPr>
        </p:nvSpPr>
        <p:spPr/>
        <p:txBody>
          <a:bodyPr/>
          <a:lstStyle/>
          <a:p>
            <a:fld id="{DFA5D71E-5CDF-4C93-8A75-5B916FDC5BEA}" type="slidenum">
              <a:rPr lang="en-US" smtClean="0"/>
              <a:pPr/>
              <a:t>20</a:t>
            </a:fld>
            <a:endParaRPr lang="en-US" dirty="0"/>
          </a:p>
        </p:txBody>
      </p:sp>
    </p:spTree>
    <p:extLst>
      <p:ext uri="{BB962C8B-B14F-4D97-AF65-F5344CB8AC3E}">
        <p14:creationId xmlns:p14="http://schemas.microsoft.com/office/powerpoint/2010/main" val="3366514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ADBC3C-17FD-4748-8B47-3B92BC058B58}"/>
              </a:ext>
            </a:extLst>
          </p:cNvPr>
          <p:cNvSpPr>
            <a:spLocks noGrp="1"/>
          </p:cNvSpPr>
          <p:nvPr>
            <p:ph type="title"/>
          </p:nvPr>
        </p:nvSpPr>
        <p:spPr>
          <a:xfrm>
            <a:off x="838200" y="32022"/>
            <a:ext cx="10515600" cy="804320"/>
          </a:xfrm>
        </p:spPr>
        <p:txBody>
          <a:bodyPr/>
          <a:lstStyle/>
          <a:p>
            <a:r>
              <a:rPr lang="ru-RU" dirty="0"/>
              <a:t>Повторное использование (</a:t>
            </a:r>
            <a:r>
              <a:rPr lang="en-GB" dirty="0"/>
              <a:t>Reuse)</a:t>
            </a:r>
            <a:endParaRPr lang="ru-RU" dirty="0"/>
          </a:p>
        </p:txBody>
      </p:sp>
      <p:sp>
        <p:nvSpPr>
          <p:cNvPr id="3" name="Объект 2">
            <a:extLst>
              <a:ext uri="{FF2B5EF4-FFF2-40B4-BE49-F238E27FC236}">
                <a16:creationId xmlns:a16="http://schemas.microsoft.com/office/drawing/2014/main" id="{56AF5F29-0610-4849-AC0D-ADC73F8F3295}"/>
              </a:ext>
            </a:extLst>
          </p:cNvPr>
          <p:cNvSpPr>
            <a:spLocks noGrp="1"/>
          </p:cNvSpPr>
          <p:nvPr>
            <p:ph idx="1"/>
          </p:nvPr>
        </p:nvSpPr>
        <p:spPr>
          <a:xfrm>
            <a:off x="838199" y="970156"/>
            <a:ext cx="11127059" cy="5522719"/>
          </a:xfrm>
        </p:spPr>
        <p:txBody>
          <a:bodyPr>
            <a:normAutofit fontScale="92500" lnSpcReduction="10000"/>
          </a:bodyPr>
          <a:lstStyle/>
          <a:p>
            <a:pPr marL="0" indent="0">
              <a:buNone/>
            </a:pPr>
            <a:r>
              <a:rPr lang="ru-RU" dirty="0"/>
              <a:t>IEEE </a:t>
            </a:r>
            <a:r>
              <a:rPr lang="ru-RU" dirty="0" err="1"/>
              <a:t>Std</a:t>
            </a:r>
            <a:r>
              <a:rPr lang="ru-RU" dirty="0"/>
              <a:t>. 1517-99 “IEEE Standard </a:t>
            </a:r>
            <a:r>
              <a:rPr lang="ru-RU" dirty="0" err="1"/>
              <a:t>for</a:t>
            </a:r>
            <a:r>
              <a:rPr lang="ru-RU" dirty="0"/>
              <a:t> Information Technology – Software </a:t>
            </a:r>
            <a:r>
              <a:rPr lang="ru-RU" dirty="0" err="1"/>
              <a:t>Lifecycle</a:t>
            </a:r>
            <a:r>
              <a:rPr lang="ru-RU" dirty="0"/>
              <a:t> Process – </a:t>
            </a:r>
            <a:r>
              <a:rPr lang="ru-RU" dirty="0" err="1"/>
              <a:t>Reuse</a:t>
            </a:r>
            <a:r>
              <a:rPr lang="ru-RU" dirty="0"/>
              <a:t> </a:t>
            </a:r>
            <a:r>
              <a:rPr lang="ru-RU" dirty="0" err="1"/>
              <a:t>Processes</a:t>
            </a:r>
            <a:r>
              <a:rPr lang="ru-RU" dirty="0"/>
              <a:t>” </a:t>
            </a:r>
          </a:p>
          <a:p>
            <a:pPr marL="0" indent="0">
              <a:buNone/>
            </a:pPr>
            <a:r>
              <a:rPr lang="ru-RU" dirty="0"/>
              <a:t>“Повторное использование ПО подразумевает и влечёт за собой нечто большее, чем просто создание и использование библиотек активов. Оно требует формализации практики повторного использования на основе интеграции процессов и деятельности по повторному использованию в сам жизненный цикл программного обеспечения.” </a:t>
            </a:r>
          </a:p>
          <a:p>
            <a:pPr marL="0" indent="0">
              <a:buNone/>
            </a:pPr>
            <a:r>
              <a:rPr lang="ru-RU" dirty="0"/>
              <a:t>Задачи, связанные с повторным использованием в процессе конструирования и тестирования, включают:</a:t>
            </a:r>
          </a:p>
          <a:p>
            <a:r>
              <a:rPr lang="ru-RU" dirty="0"/>
              <a:t>•	выбор единиц (</a:t>
            </a:r>
            <a:r>
              <a:rPr lang="ru-RU" dirty="0" err="1"/>
              <a:t>units</a:t>
            </a:r>
            <a:r>
              <a:rPr lang="ru-RU" dirty="0"/>
              <a:t>), баз данных тестовых процедур, данных &lt;полученных в результате&gt; тестов и самих тестов, подлежащих повторному использованию</a:t>
            </a:r>
          </a:p>
          <a:p>
            <a:r>
              <a:rPr lang="ru-RU" dirty="0"/>
              <a:t>•	оценку потенциала повторного использования кода и тестов</a:t>
            </a:r>
          </a:p>
          <a:p>
            <a:r>
              <a:rPr lang="ru-RU" dirty="0"/>
              <a:t>•	отслеживание информации и создание отчетности по повторному использованию в новом коде, тестовых процедурах и данных, полученных в результате тестов.</a:t>
            </a:r>
          </a:p>
          <a:p>
            <a:endParaRPr lang="ru-RU" dirty="0"/>
          </a:p>
        </p:txBody>
      </p:sp>
      <p:sp>
        <p:nvSpPr>
          <p:cNvPr id="4" name="Нижний колонтитул 3">
            <a:extLst>
              <a:ext uri="{FF2B5EF4-FFF2-40B4-BE49-F238E27FC236}">
                <a16:creationId xmlns:a16="http://schemas.microsoft.com/office/drawing/2014/main" id="{334D76F9-994E-4EA1-B938-018192DDFC39}"/>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CBEE92A7-B1DD-484E-9E49-95103DC3B402}"/>
              </a:ext>
            </a:extLst>
          </p:cNvPr>
          <p:cNvSpPr>
            <a:spLocks noGrp="1"/>
          </p:cNvSpPr>
          <p:nvPr>
            <p:ph type="sldNum" sz="quarter" idx="12"/>
          </p:nvPr>
        </p:nvSpPr>
        <p:spPr/>
        <p:txBody>
          <a:bodyPr/>
          <a:lstStyle/>
          <a:p>
            <a:fld id="{DFA5D71E-5CDF-4C93-8A75-5B916FDC5BEA}" type="slidenum">
              <a:rPr lang="en-US" smtClean="0"/>
              <a:pPr/>
              <a:t>21</a:t>
            </a:fld>
            <a:endParaRPr lang="en-US" dirty="0"/>
          </a:p>
        </p:txBody>
      </p:sp>
    </p:spTree>
    <p:extLst>
      <p:ext uri="{BB962C8B-B14F-4D97-AF65-F5344CB8AC3E}">
        <p14:creationId xmlns:p14="http://schemas.microsoft.com/office/powerpoint/2010/main" val="43550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3428D9-B12A-40E8-B609-AAE6016BD3AF}"/>
              </a:ext>
            </a:extLst>
          </p:cNvPr>
          <p:cNvSpPr>
            <a:spLocks noGrp="1"/>
          </p:cNvSpPr>
          <p:nvPr>
            <p:ph type="title"/>
          </p:nvPr>
        </p:nvSpPr>
        <p:spPr>
          <a:xfrm>
            <a:off x="838200" y="14017"/>
            <a:ext cx="10515600" cy="1045350"/>
          </a:xfrm>
        </p:spPr>
        <p:txBody>
          <a:bodyPr>
            <a:normAutofit fontScale="90000"/>
          </a:bodyPr>
          <a:lstStyle/>
          <a:p>
            <a:r>
              <a:rPr lang="ru-RU" dirty="0"/>
              <a:t>Качество конструирования </a:t>
            </a:r>
            <a:br>
              <a:rPr lang="ru-RU" dirty="0"/>
            </a:br>
            <a:r>
              <a:rPr lang="ru-RU" dirty="0"/>
              <a:t>(Construction Quality)</a:t>
            </a:r>
          </a:p>
        </p:txBody>
      </p:sp>
      <p:sp>
        <p:nvSpPr>
          <p:cNvPr id="3" name="Объект 2">
            <a:extLst>
              <a:ext uri="{FF2B5EF4-FFF2-40B4-BE49-F238E27FC236}">
                <a16:creationId xmlns:a16="http://schemas.microsoft.com/office/drawing/2014/main" id="{852E24C4-2875-453F-9914-F29D04F9F8CB}"/>
              </a:ext>
            </a:extLst>
          </p:cNvPr>
          <p:cNvSpPr>
            <a:spLocks noGrp="1"/>
          </p:cNvSpPr>
          <p:nvPr>
            <p:ph idx="1"/>
          </p:nvPr>
        </p:nvSpPr>
        <p:spPr>
          <a:xfrm>
            <a:off x="838199" y="1059368"/>
            <a:ext cx="10915185" cy="5706558"/>
          </a:xfrm>
        </p:spPr>
        <p:txBody>
          <a:bodyPr>
            <a:normAutofit fontScale="77500" lnSpcReduction="20000"/>
          </a:bodyPr>
          <a:lstStyle/>
          <a:p>
            <a:r>
              <a:rPr lang="ru-RU" dirty="0"/>
              <a:t>Существует ряд техник, предназначенных для обеспечения качества кода, выполняемых по мере его конструирования. Основные техники обеспечения качества, используемые в процессе конструирования, включают:</a:t>
            </a:r>
          </a:p>
          <a:p>
            <a:r>
              <a:rPr lang="ru-RU" dirty="0"/>
              <a:t>•	модульное (</a:t>
            </a:r>
            <a:r>
              <a:rPr lang="ru-RU" dirty="0" err="1"/>
              <a:t>unit</a:t>
            </a:r>
            <a:r>
              <a:rPr lang="ru-RU" dirty="0"/>
              <a:t>) и интеграционное (</a:t>
            </a:r>
            <a:r>
              <a:rPr lang="ru-RU" dirty="0" err="1"/>
              <a:t>integration</a:t>
            </a:r>
            <a:r>
              <a:rPr lang="ru-RU" dirty="0"/>
              <a:t>) тестирование</a:t>
            </a:r>
          </a:p>
          <a:p>
            <a:r>
              <a:rPr lang="ru-RU" dirty="0"/>
              <a:t>•	разработка с первичностью тестов (</a:t>
            </a:r>
            <a:r>
              <a:rPr lang="ru-RU" dirty="0" err="1"/>
              <a:t>test-first</a:t>
            </a:r>
            <a:r>
              <a:rPr lang="ru-RU" dirty="0"/>
              <a:t> </a:t>
            </a:r>
            <a:r>
              <a:rPr lang="ru-RU" dirty="0" err="1"/>
              <a:t>development</a:t>
            </a:r>
            <a:r>
              <a:rPr lang="ru-RU" dirty="0"/>
              <a:t> - тесты пишутся до конструирования кода)</a:t>
            </a:r>
          </a:p>
          <a:p>
            <a:r>
              <a:rPr lang="ru-RU" dirty="0"/>
              <a:t>•	пошаговое кодирование (деятельность по конструированию кода разбивается на мелкие шаги, только после тестирования результатов которых производится переход к следующему шагу кодирования; известен также как итеративное кодирование с тестированием)</a:t>
            </a:r>
          </a:p>
          <a:p>
            <a:r>
              <a:rPr lang="ru-RU" dirty="0"/>
              <a:t>•	использование процедур утверждений (</a:t>
            </a:r>
            <a:r>
              <a:rPr lang="ru-RU" dirty="0" err="1"/>
              <a:t>assertion</a:t>
            </a:r>
            <a:r>
              <a:rPr lang="ru-RU" dirty="0"/>
              <a:t>)</a:t>
            </a:r>
          </a:p>
          <a:p>
            <a:r>
              <a:rPr lang="ru-RU" dirty="0"/>
              <a:t>•	отладка (в привычном понимании - </a:t>
            </a:r>
            <a:r>
              <a:rPr lang="ru-RU" dirty="0" err="1"/>
              <a:t>debugging</a:t>
            </a:r>
            <a:r>
              <a:rPr lang="ru-RU" dirty="0"/>
              <a:t>)</a:t>
            </a:r>
          </a:p>
          <a:p>
            <a:r>
              <a:rPr lang="ru-RU" dirty="0"/>
              <a:t>•	технические обзоры и оценки (</a:t>
            </a:r>
            <a:r>
              <a:rPr lang="ru-RU" dirty="0" err="1"/>
              <a:t>review</a:t>
            </a:r>
            <a:r>
              <a:rPr lang="ru-RU" dirty="0"/>
              <a:t>)</a:t>
            </a:r>
          </a:p>
          <a:p>
            <a:r>
              <a:rPr lang="ru-RU" dirty="0"/>
              <a:t>•	статический анализ</a:t>
            </a:r>
          </a:p>
          <a:p>
            <a:r>
              <a:rPr lang="ru-RU" dirty="0"/>
              <a:t>Выбор и использование конкретных техник часто диктуется стандартами (внутренними и внешними), используемыми проектной командой, а также зависят от опыта и подготовленности специалистов, занимающихся конструированием кода.</a:t>
            </a:r>
          </a:p>
          <a:p>
            <a:r>
              <a:rPr lang="ru-RU" dirty="0"/>
              <a:t>Деятельность по обеспечению качества в конструировании отличается от других операций по обеспечению качества. Основное отличие заключается в фокусе на программном (исходном) коде и других артефактах (активах), тесно связанных с кодом, в частности, детальных моделях.</a:t>
            </a:r>
          </a:p>
          <a:p>
            <a:endParaRPr lang="ru-RU" dirty="0"/>
          </a:p>
        </p:txBody>
      </p:sp>
      <p:sp>
        <p:nvSpPr>
          <p:cNvPr id="4" name="Нижний колонтитул 3">
            <a:extLst>
              <a:ext uri="{FF2B5EF4-FFF2-40B4-BE49-F238E27FC236}">
                <a16:creationId xmlns:a16="http://schemas.microsoft.com/office/drawing/2014/main" id="{765DC7A9-7B01-4D56-A696-348C4329DEB7}"/>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458CA2E2-89D3-49BB-BA87-0C13EB4889BE}"/>
              </a:ext>
            </a:extLst>
          </p:cNvPr>
          <p:cNvSpPr>
            <a:spLocks noGrp="1"/>
          </p:cNvSpPr>
          <p:nvPr>
            <p:ph type="sldNum" sz="quarter" idx="12"/>
          </p:nvPr>
        </p:nvSpPr>
        <p:spPr/>
        <p:txBody>
          <a:bodyPr/>
          <a:lstStyle/>
          <a:p>
            <a:fld id="{DFA5D71E-5CDF-4C93-8A75-5B916FDC5BEA}" type="slidenum">
              <a:rPr lang="en-US" smtClean="0"/>
              <a:pPr/>
              <a:t>22</a:t>
            </a:fld>
            <a:endParaRPr lang="en-US" dirty="0"/>
          </a:p>
        </p:txBody>
      </p:sp>
    </p:spTree>
    <p:extLst>
      <p:ext uri="{BB962C8B-B14F-4D97-AF65-F5344CB8AC3E}">
        <p14:creationId xmlns:p14="http://schemas.microsoft.com/office/powerpoint/2010/main" val="1120828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0EA6F-F66C-46F4-B4BA-A38426A25C03}"/>
              </a:ext>
            </a:extLst>
          </p:cNvPr>
          <p:cNvSpPr>
            <a:spLocks noGrp="1"/>
          </p:cNvSpPr>
          <p:nvPr>
            <p:ph type="title"/>
          </p:nvPr>
        </p:nvSpPr>
        <p:spPr>
          <a:xfrm>
            <a:off x="838200" y="92075"/>
            <a:ext cx="10515600" cy="828055"/>
          </a:xfrm>
        </p:spPr>
        <p:txBody>
          <a:bodyPr/>
          <a:lstStyle/>
          <a:p>
            <a:r>
              <a:rPr lang="ru-RU" dirty="0"/>
              <a:t>Интеграция (</a:t>
            </a:r>
            <a:r>
              <a:rPr lang="ru-RU" dirty="0" err="1"/>
              <a:t>Integration</a:t>
            </a:r>
            <a:r>
              <a:rPr lang="ru-RU" dirty="0"/>
              <a:t>)</a:t>
            </a:r>
          </a:p>
        </p:txBody>
      </p:sp>
      <p:sp>
        <p:nvSpPr>
          <p:cNvPr id="3" name="Объект 2">
            <a:extLst>
              <a:ext uri="{FF2B5EF4-FFF2-40B4-BE49-F238E27FC236}">
                <a16:creationId xmlns:a16="http://schemas.microsoft.com/office/drawing/2014/main" id="{ECE4BF0C-8B52-4074-85B9-28AF5CC17F4B}"/>
              </a:ext>
            </a:extLst>
          </p:cNvPr>
          <p:cNvSpPr>
            <a:spLocks noGrp="1"/>
          </p:cNvSpPr>
          <p:nvPr>
            <p:ph idx="1"/>
          </p:nvPr>
        </p:nvSpPr>
        <p:spPr>
          <a:xfrm>
            <a:off x="916259" y="1037063"/>
            <a:ext cx="10515600" cy="5128748"/>
          </a:xfrm>
        </p:spPr>
        <p:txBody>
          <a:bodyPr>
            <a:normAutofit fontScale="85000" lnSpcReduction="20000"/>
          </a:bodyPr>
          <a:lstStyle/>
          <a:p>
            <a:r>
              <a:rPr lang="ru-RU" dirty="0"/>
              <a:t>интеграция </a:t>
            </a:r>
          </a:p>
          <a:p>
            <a:pPr lvl="1"/>
            <a:r>
              <a:rPr lang="ru-RU" dirty="0"/>
              <a:t>отдельно сконструированных операций (процедур), </a:t>
            </a:r>
          </a:p>
          <a:p>
            <a:pPr lvl="1"/>
            <a:r>
              <a:rPr lang="ru-RU" dirty="0"/>
              <a:t>классов, </a:t>
            </a:r>
          </a:p>
          <a:p>
            <a:pPr lvl="1"/>
            <a:r>
              <a:rPr lang="ru-RU" dirty="0"/>
              <a:t>компонентов и </a:t>
            </a:r>
          </a:p>
          <a:p>
            <a:pPr lvl="1"/>
            <a:r>
              <a:rPr lang="ru-RU" dirty="0"/>
              <a:t>подсистем (модулей). </a:t>
            </a:r>
          </a:p>
          <a:p>
            <a:pPr lvl="1"/>
            <a:r>
              <a:rPr lang="ru-RU" dirty="0">
                <a:solidFill>
                  <a:schemeClr val="bg1">
                    <a:lumMod val="50000"/>
                  </a:schemeClr>
                </a:solidFill>
              </a:rPr>
              <a:t>В дополнение к этому, некоторые программные системы нуждаются </a:t>
            </a:r>
            <a:br>
              <a:rPr lang="ru-RU" dirty="0">
                <a:solidFill>
                  <a:schemeClr val="bg1">
                    <a:lumMod val="50000"/>
                  </a:schemeClr>
                </a:solidFill>
              </a:rPr>
            </a:br>
            <a:r>
              <a:rPr lang="ru-RU" dirty="0"/>
              <a:t>в специальной интеграции с другим программным и аппаратным обеспечением.</a:t>
            </a:r>
          </a:p>
          <a:p>
            <a:r>
              <a:rPr lang="ru-RU" dirty="0"/>
              <a:t>аспекты интеграции:</a:t>
            </a:r>
          </a:p>
          <a:p>
            <a:pPr marL="0" indent="0">
              <a:buNone/>
            </a:pPr>
            <a:r>
              <a:rPr lang="ru-RU" dirty="0"/>
              <a:t>• планирование последовательности, в которой интегрируются компоненты;</a:t>
            </a:r>
          </a:p>
          <a:p>
            <a:pPr marL="0" indent="0">
              <a:buNone/>
            </a:pPr>
            <a:r>
              <a:rPr lang="ru-RU" dirty="0"/>
              <a:t>• обеспечение поддержки создания промежуточных версий программного обеспечения;</a:t>
            </a:r>
          </a:p>
          <a:p>
            <a:pPr marL="0" indent="0">
              <a:buNone/>
            </a:pPr>
            <a:r>
              <a:rPr lang="ru-RU" dirty="0"/>
              <a:t>• задание “глубины” тестирования (в частности, на основе критериев “приемлемого” качества) и других работ по обеспечению качества интегрируемых в дальнейшем компонент;</a:t>
            </a:r>
          </a:p>
          <a:p>
            <a:pPr marL="0" indent="0">
              <a:buNone/>
            </a:pPr>
            <a:r>
              <a:rPr lang="ru-RU" dirty="0"/>
              <a:t>• определение этапных точек проекта, когда будут тестироваться промежуточные версии конструируемой программной системы.</a:t>
            </a:r>
          </a:p>
          <a:p>
            <a:endParaRPr lang="ru-RU" dirty="0"/>
          </a:p>
        </p:txBody>
      </p:sp>
      <p:sp>
        <p:nvSpPr>
          <p:cNvPr id="4" name="Нижний колонтитул 3">
            <a:extLst>
              <a:ext uri="{FF2B5EF4-FFF2-40B4-BE49-F238E27FC236}">
                <a16:creationId xmlns:a16="http://schemas.microsoft.com/office/drawing/2014/main" id="{94A70F32-5220-4E0F-9D60-84E5FEBBA1B7}"/>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63E205FA-159D-4949-8AF6-1BF9968C4D95}"/>
              </a:ext>
            </a:extLst>
          </p:cNvPr>
          <p:cNvSpPr>
            <a:spLocks noGrp="1"/>
          </p:cNvSpPr>
          <p:nvPr>
            <p:ph type="sldNum" sz="quarter" idx="12"/>
          </p:nvPr>
        </p:nvSpPr>
        <p:spPr/>
        <p:txBody>
          <a:bodyPr/>
          <a:lstStyle/>
          <a:p>
            <a:fld id="{DFA5D71E-5CDF-4C93-8A75-5B916FDC5BEA}" type="slidenum">
              <a:rPr lang="en-US" smtClean="0"/>
              <a:pPr/>
              <a:t>23</a:t>
            </a:fld>
            <a:endParaRPr lang="en-US" dirty="0"/>
          </a:p>
        </p:txBody>
      </p:sp>
    </p:spTree>
    <p:extLst>
      <p:ext uri="{BB962C8B-B14F-4D97-AF65-F5344CB8AC3E}">
        <p14:creationId xmlns:p14="http://schemas.microsoft.com/office/powerpoint/2010/main" val="85359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F3CB39AC-FFD8-AA0A-4EDA-2A528BCCCF35}"/>
              </a:ext>
            </a:extLst>
          </p:cNvPr>
          <p:cNvSpPr>
            <a:spLocks noGrp="1"/>
          </p:cNvSpPr>
          <p:nvPr>
            <p:ph type="title"/>
          </p:nvPr>
        </p:nvSpPr>
        <p:spPr>
          <a:xfrm>
            <a:off x="1000284" y="490185"/>
            <a:ext cx="3300784" cy="1600200"/>
          </a:xfrm>
        </p:spPr>
        <p:txBody>
          <a:bodyPr/>
          <a:lstStyle/>
          <a:p>
            <a:r>
              <a:rPr lang="ru-RU" dirty="0"/>
              <a:t>Домашнее задание</a:t>
            </a:r>
          </a:p>
        </p:txBody>
      </p:sp>
      <p:sp>
        <p:nvSpPr>
          <p:cNvPr id="7" name="Объект 6">
            <a:extLst>
              <a:ext uri="{FF2B5EF4-FFF2-40B4-BE49-F238E27FC236}">
                <a16:creationId xmlns:a16="http://schemas.microsoft.com/office/drawing/2014/main" id="{27B2198E-E11A-2291-54CA-20C29E430DDA}"/>
              </a:ext>
            </a:extLst>
          </p:cNvPr>
          <p:cNvSpPr>
            <a:spLocks noGrp="1"/>
          </p:cNvSpPr>
          <p:nvPr>
            <p:ph idx="1"/>
          </p:nvPr>
        </p:nvSpPr>
        <p:spPr>
          <a:xfrm>
            <a:off x="3543300" y="987425"/>
            <a:ext cx="8382000" cy="4873625"/>
          </a:xfrm>
        </p:spPr>
        <p:txBody>
          <a:bodyPr>
            <a:noAutofit/>
          </a:bodyPr>
          <a:lstStyle/>
          <a:p>
            <a:r>
              <a:rPr lang="ru-RU" sz="1600" dirty="0"/>
              <a:t>Процессы жизненного цикла программных средств. ГОСТ Р ИСОМЭК 12207-2010</a:t>
            </a:r>
          </a:p>
          <a:p>
            <a:r>
              <a:rPr lang="ru-RU" sz="1600" dirty="0"/>
              <a:t>ГОСТ Р ИСО/МЭК 15288 — 2005 Стандарт Информационная технология. Системная инженерия. Процессы жизненного цикла систем</a:t>
            </a:r>
          </a:p>
          <a:p>
            <a:r>
              <a:rPr lang="ru-RU" sz="1600" dirty="0"/>
              <a:t>Открытые публикация по методам конструирования</a:t>
            </a:r>
          </a:p>
        </p:txBody>
      </p:sp>
      <p:pic>
        <p:nvPicPr>
          <p:cNvPr id="17" name="Рисунок 16">
            <a:extLst>
              <a:ext uri="{FF2B5EF4-FFF2-40B4-BE49-F238E27FC236}">
                <a16:creationId xmlns:a16="http://schemas.microsoft.com/office/drawing/2014/main" id="{4413BD20-0A0D-65D3-8535-FB888B77064D}"/>
              </a:ext>
            </a:extLst>
          </p:cNvPr>
          <p:cNvPicPr>
            <a:picLocks noChangeAspect="1"/>
          </p:cNvPicPr>
          <p:nvPr/>
        </p:nvPicPr>
        <p:blipFill>
          <a:blip r:embed="rId2"/>
          <a:stretch>
            <a:fillRect/>
          </a:stretch>
        </p:blipFill>
        <p:spPr>
          <a:xfrm>
            <a:off x="162141" y="3592160"/>
            <a:ext cx="3973612" cy="2594679"/>
          </a:xfrm>
          <a:prstGeom prst="rect">
            <a:avLst/>
          </a:prstGeom>
        </p:spPr>
      </p:pic>
      <p:sp>
        <p:nvSpPr>
          <p:cNvPr id="4" name="Нижний колонтитул 3">
            <a:extLst>
              <a:ext uri="{FF2B5EF4-FFF2-40B4-BE49-F238E27FC236}">
                <a16:creationId xmlns:a16="http://schemas.microsoft.com/office/drawing/2014/main" id="{BA62E7A7-EA3D-F783-7964-85D5A8C7C331}"/>
              </a:ext>
            </a:extLst>
          </p:cNvPr>
          <p:cNvSpPr>
            <a:spLocks noGrp="1"/>
          </p:cNvSpPr>
          <p:nvPr>
            <p:ph type="ftr" sz="quarter" idx="11"/>
          </p:nvPr>
        </p:nvSpPr>
        <p:spPr/>
        <p:txBody>
          <a:bodyPr/>
          <a:lstStyle/>
          <a:p>
            <a:r>
              <a:rPr lang="ru-RU"/>
              <a:t>© Д.В.Кубраков, 2023</a:t>
            </a:r>
            <a:endParaRPr lang="en-US" dirty="0"/>
          </a:p>
        </p:txBody>
      </p:sp>
      <p:sp>
        <p:nvSpPr>
          <p:cNvPr id="5" name="Номер слайда 4">
            <a:extLst>
              <a:ext uri="{FF2B5EF4-FFF2-40B4-BE49-F238E27FC236}">
                <a16:creationId xmlns:a16="http://schemas.microsoft.com/office/drawing/2014/main" id="{5F7BEC99-DC93-DFFC-D3A9-08F9489AA3A1}"/>
              </a:ext>
            </a:extLst>
          </p:cNvPr>
          <p:cNvSpPr>
            <a:spLocks noGrp="1"/>
          </p:cNvSpPr>
          <p:nvPr>
            <p:ph type="sldNum" sz="quarter" idx="12"/>
          </p:nvPr>
        </p:nvSpPr>
        <p:spPr/>
        <p:txBody>
          <a:bodyPr/>
          <a:lstStyle/>
          <a:p>
            <a:fld id="{DFA5D71E-5CDF-4C93-8A75-5B916FDC5BEA}" type="slidenum">
              <a:rPr lang="en-US" smtClean="0"/>
              <a:pPr/>
              <a:t>24</a:t>
            </a:fld>
            <a:endParaRPr lang="en-US" dirty="0"/>
          </a:p>
        </p:txBody>
      </p:sp>
    </p:spTree>
    <p:extLst>
      <p:ext uri="{BB962C8B-B14F-4D97-AF65-F5344CB8AC3E}">
        <p14:creationId xmlns:p14="http://schemas.microsoft.com/office/powerpoint/2010/main" val="4145715031"/>
      </p:ext>
    </p:extLst>
  </p:cSld>
  <p:clrMapOvr>
    <a:masterClrMapping/>
  </p:clrMapOvr>
</p:sld>
</file>

<file path=ppt/theme/theme1.xml><?xml version="1.0" encoding="utf-8"?>
<a:theme xmlns:a="http://schemas.openxmlformats.org/drawingml/2006/main" name="MinimalXOVTI">
  <a:themeElements>
    <a:clrScheme name="Синий">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1856</TotalTime>
  <Words>4694</Words>
  <Application>Microsoft Office PowerPoint</Application>
  <PresentationFormat>Широкоэкранный</PresentationFormat>
  <Paragraphs>205</Paragraphs>
  <Slides>24</Slides>
  <Notes>5</Notes>
  <HiddenSlides>0</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24</vt:i4>
      </vt:variant>
    </vt:vector>
  </HeadingPairs>
  <TitlesOfParts>
    <vt:vector size="37" baseType="lpstr">
      <vt:lpstr>Arial</vt:lpstr>
      <vt:lpstr>Arial Black</vt:lpstr>
      <vt:lpstr>Arial Narrow</vt:lpstr>
      <vt:lpstr>Calibri</vt:lpstr>
      <vt:lpstr>Courier New</vt:lpstr>
      <vt:lpstr>Impact</vt:lpstr>
      <vt:lpstr>Open sans</vt:lpstr>
      <vt:lpstr>Segoe UI</vt:lpstr>
      <vt:lpstr>Symbol</vt:lpstr>
      <vt:lpstr>Times New Roman</vt:lpstr>
      <vt:lpstr>Verdana</vt:lpstr>
      <vt:lpstr>YS Text</vt:lpstr>
      <vt:lpstr>MinimalXOVTI</vt:lpstr>
      <vt:lpstr>Программная инженерия</vt:lpstr>
      <vt:lpstr>Тема 4: Конструирование программного обеспечения</vt:lpstr>
      <vt:lpstr>Место конструирования программного обеспечения в программной инженерии</vt:lpstr>
      <vt:lpstr>Определение конструирования в программной инженерии</vt:lpstr>
      <vt:lpstr>Объем понятия конструирования в программной инженерии</vt:lpstr>
      <vt:lpstr>Основы конструирования  (Software Construction Fundamentals)</vt:lpstr>
      <vt:lpstr>Минимизация сложности (Minimizing Complexity)</vt:lpstr>
      <vt:lpstr>Ожидание изменений (Anticipating Changes)</vt:lpstr>
      <vt:lpstr>Конструирование с возможностью проверки (Constructing for Verification)</vt:lpstr>
      <vt:lpstr>Стандарты в конструировании  (Standards in Constructing)</vt:lpstr>
      <vt:lpstr>Управление конструированием (Managing Construction)</vt:lpstr>
      <vt:lpstr>Модели конструирования (Construction Models)</vt:lpstr>
      <vt:lpstr>Планирование конструирования (Construction Planning) </vt:lpstr>
      <vt:lpstr>Измерения в конструировании  (Construction Measurement)</vt:lpstr>
      <vt:lpstr>Практические соображения (Practical Considerations)</vt:lpstr>
      <vt:lpstr>Проектирование в конструировании (Construction Design)</vt:lpstr>
      <vt:lpstr>Языки конструирования  (Construction Languages)</vt:lpstr>
      <vt:lpstr>Языки конструирования  (Construction Languages)</vt:lpstr>
      <vt:lpstr>Кодирование (Coding)</vt:lpstr>
      <vt:lpstr>Тестирование в конструировании (Construction Testing)</vt:lpstr>
      <vt:lpstr>Повторное использование (Reuse)</vt:lpstr>
      <vt:lpstr>Качество конструирования  (Construction Quality)</vt:lpstr>
      <vt:lpstr>Интеграция (Integration)</vt:lpstr>
      <vt:lpstr>Домашнее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проектирования, развертывания и  сопровождения информационных систем</dc:title>
  <dc:creator>4562</dc:creator>
  <cp:lastModifiedBy>KDV</cp:lastModifiedBy>
  <cp:revision>53</cp:revision>
  <dcterms:created xsi:type="dcterms:W3CDTF">2023-02-07T19:37:43Z</dcterms:created>
  <dcterms:modified xsi:type="dcterms:W3CDTF">2025-10-29T13:36:04Z</dcterms:modified>
</cp:coreProperties>
</file>