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6"/>
  </p:notesMasterIdLst>
  <p:sldIdLst>
    <p:sldId id="256" r:id="rId2"/>
    <p:sldId id="260" r:id="rId3"/>
    <p:sldId id="257" r:id="rId4"/>
    <p:sldId id="272" r:id="rId5"/>
    <p:sldId id="273" r:id="rId6"/>
    <p:sldId id="274" r:id="rId7"/>
    <p:sldId id="275" r:id="rId8"/>
    <p:sldId id="283" r:id="rId9"/>
    <p:sldId id="276" r:id="rId10"/>
    <p:sldId id="284" r:id="rId11"/>
    <p:sldId id="285" r:id="rId12"/>
    <p:sldId id="286" r:id="rId13"/>
    <p:sldId id="287" r:id="rId14"/>
    <p:sldId id="263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020B3-367F-41BF-A5D2-D2C6898A67B3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9912B-E66D-4A8E-8CDB-D0164B49B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34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 Narrow" panose="020B06060202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0805-E946-49A1-A715-7C9D8C1CD6FE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ern="0" cap="none" spc="0" baseline="0"/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9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 Narrow" panose="020B0606020202030204" pitchFamily="34" charset="0"/>
              </a:defRPr>
            </a:lvl2pPr>
            <a:lvl3pPr>
              <a:defRPr>
                <a:latin typeface="Arial Narrow" panose="020B060602020203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>
                <a:latin typeface="Arial Narrow" panose="020B0606020202030204" pitchFamily="34" charset="0"/>
              </a:defRPr>
            </a:lvl4pPr>
            <a:lvl5pPr>
              <a:defRPr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0E72-E0A4-4D7B-815B-6413EF16F256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ern="0" cap="none" spc="0" baseline="0"/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BB1964A-EEF4-7C34-0A53-E047F16555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996" r="44914"/>
          <a:stretch/>
        </p:blipFill>
        <p:spPr>
          <a:xfrm flipH="1">
            <a:off x="2959" y="5629"/>
            <a:ext cx="835241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B8041D-61A8-6E8D-B1A0-9F40D3F9F1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04" y="478053"/>
            <a:ext cx="742950" cy="7143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BF58049-EBA6-6666-4932-E3FF1741EF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918"/>
            <a:ext cx="843280" cy="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EA5A-1AE2-458D-9AE6-FF6025E0C491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2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C53A-BD8C-4CF4-B47F-135838B79B0F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63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8A838-72D8-44E7-9178-64A7CE5C804D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86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27D9-E4EA-4EB0-8ED6-C829077BE1AC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7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BFE2-EF3F-417A-903C-9A93937A9246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9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E38BA-0E5D-4FC3-AC73-BA0F12FAEDF1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4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E0786-E990-492E-AE6E-66BD6C6E2D32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7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AB7EE-B52D-4FD2-A1CD-223903584E4A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DFF47-8CB5-4F0A-88AE-CAE1CC8C1576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7780B-8D62-4CAC-B30D-4811E6CDB64A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kern="0" cap="none" spc="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spc="150" baseline="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F01306B9-4B5A-554A-3E05-3740307511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8996" r="44914"/>
          <a:stretch/>
        </p:blipFill>
        <p:spPr>
          <a:xfrm flipH="1">
            <a:off x="2959" y="5629"/>
            <a:ext cx="835241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460162-D4D7-727E-4087-A21E1BC61EA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9104" y="478053"/>
            <a:ext cx="742950" cy="7143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C66A050-02AF-9111-FA5E-72472BBA934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918"/>
            <a:ext cx="843280" cy="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1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70C0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dvkubrakov@yandex.r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4ABA013-0939-4293-B39F-3B85576FB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22250" y="1219200"/>
            <a:ext cx="373689" cy="373689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5" name="Graphic 10">
            <a:extLst>
              <a:ext uri="{FF2B5EF4-FFF2-40B4-BE49-F238E27FC236}">
                <a16:creationId xmlns:a16="http://schemas.microsoft.com/office/drawing/2014/main" id="{51E206C0-387B-4108-8BD3-D98A4DA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5890" y="28456"/>
            <a:ext cx="1977027" cy="1977027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87982-DD03-CD60-C60E-D06357F40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634" y="1181668"/>
            <a:ext cx="6332586" cy="3184274"/>
          </a:xfrm>
        </p:spPr>
        <p:txBody>
          <a:bodyPr anchor="b">
            <a:noAutofit/>
          </a:bodyPr>
          <a:lstStyle/>
          <a:p>
            <a:pPr algn="l"/>
            <a:r>
              <a:rPr lang="ru-RU" dirty="0"/>
              <a:t>Программная инженерия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AAB4E2-8F8F-A87E-1CD0-D82B1A4E6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53" y="4524807"/>
            <a:ext cx="6353035" cy="1495379"/>
          </a:xfrm>
        </p:spPr>
        <p:txBody>
          <a:bodyPr>
            <a:normAutofit/>
          </a:bodyPr>
          <a:lstStyle/>
          <a:p>
            <a:pPr algn="l"/>
            <a:r>
              <a:rPr lang="ru-RU" sz="2200" dirty="0"/>
              <a:t>Дмитрий Владимирович </a:t>
            </a:r>
            <a:r>
              <a:rPr lang="ru-RU" sz="2200" dirty="0" err="1"/>
              <a:t>Кубраков</a:t>
            </a:r>
            <a:br>
              <a:rPr lang="ru-RU" sz="2200" dirty="0"/>
            </a:br>
            <a:r>
              <a:rPr lang="en-US" sz="2200" dirty="0">
                <a:hlinkClick r:id="rId2"/>
              </a:rPr>
              <a:t>dvkubrakov@yandex.ru</a:t>
            </a:r>
            <a:br>
              <a:rPr lang="ru-RU" sz="2200" dirty="0"/>
            </a:br>
            <a:endParaRPr lang="ru-RU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81D93-1CCB-D99A-90E3-80BEE3ED79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52" r="35580"/>
          <a:stretch/>
        </p:blipFill>
        <p:spPr>
          <a:xfrm>
            <a:off x="7330303" y="1"/>
            <a:ext cx="4851171" cy="6858000"/>
          </a:xfrm>
          <a:prstGeom prst="rect">
            <a:avLst/>
          </a:prstGeom>
        </p:spPr>
      </p:pic>
      <p:sp useBgFill="1">
        <p:nvSpPr>
          <p:cNvPr id="17" name="Graphic 10">
            <a:extLst>
              <a:ext uri="{FF2B5EF4-FFF2-40B4-BE49-F238E27FC236}">
                <a16:creationId xmlns:a16="http://schemas.microsoft.com/office/drawing/2014/main" id="{74A68384-D945-4F45-B9FB-C5A00DCC9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967314" y="5207478"/>
            <a:ext cx="719888" cy="719888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147AE8-D193-9BCD-E6F6-8537542F2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14" y="570040"/>
            <a:ext cx="7429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0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2257B39-652C-19DA-7F0C-98DB3BE6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073"/>
            <a:ext cx="10515600" cy="1962364"/>
          </a:xfrm>
        </p:spPr>
        <p:txBody>
          <a:bodyPr>
            <a:noAutofit/>
          </a:bodyPr>
          <a:lstStyle/>
          <a:p>
            <a:r>
              <a:rPr lang="ru-RU" sz="4400" dirty="0"/>
              <a:t>Тема 2-2: Программные требования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E856234-CE97-B13C-9F29-1CFC39086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611967"/>
            <a:ext cx="11108267" cy="3471962"/>
          </a:xfrm>
        </p:spPr>
        <p:txBody>
          <a:bodyPr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Место программных требования в программной инженерии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Определение программных требований в программной инженерии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Объем понятия программных требований в программной инженерии.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Процесс(ы) управления качеством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</a:rPr>
              <a:t>Практические соображения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ED3A2E-9E2F-BB29-A210-810328DC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0B03AF-AB6B-E580-9C13-D493D038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2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Место программных требований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2FD9986B-08C9-43B4-AD92-08B85B465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3800" y="286813"/>
            <a:ext cx="669159" cy="4334985"/>
          </a:xfrm>
        </p:spPr>
        <p:txBody>
          <a:bodyPr>
            <a:normAutofit/>
          </a:bodyPr>
          <a:lstStyle/>
          <a:p>
            <a:r>
              <a:rPr lang="ru-RU" sz="800" dirty="0"/>
              <a:t>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84CC3E-5FC2-4AA2-B0BB-39AD5BA78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32" y="652567"/>
            <a:ext cx="9155536" cy="583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0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Определение программных требований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1"/>
            <a:ext cx="10515600" cy="401928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определения понятия “требование” (на основе работ </a:t>
            </a:r>
            <a:r>
              <a:rPr lang="ru-RU" dirty="0" err="1"/>
              <a:t>Вигерса</a:t>
            </a:r>
            <a:r>
              <a:rPr lang="ru-RU" dirty="0"/>
              <a:t> и стандарта IEEE Standard </a:t>
            </a:r>
            <a:r>
              <a:rPr lang="ru-RU" dirty="0" err="1"/>
              <a:t>glossary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</a:t>
            </a:r>
            <a:r>
              <a:rPr lang="ru-RU" dirty="0" err="1"/>
              <a:t>terminology</a:t>
            </a:r>
            <a:r>
              <a:rPr lang="ru-RU" dirty="0"/>
              <a:t>, 1990):</a:t>
            </a:r>
          </a:p>
          <a:p>
            <a:r>
              <a:rPr lang="ru-RU" b="1" dirty="0"/>
              <a:t>условие или возможность, требуемая пользователем для решения задач или достижения целей;</a:t>
            </a:r>
          </a:p>
          <a:p>
            <a:r>
              <a:rPr lang="ru-RU" b="1" dirty="0"/>
              <a:t>условие или возможность, которые должны удовлетворяться системой/компонентом системы или которыми система/компонент системы должна обладать для обеспечения условий контракта, стандартов, спецификаций или др. регулирующими документами;</a:t>
            </a:r>
          </a:p>
          <a:p>
            <a:r>
              <a:rPr lang="ru-RU" b="1" dirty="0"/>
              <a:t>документальная репрезентация (зафиксированное представление, определение, описание) условий или возможностей, перечисленных в предыдущих пунктах.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33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Объем понятия программных требований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1"/>
            <a:ext cx="10515600" cy="4019284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99463D-F00F-4062-AD8C-A43DC301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382"/>
            <a:ext cx="12192000" cy="572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5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Основы программных требований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1"/>
            <a:ext cx="10515600" cy="4019284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7" name="Объект 10">
            <a:extLst>
              <a:ext uri="{FF2B5EF4-FFF2-40B4-BE49-F238E27FC236}">
                <a16:creationId xmlns:a16="http://schemas.microsoft.com/office/drawing/2014/main" id="{51B6387D-40AA-4A1C-B2CB-3161AF8FB74B}"/>
              </a:ext>
            </a:extLst>
          </p:cNvPr>
          <p:cNvSpPr txBox="1">
            <a:spLocks/>
          </p:cNvSpPr>
          <p:nvPr/>
        </p:nvSpPr>
        <p:spPr>
          <a:xfrm>
            <a:off x="1149790" y="1261507"/>
            <a:ext cx="10515599" cy="4334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13726F-9DD0-4CDF-8699-A833AF43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15" y="588078"/>
            <a:ext cx="7499826" cy="574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4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Процесс(ы) работы с требованиями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1"/>
            <a:ext cx="10515600" cy="2380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Характеристики</a:t>
            </a:r>
          </a:p>
          <a:p>
            <a:r>
              <a:rPr lang="ru-RU" dirty="0"/>
              <a:t>Непрерывность</a:t>
            </a:r>
          </a:p>
          <a:p>
            <a:r>
              <a:rPr lang="ru-RU" dirty="0"/>
              <a:t>Направленность на конкретные детали</a:t>
            </a:r>
          </a:p>
          <a:p>
            <a:r>
              <a:rPr lang="ru-RU" dirty="0"/>
              <a:t>Приспосабливается к условиям организации, проекта, процесса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BF9E7F75-FF57-4337-86A6-A6669A630E02}"/>
              </a:ext>
            </a:extLst>
          </p:cNvPr>
          <p:cNvSpPr txBox="1">
            <a:spLocks/>
          </p:cNvSpPr>
          <p:nvPr/>
        </p:nvSpPr>
        <p:spPr>
          <a:xfrm>
            <a:off x="955017" y="3040455"/>
            <a:ext cx="10515600" cy="23804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egoe UI" panose="020B0502040204020203" pitchFamily="34" charset="0"/>
              <a:buNone/>
            </a:pPr>
            <a:r>
              <a:rPr lang="ru-RU" dirty="0"/>
              <a:t>Участники</a:t>
            </a:r>
          </a:p>
          <a:p>
            <a:r>
              <a:rPr lang="ru-RU" dirty="0"/>
              <a:t>Пользователи</a:t>
            </a:r>
          </a:p>
          <a:p>
            <a:r>
              <a:rPr lang="ru-RU" dirty="0"/>
              <a:t>Заказчики</a:t>
            </a:r>
          </a:p>
          <a:p>
            <a:r>
              <a:rPr lang="ru-RU" dirty="0"/>
              <a:t>Аналитики</a:t>
            </a:r>
          </a:p>
          <a:p>
            <a:r>
              <a:rPr lang="ru-RU" dirty="0"/>
              <a:t>Регуляторы</a:t>
            </a:r>
          </a:p>
          <a:p>
            <a:r>
              <a:rPr lang="ru-RU" dirty="0"/>
              <a:t>Инженеры и программисты</a:t>
            </a:r>
          </a:p>
        </p:txBody>
      </p:sp>
    </p:spTree>
    <p:extLst>
      <p:ext uri="{BB962C8B-B14F-4D97-AF65-F5344CB8AC3E}">
        <p14:creationId xmlns:p14="http://schemas.microsoft.com/office/powerpoint/2010/main" val="107893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Процесс(ы) работы с требованиями. Поддержка и улучшение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BF9E7F75-FF57-4337-86A6-A6669A630E02}"/>
              </a:ext>
            </a:extLst>
          </p:cNvPr>
          <p:cNvSpPr txBox="1">
            <a:spLocks/>
          </p:cNvSpPr>
          <p:nvPr/>
        </p:nvSpPr>
        <p:spPr>
          <a:xfrm>
            <a:off x="1090819" y="1265976"/>
            <a:ext cx="10515600" cy="2380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20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Segoe UI" panose="020B0502040204020203" pitchFamily="34" charset="0"/>
              <a:buChar char="+"/>
              <a:defRPr sz="1800" kern="1200">
                <a:solidFill>
                  <a:schemeClr val="tx1"/>
                </a:solidFill>
                <a:latin typeface="Arial Narrow" panose="020B0606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egoe UI" panose="020B0502040204020203" pitchFamily="34" charset="0"/>
              <a:buNone/>
            </a:pPr>
            <a:r>
              <a:rPr lang="ru-RU" dirty="0"/>
              <a:t>Процессы работы с требованиями</a:t>
            </a:r>
          </a:p>
          <a:p>
            <a:pPr marL="0" indent="0">
              <a:buFont typeface="Segoe UI" panose="020B0502040204020203" pitchFamily="34" charset="0"/>
              <a:buNone/>
            </a:pPr>
            <a:r>
              <a:rPr lang="ru-RU" dirty="0"/>
              <a:t>Их поддержка</a:t>
            </a:r>
          </a:p>
          <a:p>
            <a:pPr marL="0" indent="0">
              <a:buFont typeface="Segoe UI" panose="020B0502040204020203" pitchFamily="34" charset="0"/>
              <a:buNone/>
            </a:pPr>
            <a:r>
              <a:rPr lang="ru-RU" dirty="0"/>
              <a:t>Качество и улучшение процессов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6F30A236-5958-4047-B63C-12269226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599" y="864786"/>
            <a:ext cx="2860017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96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Извлечение требований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0"/>
            <a:ext cx="10515600" cy="5766569"/>
          </a:xfrm>
        </p:spPr>
        <p:txBody>
          <a:bodyPr>
            <a:normAutofit/>
          </a:bodyPr>
          <a:lstStyle/>
          <a:p>
            <a:r>
              <a:rPr lang="ru-RU" b="1" dirty="0"/>
              <a:t>Источники (люди, их работа, документы)</a:t>
            </a:r>
          </a:p>
          <a:p>
            <a:endParaRPr lang="ru-RU" b="1" dirty="0"/>
          </a:p>
          <a:p>
            <a:r>
              <a:rPr lang="ru-RU" b="1" dirty="0"/>
              <a:t>Методы извлечения (социальные, технические, аналитические, моделирующие)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3574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Анализ требований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0"/>
            <a:ext cx="10515600" cy="5766569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Классификация требований</a:t>
            </a:r>
          </a:p>
          <a:p>
            <a:pPr lvl="1"/>
            <a:r>
              <a:rPr lang="ru-RU" b="1" dirty="0"/>
              <a:t>…</a:t>
            </a:r>
          </a:p>
          <a:p>
            <a:pPr lvl="1"/>
            <a:r>
              <a:rPr lang="ru-RU" b="1" dirty="0"/>
              <a:t>Приоритет</a:t>
            </a:r>
          </a:p>
          <a:p>
            <a:pPr lvl="1"/>
            <a:r>
              <a:rPr lang="ru-RU" b="1" dirty="0"/>
              <a:t>…</a:t>
            </a:r>
          </a:p>
          <a:p>
            <a:r>
              <a:rPr lang="ru-RU" b="1" dirty="0"/>
              <a:t>Концептуальное моделирование</a:t>
            </a:r>
          </a:p>
          <a:p>
            <a:endParaRPr lang="ru-RU" b="1" dirty="0"/>
          </a:p>
          <a:p>
            <a:r>
              <a:rPr lang="ru-RU" b="1" dirty="0"/>
              <a:t>Архитектурное проектирование и распределение требований</a:t>
            </a:r>
          </a:p>
          <a:p>
            <a:pPr lvl="1"/>
            <a:r>
              <a:rPr lang="ru-RU" b="1" dirty="0"/>
              <a:t>•	Стандарт </a:t>
            </a:r>
            <a:r>
              <a:rPr lang="en-GB" b="1" dirty="0"/>
              <a:t>IEEE 1471-2000 “Recommended Practice for Architectural Description of Software Intensive Systems”;</a:t>
            </a:r>
          </a:p>
          <a:p>
            <a:pPr lvl="1"/>
            <a:r>
              <a:rPr lang="en-GB" b="1" dirty="0"/>
              <a:t>•	</a:t>
            </a:r>
            <a:r>
              <a:rPr lang="ru-RU" b="1" dirty="0"/>
              <a:t>Модель </a:t>
            </a:r>
            <a:r>
              <a:rPr lang="ru-RU" b="1" dirty="0" err="1"/>
              <a:t>Захмана</a:t>
            </a:r>
            <a:r>
              <a:rPr lang="ru-RU" b="1" dirty="0"/>
              <a:t> – </a:t>
            </a:r>
            <a:r>
              <a:rPr lang="en-GB" b="1" dirty="0"/>
              <a:t>Zachman Framework (www.zifa.com);</a:t>
            </a:r>
          </a:p>
          <a:p>
            <a:pPr lvl="1"/>
            <a:r>
              <a:rPr lang="en-GB" b="1" dirty="0"/>
              <a:t>•	TOGAF – The Open Group Architecture Framework (www.opengroup.org/architecture/).</a:t>
            </a:r>
          </a:p>
          <a:p>
            <a:pPr lvl="2"/>
            <a:r>
              <a:rPr lang="ru-RU" b="1" dirty="0"/>
              <a:t>Важно заметить, что ни в коем случае не надо путать архитектурные рекомендации (</a:t>
            </a:r>
            <a:r>
              <a:rPr lang="en-GB" b="1" dirty="0"/>
              <a:t>Architectural Guidelines) </a:t>
            </a:r>
            <a:r>
              <a:rPr lang="ru-RU" b="1" dirty="0"/>
              <a:t>с практиками и стандартами архитектурного проектирования. Одни (например, </a:t>
            </a:r>
            <a:r>
              <a:rPr lang="en-GB" b="1" dirty="0"/>
              <a:t>Federal Enterprise Architecture Framework FEAF) </a:t>
            </a:r>
            <a:r>
              <a:rPr lang="ru-RU" b="1" dirty="0"/>
              <a:t>дают рекомендации по конкретным архитектурно-технологическим решениям. Другие концентрируются именно на том, чему стоит уделить внимание при создании архитектуры, как ее описать и детализировать, и что из себя представляет архитектура, как таковая (например, </a:t>
            </a:r>
            <a:r>
              <a:rPr lang="en-GB" b="1" dirty="0"/>
              <a:t>ISO 15704 Industrial Automation Systems – Requirements for Enterprise-Reference Architectures and Methodologies).</a:t>
            </a:r>
          </a:p>
          <a:p>
            <a:pPr lvl="1"/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94800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Спецификации требований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0"/>
            <a:ext cx="10515600" cy="5766569"/>
          </a:xfrm>
        </p:spPr>
        <p:txBody>
          <a:bodyPr>
            <a:normAutofit/>
          </a:bodyPr>
          <a:lstStyle/>
          <a:p>
            <a:r>
              <a:rPr lang="ru-RU" b="1" dirty="0"/>
              <a:t>Определение системы</a:t>
            </a:r>
          </a:p>
          <a:p>
            <a:r>
              <a:rPr lang="ru-RU" b="1" dirty="0"/>
              <a:t>Требования от системы </a:t>
            </a:r>
          </a:p>
          <a:p>
            <a:r>
              <a:rPr lang="ru-RU" b="1" dirty="0"/>
              <a:t>Требования к программе</a:t>
            </a:r>
          </a:p>
          <a:p>
            <a:pPr lvl="1"/>
            <a:r>
              <a:rPr lang="ru-RU" b="1" dirty="0"/>
              <a:t>От функций и внешних обстоятельств</a:t>
            </a:r>
          </a:p>
          <a:p>
            <a:pPr lvl="1"/>
            <a:r>
              <a:rPr lang="ru-RU" b="1" dirty="0"/>
              <a:t>Ограничения внешних обстоятельств</a:t>
            </a:r>
          </a:p>
          <a:p>
            <a:r>
              <a:rPr lang="ru-RU" b="1" dirty="0"/>
              <a:t>Требования к компонентам ПО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62152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Проверки выполнения требований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0"/>
            <a:ext cx="10515600" cy="5766569"/>
          </a:xfrm>
        </p:spPr>
        <p:txBody>
          <a:bodyPr>
            <a:normAutofit/>
          </a:bodyPr>
          <a:lstStyle/>
          <a:p>
            <a:r>
              <a:rPr lang="ru-RU" b="1" dirty="0"/>
              <a:t>обзор</a:t>
            </a:r>
          </a:p>
          <a:p>
            <a:r>
              <a:rPr lang="ru-RU" b="1" dirty="0"/>
              <a:t>прототипирование </a:t>
            </a:r>
          </a:p>
          <a:p>
            <a:r>
              <a:rPr lang="ru-RU" b="1" dirty="0"/>
              <a:t>Утверждение требований</a:t>
            </a:r>
          </a:p>
          <a:p>
            <a:r>
              <a:rPr lang="ru-RU" b="1" dirty="0"/>
              <a:t>Тесты приемки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3550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Практические соображения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0"/>
            <a:ext cx="10515600" cy="5766569"/>
          </a:xfrm>
        </p:spPr>
        <p:txBody>
          <a:bodyPr>
            <a:normAutofit/>
          </a:bodyPr>
          <a:lstStyle/>
          <a:p>
            <a:r>
              <a:rPr lang="ru-RU" b="1" dirty="0"/>
              <a:t>документирование</a:t>
            </a:r>
          </a:p>
          <a:p>
            <a:r>
              <a:rPr lang="ru-RU" b="1" dirty="0"/>
              <a:t>Управление изменениями и сопровождение </a:t>
            </a:r>
          </a:p>
          <a:p>
            <a:r>
              <a:rPr lang="ru-RU" b="1" dirty="0"/>
              <a:t>итеративность</a:t>
            </a:r>
          </a:p>
          <a:p>
            <a:r>
              <a:rPr lang="ru-RU" b="1" dirty="0"/>
              <a:t>Содержание описания требований</a:t>
            </a:r>
          </a:p>
          <a:p>
            <a:r>
              <a:rPr lang="ru-RU" b="1" dirty="0"/>
              <a:t>Модальность</a:t>
            </a:r>
          </a:p>
          <a:p>
            <a:r>
              <a:rPr lang="ru-RU" b="1" dirty="0"/>
              <a:t>Трассировка </a:t>
            </a:r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8368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3CB39AC-FFD8-AA0A-4EDA-2A528BCC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284" y="490185"/>
            <a:ext cx="3300784" cy="1600200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7B2198E-E11A-2291-54CA-20C29E43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0" y="987425"/>
            <a:ext cx="8382000" cy="4873625"/>
          </a:xfrm>
        </p:spPr>
        <p:txBody>
          <a:bodyPr>
            <a:noAutofit/>
          </a:bodyPr>
          <a:lstStyle/>
          <a:p>
            <a:r>
              <a:rPr lang="ru-RU" sz="1600" dirty="0"/>
              <a:t>Процессы жизненного цикла программных средств. ГОСТ Р ИСОМЭК 12207-2010</a:t>
            </a:r>
          </a:p>
          <a:p>
            <a:r>
              <a:rPr lang="ru-RU" sz="1600" dirty="0"/>
              <a:t>ГОСТ Р ИСО/МЭК 15288 — 2005 Стандарт Информационная технология. Системная инженерия. Процессы жизненного цикла систем</a:t>
            </a:r>
          </a:p>
          <a:p>
            <a:r>
              <a:rPr lang="ru-RU" sz="1600" dirty="0"/>
              <a:t>Федеральное агентство по техническому регулированию и метрологии. Национальный стандарт Российской Федерации ГОСТ Р ИСО/МЭК 15288 — 2005 Информационная технология СИСТЕМНАЯ ИНЖЕНЕРИЯ Процессы жизненного цикла систем </a:t>
            </a:r>
            <a:r>
              <a:rPr lang="en-US" sz="1600" dirty="0"/>
              <a:t>ISO</a:t>
            </a:r>
            <a:r>
              <a:rPr lang="ru-RU" sz="1600" dirty="0"/>
              <a:t>/</a:t>
            </a:r>
            <a:r>
              <a:rPr lang="en-US" sz="1600" dirty="0"/>
              <a:t>IEC </a:t>
            </a:r>
            <a:r>
              <a:rPr lang="ru-RU" sz="1600" dirty="0"/>
              <a:t>15288:2002. </a:t>
            </a:r>
            <a:r>
              <a:rPr lang="en-US" sz="1600" dirty="0"/>
              <a:t>System engineering </a:t>
            </a:r>
            <a:r>
              <a:rPr lang="ru-RU" sz="1600" dirty="0"/>
              <a:t>— </a:t>
            </a:r>
            <a:r>
              <a:rPr lang="en-US" sz="1600" dirty="0"/>
              <a:t>System life cycle processes</a:t>
            </a:r>
            <a:r>
              <a:rPr lang="ru-RU" sz="1600" dirty="0"/>
              <a:t> (</a:t>
            </a:r>
            <a:r>
              <a:rPr lang="en-US" sz="1600" dirty="0"/>
              <a:t>IDT</a:t>
            </a:r>
            <a:r>
              <a:rPr lang="ru-RU" sz="1600" dirty="0"/>
              <a:t>)</a:t>
            </a:r>
          </a:p>
          <a:p>
            <a:r>
              <a:rPr lang="ru-RU" sz="1600" dirty="0"/>
              <a:t> Государственный стандарт СОЮЗА ССР. Единая система стандартов автоматизированных систем управления. Автоматизированные системы. Стадии создания ГОСТ 24.601-86 </a:t>
            </a:r>
          </a:p>
          <a:p>
            <a:r>
              <a:rPr lang="ru-RU" sz="1600" dirty="0"/>
              <a:t>ГОСТ Р 56136—2014 Управление жизненным циклом продукции военного назначения. Термины и определения </a:t>
            </a:r>
          </a:p>
          <a:p>
            <a:r>
              <a:rPr lang="ru-RU" sz="1600" dirty="0"/>
              <a:t>ГОСТ Р ИСО 9000-2001 Системы менеджмента качества. Основные положения и словарь</a:t>
            </a:r>
          </a:p>
          <a:p>
            <a:r>
              <a:rPr lang="ru-RU" sz="1600" dirty="0"/>
              <a:t>ГОСТ Р ИСО 9001-2001 Системы менеджмента качества. Требования</a:t>
            </a:r>
          </a:p>
          <a:p>
            <a:r>
              <a:rPr lang="ru-RU" sz="1600" dirty="0"/>
              <a:t>ГОСТ Р ИСО 9004-2001 Системы менеджмента качества. Рекомендации по улучшению деятельности</a:t>
            </a:r>
          </a:p>
          <a:p>
            <a:r>
              <a:rPr lang="ru-RU" sz="1600" dirty="0"/>
              <a:t>ГОСТ 28195-89. Оценка качества программных средств Общие положения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413BD20-0A0D-65D3-8535-FB888B77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41" y="3592160"/>
            <a:ext cx="3973612" cy="2594679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62E7A7-EA3D-F783-7964-85D5A8C7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7BEC99-DC93-DFFC-D3A9-08F9489A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71503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686</Words>
  <Application>Microsoft Office PowerPoint</Application>
  <PresentationFormat>Широкоэкранный</PresentationFormat>
  <Paragraphs>116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Arial Narrow</vt:lpstr>
      <vt:lpstr>Calibri</vt:lpstr>
      <vt:lpstr>Courier New</vt:lpstr>
      <vt:lpstr>Impact</vt:lpstr>
      <vt:lpstr>Open sans</vt:lpstr>
      <vt:lpstr>Segoe UI</vt:lpstr>
      <vt:lpstr>MinimalXOVTI</vt:lpstr>
      <vt:lpstr>Программная инженерия</vt:lpstr>
      <vt:lpstr>Тема 2-2: Программные требования</vt:lpstr>
      <vt:lpstr>Место программных требований в программной инженерии</vt:lpstr>
      <vt:lpstr>Определение программных требований в программной инженерии</vt:lpstr>
      <vt:lpstr>Объем понятия программных требований в программной инженерии</vt:lpstr>
      <vt:lpstr>Основы программных требований</vt:lpstr>
      <vt:lpstr>Процесс(ы) работы с требованиями</vt:lpstr>
      <vt:lpstr>Процесс(ы) работы с требованиями. Поддержка и улучшение</vt:lpstr>
      <vt:lpstr>Извлечение требований</vt:lpstr>
      <vt:lpstr>Анализ требований</vt:lpstr>
      <vt:lpstr>Спецификации требований</vt:lpstr>
      <vt:lpstr>Проверки выполнения требований</vt:lpstr>
      <vt:lpstr>Практические соображения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проектирования, развертывания и  сопровождения информационных систем</dc:title>
  <dc:creator>4562</dc:creator>
  <cp:lastModifiedBy>KDV</cp:lastModifiedBy>
  <cp:revision>33</cp:revision>
  <dcterms:created xsi:type="dcterms:W3CDTF">2023-02-07T19:37:43Z</dcterms:created>
  <dcterms:modified xsi:type="dcterms:W3CDTF">2025-10-01T20:39:26Z</dcterms:modified>
</cp:coreProperties>
</file>