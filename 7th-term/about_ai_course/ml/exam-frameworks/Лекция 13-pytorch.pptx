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2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2.png" ContentType="image/png"/>
  <Override PartName="/ppt/media/image9.png" ContentType="image/png"/>
  <Override PartName="/ppt/media/image11.png" ContentType="image/png"/>
  <Override PartName="/ppt/media/image7.jpeg" ContentType="image/jpeg"/>
  <Override PartName="/ppt/media/image18.png" ContentType="image/png"/>
  <Override PartName="/ppt/media/image20.png" ContentType="image/png"/>
  <Override PartName="/ppt/media/image13.png" ContentType="image/png"/>
  <Override PartName="/ppt/media/image8.png" ContentType="image/png"/>
  <Override PartName="/ppt/media/image4.png" ContentType="image/png"/>
  <Override PartName="/ppt/media/image21.png" ContentType="image/png"/>
  <Override PartName="/ppt/media/image19.png" ContentType="image/png"/>
  <Override PartName="/ppt/media/image1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media/image3.png" ContentType="image/png"/>
  <Override PartName="/ppt/media/image5.png" ContentType="image/png"/>
  <Override PartName="/ppt/media/image10.png" ContentType="image/png"/>
  <Override PartName="/ppt/media/image6.jpeg" ContentType="image/jpe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88825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8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3F1FED1-D04A-4398-8F80-E3B6CF87FDD6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2640" cy="342864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fld id="{C68B5D41-8772-4165-BE78-E82C721B33BF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2640" cy="342864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fld id="{332C3F2E-4BAA-41CA-8E7D-DA950191E8AF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2640" cy="342864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fld id="{97E41642-C0C5-4F7B-B741-6A0C8EE982F9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2640" cy="342864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fld id="{B7F3847E-C5CF-4F9A-9973-322E4B9D90AD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2640" cy="342864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fld id="{EA26DEBE-B6BF-40EF-B42E-F1FB43CD8414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2640" cy="342864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fld id="{A58E543A-376B-4F71-B797-00C48AE9B118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2640" cy="342864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fld id="{913E95E9-7F8C-48FE-AEE9-86B76EE532AF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2640" cy="342864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fld id="{086DE527-989C-4A18-8A85-CD4613342D28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2640" cy="342864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fld id="{C6DB8CC3-B425-4CFE-BBB0-0B399CCA7CAF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2640" cy="342864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fld id="{E23878D1-E50E-4A27-B704-C554FE0E1B7C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2640" cy="342864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fld id="{AB75D97E-BC32-47CE-9285-FE7DBD18B6C9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2640" cy="342864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fld id="{3834D6BE-456F-4211-930F-63254A0C256C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2640" cy="342864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fld id="{9BD8D0D1-DB09-461C-ABFC-7F2B3D0DBEAF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2640" cy="342864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fld id="{D8D7666A-9951-4C3D-BEFD-7DA70C523E0F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5AA0DC-9861-43A4-800A-9C013C87D1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71B791-A279-4D96-986B-B2B1A7CE28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D4D1A0-CF0B-4A4B-A715-310006BF7D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77E356-EB8D-48F5-AB5C-024B078E69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ADAEB5-D878-4526-91AE-C7CD396F71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51D329-5612-49C2-918E-F7F627675B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2274F6-D22E-4BFD-AD20-7D2EB5ACCA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015076-B3F2-4B31-9AAF-7DEF629A0A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481373-3D50-47F2-AA7E-F911885C98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6344AF-D8D9-4502-B189-A08A251955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119759-9FDA-4058-BD98-344DACC5591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935C96-52C7-4546-A7DF-3FC1A185D24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5D3F39-5386-451B-A4C4-C61E1A264C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3B2D63-7A8C-49F8-9498-54681734B9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1D9D49-A84C-4E8F-BF3F-AD9CB980B1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A360E0-E0E7-445E-A375-B54A761622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A92D2B-CD43-4BDF-AF00-9FC61E6892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5E4F41-94A0-4EC4-B1F4-FB9163357A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7C4711-BB4A-4513-AFEB-6D9CA18C88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0E256D-EEDE-499B-9923-FB4474740A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544799-089E-4D4B-8AD4-55B4E6C37A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A87FFC-EC10-4CDC-834D-A35AD86257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9EBDB5-B324-4EC3-9FE4-D2B59807A40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2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1968E4-9B64-4E10-A60B-F0FEDDC2D3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Rectangle 8" hidden="1"/>
          <p:cNvSpPr/>
          <p:nvPr/>
        </p:nvSpPr>
        <p:spPr>
          <a:xfrm>
            <a:off x="0" y="6334200"/>
            <a:ext cx="1218852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Straight Connector 9"/>
          <p:cNvSpPr/>
          <p:nvPr/>
        </p:nvSpPr>
        <p:spPr>
          <a:xfrm>
            <a:off x="1193040" y="1737720"/>
            <a:ext cx="9964440" cy="360"/>
          </a:xfrm>
          <a:prstGeom prst="line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Rectangle 6"/>
          <p:cNvSpPr/>
          <p:nvPr/>
        </p:nvSpPr>
        <p:spPr>
          <a:xfrm>
            <a:off x="3240" y="6400800"/>
            <a:ext cx="1218528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" name="Rectangle 7"/>
          <p:cNvSpPr/>
          <p:nvPr/>
        </p:nvSpPr>
        <p:spPr>
          <a:xfrm>
            <a:off x="0" y="6334200"/>
            <a:ext cx="1218528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5520" cy="3565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85000"/>
              </a:lnSpc>
              <a:buNone/>
            </a:pPr>
            <a:r>
              <a:rPr b="0" lang="ru-RU" sz="8000" spc="-52" strike="noStrike">
                <a:solidFill>
                  <a:srgbClr val="262626"/>
                </a:solidFill>
                <a:latin typeface="Calibri Light"/>
              </a:rPr>
              <a:t>Обра</a:t>
            </a:r>
            <a:r>
              <a:rPr b="0" lang="ru-RU" sz="8000" spc="-52" strike="noStrike">
                <a:solidFill>
                  <a:srgbClr val="262626"/>
                </a:solidFill>
                <a:latin typeface="Calibri Light"/>
              </a:rPr>
              <a:t>зец </a:t>
            </a:r>
            <a:r>
              <a:rPr b="0" lang="ru-RU" sz="8000" spc="-52" strike="noStrike">
                <a:solidFill>
                  <a:srgbClr val="262626"/>
                </a:solidFill>
                <a:latin typeface="Calibri Light"/>
              </a:rPr>
              <a:t>загол</a:t>
            </a:r>
            <a:r>
              <a:rPr b="0" lang="ru-RU" sz="8000" spc="-52" strike="noStrike">
                <a:solidFill>
                  <a:srgbClr val="262626"/>
                </a:solidFill>
                <a:latin typeface="Calibri Light"/>
              </a:rPr>
              <a:t>овка</a:t>
            </a:r>
            <a:endParaRPr b="0" lang="en-US" sz="8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1096920" y="6459840"/>
            <a:ext cx="247140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3685320" y="6459840"/>
            <a:ext cx="4821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989784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ru-RU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BD96C06-97B6-40E8-96F4-8FBDC0256395}" type="slidenum">
              <a:rPr b="0" lang="ru-RU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latin typeface="Times New Roman"/>
            </a:endParaRPr>
          </a:p>
        </p:txBody>
      </p:sp>
      <p:sp>
        <p:nvSpPr>
          <p:cNvPr id="9" name="Straight Connector 8"/>
          <p:cNvSpPr/>
          <p:nvPr/>
        </p:nvSpPr>
        <p:spPr>
          <a:xfrm>
            <a:off x="1207080" y="4343400"/>
            <a:ext cx="9873000" cy="360"/>
          </a:xfrm>
          <a:prstGeom prst="line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Click to edit the outline text format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Second Outline Level</a:t>
            </a:r>
            <a:endParaRPr b="0" lang="en-US" sz="1400" spc="-1" strike="noStrike">
              <a:solidFill>
                <a:srgbClr val="40404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Third Outline Level</a:t>
            </a:r>
            <a:endParaRPr b="0" lang="en-US" sz="1400" spc="-1" strike="noStrike">
              <a:solidFill>
                <a:srgbClr val="40404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Fourth Outline Level</a:t>
            </a:r>
            <a:endParaRPr b="0" lang="en-US" sz="1400" spc="-1" strike="noStrike">
              <a:solidFill>
                <a:srgbClr val="40404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6" hidden="1"/>
          <p:cNvSpPr/>
          <p:nvPr/>
        </p:nvSpPr>
        <p:spPr>
          <a:xfrm>
            <a:off x="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Rectangle 8" hidden="1"/>
          <p:cNvSpPr/>
          <p:nvPr/>
        </p:nvSpPr>
        <p:spPr>
          <a:xfrm>
            <a:off x="0" y="6334200"/>
            <a:ext cx="1218852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Straight Connector 9"/>
          <p:cNvSpPr/>
          <p:nvPr/>
        </p:nvSpPr>
        <p:spPr>
          <a:xfrm>
            <a:off x="1193040" y="1737720"/>
            <a:ext cx="9964440" cy="360"/>
          </a:xfrm>
          <a:prstGeom prst="line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Rectangle 4"/>
          <p:cNvSpPr/>
          <p:nvPr/>
        </p:nvSpPr>
        <p:spPr>
          <a:xfrm>
            <a:off x="3240" y="6400800"/>
            <a:ext cx="1218528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Rectangle 5"/>
          <p:cNvSpPr/>
          <p:nvPr/>
        </p:nvSpPr>
        <p:spPr>
          <a:xfrm>
            <a:off x="0" y="6334200"/>
            <a:ext cx="1218528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PlaceHolder 1"/>
          <p:cNvSpPr>
            <a:spLocks noGrp="1"/>
          </p:cNvSpPr>
          <p:nvPr>
            <p:ph type="dt" idx="4"/>
          </p:nvPr>
        </p:nvSpPr>
        <p:spPr>
          <a:xfrm>
            <a:off x="1096920" y="6459840"/>
            <a:ext cx="247140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5"/>
          </p:nvPr>
        </p:nvSpPr>
        <p:spPr>
          <a:xfrm>
            <a:off x="3685320" y="6459840"/>
            <a:ext cx="4821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6"/>
          </p:nvPr>
        </p:nvSpPr>
        <p:spPr>
          <a:xfrm>
            <a:off x="989784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ru-RU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EBECA46-22C7-4E8B-BFF0-65ADB53BB671}" type="slidenum">
              <a:rPr b="0" lang="ru-RU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Click to edit the outline text format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Second Outline Level</a:t>
            </a:r>
            <a:endParaRPr b="0" lang="en-US" sz="1400" spc="-1" strike="noStrike">
              <a:solidFill>
                <a:srgbClr val="40404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Third Outline Level</a:t>
            </a:r>
            <a:endParaRPr b="0" lang="en-US" sz="1400" spc="-1" strike="noStrike">
              <a:solidFill>
                <a:srgbClr val="40404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Fourth Outline Level</a:t>
            </a:r>
            <a:endParaRPr b="0" lang="en-US" sz="1400" spc="-1" strike="noStrike">
              <a:solidFill>
                <a:srgbClr val="40404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5520" cy="25257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85000"/>
              </a:lnSpc>
              <a:buNone/>
            </a:pPr>
            <a:r>
              <a:rPr b="0" lang="en-US" sz="5400" spc="-52" strike="noStrike">
                <a:solidFill>
                  <a:srgbClr val="262626"/>
                </a:solidFill>
                <a:latin typeface="Segoe UI"/>
              </a:rPr>
              <a:t>PyTorch</a:t>
            </a:r>
            <a:endParaRPr b="0" lang="en-US" sz="5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0" name="Picture 2" descr=""/>
          <p:cNvPicPr/>
          <p:nvPr/>
        </p:nvPicPr>
        <p:blipFill>
          <a:blip r:embed="rId1"/>
          <a:stretch/>
        </p:blipFill>
        <p:spPr>
          <a:xfrm>
            <a:off x="701280" y="1638720"/>
            <a:ext cx="10846440" cy="329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2"/>
          <p:cNvSpPr/>
          <p:nvPr/>
        </p:nvSpPr>
        <p:spPr>
          <a:xfrm>
            <a:off x="189720" y="188640"/>
            <a:ext cx="496836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Краткая история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PyTorch</a:t>
            </a: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477720" y="1268640"/>
            <a:ext cx="10800720" cy="48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PyTorch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 это открытый фрймворк глубокого обучения основанный на библиотеке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Torch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 (создан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Ronan Collobert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Koray Kavukcuglou, Clement Farabet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в 2002 году) и библиотеке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Caffe2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(разработана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Facebook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)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.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 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- Первый официальный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релиз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PyTorch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 был представлен исследовательской лабораторией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Facebook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(FAIR)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Версия 1.0 интегрирующая в себе и исходный код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Caffe2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и модули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ONNX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была выпущена в 2018 году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Последняя актуальная версия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PyTorch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на сегодняшний день 1.10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.0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выпущена в октябре 2021 года 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/>
          <p:cNvSpPr/>
          <p:nvPr/>
        </p:nvSpPr>
        <p:spPr>
          <a:xfrm>
            <a:off x="477720" y="1052640"/>
            <a:ext cx="11088720" cy="630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PyTorch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написан с использованием языков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Python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,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C++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и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CUDA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. Интерфейс пользователя реализован на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Python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.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Существует версия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PyTorch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с интерфейсом на </a:t>
            </a:r>
            <a:r>
              <a:rPr b="1" lang="ru-RU" sz="2400" spc="-1" strike="noStrike">
                <a:solidFill>
                  <a:srgbClr val="000000"/>
                </a:solidFill>
                <a:latin typeface="Calibri"/>
              </a:rPr>
              <a:t>С++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и поддержкой всех модулей и форматов, которая называется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LibTorch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.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 Так же он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имеет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API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для использования с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Java, C#, Javascript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и другими языками.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PyTorch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поддерживает несколько высокоуровневых особенностей: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- высокопроизводительные вычисления с тензорами с ускорением на графическом процессоре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- Построение вычислительных графов, основанных на системе автоматического расчета градиентов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- Aten (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A Ten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sor Libraray)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и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C10 (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ore 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TEN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sor Library)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4" name="TextBox 6"/>
          <p:cNvSpPr/>
          <p:nvPr/>
        </p:nvSpPr>
        <p:spPr>
          <a:xfrm>
            <a:off x="189720" y="188640"/>
            <a:ext cx="496836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Общие сведения о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PyTorch</a:t>
            </a: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" name="Table 1"/>
          <p:cNvGraphicFramePr/>
          <p:nvPr/>
        </p:nvGraphicFramePr>
        <p:xfrm>
          <a:off x="549720" y="260640"/>
          <a:ext cx="11088720" cy="5832360"/>
        </p:xfrm>
        <a:graphic>
          <a:graphicData uri="http://schemas.openxmlformats.org/drawingml/2006/table">
            <a:tbl>
              <a:tblPr/>
              <a:tblGrid>
                <a:gridCol w="3270600"/>
                <a:gridCol w="7818120"/>
              </a:tblGrid>
              <a:tr h="6919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ru-RU" sz="2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Элементы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ru-RU" sz="2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Описание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d34817"/>
                    </a:solidFill>
                  </a:tcPr>
                </a:tc>
              </a:tr>
              <a:tr h="7340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torch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Тензорная библиотека на подобии </a:t>
                      </a: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numpy</a:t>
                      </a: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, с поддержкой вычислений на графическом процессоре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ecfcc"/>
                    </a:solidFill>
                  </a:tcPr>
                </a:tc>
              </a:tr>
              <a:tr h="7340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torch.autograd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7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Модуль автоматического расчета градиентов, который поддерживает все дифференцируемые операции из </a:t>
                      </a: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torch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7e8e7"/>
                    </a:solidFill>
                  </a:tcPr>
                </a:tc>
              </a:tr>
              <a:tr h="7340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torch.jit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Компилятор, позволяющий создать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сериализованные и оптимизируемые модели из кода на 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PyTorch</a:t>
                      </a: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   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ecfcc"/>
                    </a:solidFill>
                  </a:tcPr>
                </a:tc>
              </a:tr>
              <a:tr h="887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torch.nn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7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Библиотека глубокого обучения глубоко интегрированная с </a:t>
                      </a: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torch.autograd</a:t>
                      </a: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и спроектированная для максимальной гибкости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7e8e7"/>
                    </a:solidFill>
                  </a:tcPr>
                </a:tc>
              </a:tr>
              <a:tr h="7340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torch.distributed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Модуль для выполнения параллельных вычислений с автоматическим распределением тензоров по процессам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ecfcc"/>
                    </a:solidFill>
                  </a:tcPr>
                </a:tc>
              </a:tr>
              <a:tr h="7340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torch.utils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7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Загрузчики данных, подготовка наборов данных для преобразований и другие инструменты 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7e8e7"/>
                    </a:solidFill>
                  </a:tcPr>
                </a:tc>
              </a:tr>
              <a:tr h="7340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torch.optim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Модуль оптимизации настройки параметров операций, используемых в вычислительном графе.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ecfc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2"/>
          <p:cNvSpPr/>
          <p:nvPr/>
        </p:nvSpPr>
        <p:spPr>
          <a:xfrm>
            <a:off x="189720" y="188640"/>
            <a:ext cx="604836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torch – </a:t>
            </a:r>
            <a:r>
              <a:rPr b="1" lang="ru-RU" sz="3200" spc="-1" strike="noStrike">
                <a:solidFill>
                  <a:srgbClr val="000000"/>
                </a:solidFill>
                <a:latin typeface="Calibri"/>
              </a:rPr>
              <a:t>тензорная библиотека</a:t>
            </a: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07" name="Picture 3" descr=""/>
          <p:cNvPicPr/>
          <p:nvPr/>
        </p:nvPicPr>
        <p:blipFill>
          <a:blip r:embed="rId1"/>
          <a:stretch/>
        </p:blipFill>
        <p:spPr>
          <a:xfrm>
            <a:off x="1388880" y="620640"/>
            <a:ext cx="9945720" cy="567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" descr=""/>
          <p:cNvPicPr/>
          <p:nvPr/>
        </p:nvPicPr>
        <p:blipFill>
          <a:blip r:embed="rId1"/>
          <a:stretch/>
        </p:blipFill>
        <p:spPr>
          <a:xfrm>
            <a:off x="705600" y="980640"/>
            <a:ext cx="10460520" cy="4752000"/>
          </a:xfrm>
          <a:prstGeom prst="rect">
            <a:avLst/>
          </a:prstGeom>
          <a:ln w="0">
            <a:noFill/>
          </a:ln>
        </p:spPr>
      </p:pic>
      <p:sp>
        <p:nvSpPr>
          <p:cNvPr id="109" name="TextBox 2"/>
          <p:cNvSpPr/>
          <p:nvPr/>
        </p:nvSpPr>
        <p:spPr>
          <a:xfrm>
            <a:off x="189720" y="188640"/>
            <a:ext cx="11593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0000"/>
                </a:solidFill>
                <a:latin typeface="Calibri"/>
              </a:rPr>
              <a:t>Тензор на </a:t>
            </a: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CPU</a:t>
            </a:r>
            <a:r>
              <a:rPr b="1" lang="ru-RU" sz="3200" spc="-1" strike="noStrike">
                <a:solidFill>
                  <a:srgbClr val="000000"/>
                </a:solidFill>
                <a:latin typeface="Calibri"/>
              </a:rPr>
              <a:t> и на</a:t>
            </a: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 GPU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"/>
          <p:cNvSpPr/>
          <p:nvPr/>
        </p:nvSpPr>
        <p:spPr>
          <a:xfrm>
            <a:off x="189720" y="188640"/>
            <a:ext cx="1159308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torch</a:t>
            </a:r>
            <a:r>
              <a:rPr b="1" lang="ru-RU" sz="3200" spc="-1" strike="noStrike">
                <a:solidFill>
                  <a:srgbClr val="000000"/>
                </a:solidFill>
                <a:latin typeface="Calibri"/>
              </a:rPr>
              <a:t>.</a:t>
            </a: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autograd – </a:t>
            </a:r>
            <a:r>
              <a:rPr b="1" lang="ru-RU" sz="3200" spc="-1" strike="noStrike">
                <a:solidFill>
                  <a:srgbClr val="000000"/>
                </a:solidFill>
                <a:latin typeface="Calibri"/>
              </a:rPr>
              <a:t>модуль автоматического дифференцирования</a:t>
            </a: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11" name="Picture 3" descr=""/>
          <p:cNvPicPr/>
          <p:nvPr/>
        </p:nvPicPr>
        <p:blipFill>
          <a:blip r:embed="rId1"/>
          <a:stretch/>
        </p:blipFill>
        <p:spPr>
          <a:xfrm>
            <a:off x="2566080" y="3501000"/>
            <a:ext cx="6912360" cy="2541960"/>
          </a:xfrm>
          <a:prstGeom prst="rect">
            <a:avLst/>
          </a:prstGeom>
          <a:ln w="0">
            <a:noFill/>
          </a:ln>
        </p:spPr>
      </p:pic>
      <p:sp>
        <p:nvSpPr>
          <p:cNvPr id="112" name="TextBox 5"/>
          <p:cNvSpPr/>
          <p:nvPr/>
        </p:nvSpPr>
        <p:spPr>
          <a:xfrm>
            <a:off x="405720" y="836640"/>
            <a:ext cx="11521080" cy="30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torch</a:t>
            </a:r>
            <a:r>
              <a:rPr b="1" lang="ru-RU" sz="2400" spc="-1" strike="noStrike">
                <a:solidFill>
                  <a:srgbClr val="000000"/>
                </a:solidFill>
                <a:latin typeface="Calibri"/>
              </a:rPr>
              <a:t>.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autograd</a:t>
            </a:r>
            <a:r>
              <a:rPr b="1" lang="ru-RU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является основным для всех нейронных сетей написанных на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PyTorch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autograd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обеспечивает автоматический расчет градиентов на основе градиентов из предыдущих операций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Для отслеживания градиентов по цепочке операций предусмотрен специальные механизм  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1" descr=""/>
          <p:cNvPicPr/>
          <p:nvPr/>
        </p:nvPicPr>
        <p:blipFill>
          <a:blip r:embed="rId1"/>
          <a:stretch/>
        </p:blipFill>
        <p:spPr>
          <a:xfrm>
            <a:off x="117720" y="657360"/>
            <a:ext cx="8470440" cy="5651640"/>
          </a:xfrm>
          <a:prstGeom prst="rect">
            <a:avLst/>
          </a:prstGeom>
          <a:ln w="0">
            <a:noFill/>
          </a:ln>
        </p:spPr>
      </p:pic>
      <p:sp>
        <p:nvSpPr>
          <p:cNvPr id="114" name="TextBox 3"/>
          <p:cNvSpPr/>
          <p:nvPr/>
        </p:nvSpPr>
        <p:spPr>
          <a:xfrm>
            <a:off x="8641080" y="813240"/>
            <a:ext cx="3501720" cy="67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Reverse-mode auto-differentiation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официальное название алгоритма «записи» и «проигрывания» элементов нейронной сети.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Переменные поступающие на вход сети фиксируются, а производные высчитываются относительно каждой операции в порядке выполнения операций.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Для хранения промежуточных вычислений требуется дополнительное место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189720" y="188640"/>
            <a:ext cx="11593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torch</a:t>
            </a:r>
            <a:r>
              <a:rPr b="1" lang="ru-RU" sz="3200" spc="-1" strike="noStrike">
                <a:solidFill>
                  <a:srgbClr val="000000"/>
                </a:solidFill>
                <a:latin typeface="Calibri"/>
              </a:rPr>
              <a:t>.</a:t>
            </a: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autograd – </a:t>
            </a:r>
            <a:r>
              <a:rPr b="1" lang="ru-RU" sz="3200" spc="-1" strike="noStrike">
                <a:solidFill>
                  <a:srgbClr val="000000"/>
                </a:solidFill>
                <a:latin typeface="Calibri"/>
              </a:rPr>
              <a:t>запись и воспроизведение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2" descr=""/>
          <p:cNvPicPr/>
          <p:nvPr/>
        </p:nvPicPr>
        <p:blipFill>
          <a:blip r:embed="rId1"/>
          <a:stretch/>
        </p:blipFill>
        <p:spPr>
          <a:xfrm>
            <a:off x="2674800" y="1504800"/>
            <a:ext cx="6838560" cy="3847680"/>
          </a:xfrm>
          <a:prstGeom prst="rect">
            <a:avLst/>
          </a:prstGeom>
          <a:ln w="0">
            <a:noFill/>
          </a:ln>
        </p:spPr>
      </p:pic>
      <p:sp>
        <p:nvSpPr>
          <p:cNvPr id="117" name="TextBox 4"/>
          <p:cNvSpPr/>
          <p:nvPr/>
        </p:nvSpPr>
        <p:spPr>
          <a:xfrm>
            <a:off x="405720" y="260640"/>
            <a:ext cx="110887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При создании тензора с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requires_grad=True c10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создаст объект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AutogradMeta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, который хранит всю информацию о графе. При вызове дифференцируемой функции, которая принимает тензор как аргумент, заполняются соответствующие метаданные. Самые важные параметры структуры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AutogradMeta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 это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grad_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куда будут записаны градиены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и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grad_fn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 указатель на выполняемую операцию, которая будет использована для расчета градиентов.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2" descr=""/>
          <p:cNvPicPr/>
          <p:nvPr/>
        </p:nvPicPr>
        <p:blipFill>
          <a:blip r:embed="rId1"/>
          <a:stretch/>
        </p:blipFill>
        <p:spPr>
          <a:xfrm>
            <a:off x="2674800" y="1504800"/>
            <a:ext cx="6838560" cy="3847680"/>
          </a:xfrm>
          <a:prstGeom prst="rect">
            <a:avLst/>
          </a:prstGeom>
          <a:ln w="0">
            <a:noFill/>
          </a:ln>
        </p:spPr>
      </p:pic>
      <p:sp>
        <p:nvSpPr>
          <p:cNvPr id="119" name="TextBox 3"/>
          <p:cNvSpPr/>
          <p:nvPr/>
        </p:nvSpPr>
        <p:spPr>
          <a:xfrm>
            <a:off x="216000" y="188640"/>
            <a:ext cx="1192680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Объект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grad_fn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наследуется от класса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TraceableFunction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. Функции являются объектами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Node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 вычислительного графа, связанными вместе при помощи объектов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Edge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, которые необходимы для отслеживания перемещений по графу. Все узлы содержат список связанных с ними граней.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2"/>
          <p:cNvSpPr/>
          <p:nvPr/>
        </p:nvSpPr>
        <p:spPr>
          <a:xfrm>
            <a:off x="117720" y="692640"/>
            <a:ext cx="1166508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Если часть вычислительного графа разделена между несколькими логическими последовательностями относительно которых вычисляется ошибка, то при вычислении градиентов с помощью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grad()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или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backward()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 на одном и том же графе может возникнуть случай удаления графа при вычислении градиентов в одной ветви. В таком случае при вычислении градиентов во второй ветви произойдет ошибка, так как общая часть графа уже была уничтожена. То же самое может произойти при вычислении графа в нескольких потоках. 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Для предотвращения подобного поведения необходимо установить флаг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retain_graph=True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 во всех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grad()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и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backward()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, кроме последнего.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117720" y="3141000"/>
            <a:ext cx="11809080" cy="24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Все тензоры у которых атрибут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requires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_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grad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=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False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являются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leaf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по умолчанию. Тензоры у которых атрибут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requires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_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grad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=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True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являются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leaf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лишь в том случае, если они созданы пользователем, а не в результате какой-либо операции, в таком случае их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grad_fn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=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None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.  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Во время вызова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backward()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 градиенты будут сохранятся только для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leaf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. Для того, чтобы градиенты сохранялись для всех тензоров, в том числе и не являющихся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leaf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 необходимо установить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retain_grad()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=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True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189720" y="188640"/>
            <a:ext cx="11593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retain_graph(), is_leaf(), retain_grad()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23" name="Picture 5" descr=""/>
          <p:cNvPicPr/>
          <p:nvPr/>
        </p:nvPicPr>
        <p:blipFill>
          <a:blip r:embed="rId1"/>
          <a:stretch/>
        </p:blipFill>
        <p:spPr>
          <a:xfrm>
            <a:off x="2854080" y="4725000"/>
            <a:ext cx="4357080" cy="1577520"/>
          </a:xfrm>
          <a:prstGeom prst="rect">
            <a:avLst/>
          </a:prstGeom>
          <a:ln w="0">
            <a:noFill/>
          </a:ln>
        </p:spPr>
      </p:pic>
      <p:pic>
        <p:nvPicPr>
          <p:cNvPr id="124" name="Picture 6" descr=""/>
          <p:cNvPicPr/>
          <p:nvPr/>
        </p:nvPicPr>
        <p:blipFill>
          <a:blip r:embed="rId2"/>
          <a:stretch/>
        </p:blipFill>
        <p:spPr>
          <a:xfrm>
            <a:off x="7534440" y="4725000"/>
            <a:ext cx="4376880" cy="1577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/>
          <p:nvPr/>
        </p:nvSpPr>
        <p:spPr>
          <a:xfrm>
            <a:off x="405720" y="908640"/>
            <a:ext cx="11449080" cy="66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Модуль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torch.distributed</a:t>
            </a:r>
            <a:r>
              <a:rPr b="1" lang="ru-RU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обеспечивает поддержку примитивов для мультипроцессорного распараллеливания вычислений на нескольких узлах запущенных на одном или нескольких вычислительных устройствах. Класс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torch.nn.parallel.DistributedDataParallel</a:t>
            </a:r>
            <a:r>
              <a:rPr b="1" lang="ru-RU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позволяет обеспечить синхронное распределенное обучение любой модели созданной с его использованием.  Его механизм отличается от типа параллелизма обеспечиваемого модулями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torch.multiprocessing</a:t>
            </a:r>
            <a:r>
              <a:rPr b="1" lang="ru-RU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и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torch.nn.DataParallel</a:t>
            </a:r>
            <a:r>
              <a:rPr b="1" lang="ru-RU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в том отношении, что он поддерживает возможность соединения по сети множества устройств и пользователю необходимо запускать отдельные копии скрипта обучения для каждого процесса.  </a:t>
            </a:r>
            <a:endParaRPr b="0" lang="en-US" sz="18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Даже в случае синхронного запуска на одном устройстве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torch.distributed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или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torch.nn.parallel.DistributedDataParallel</a:t>
            </a:r>
            <a:r>
              <a:rPr b="1" lang="ru-RU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могут иметь преимущества над другими подходами параллельных вычислений, включая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torch.nn.DataParallel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. </a:t>
            </a:r>
            <a:endParaRPr b="0" lang="en-US" sz="1800" spc="-1" strike="noStrike">
              <a:latin typeface="Arial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Каждый процесс определяет свой собственный алгоритм оптимизации и индивидуально обновляет параметры своей сети в каждой итерации. Несмотря на то, что это может показаться избыточным использованием ресурсов, так как градиенты уже были собраны вместе, усреднены и скопированы во все процессы, а значит они одинаковые. Это означает, что нет необходимости копировать параметры, соответственно можно уменьшить время, тратимое на копирование параметров.</a:t>
            </a:r>
            <a:endParaRPr b="0" lang="en-US" sz="1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Каждый процесс работает со своим собственным интерпретатором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Python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исключая необходимость справляться с издержками возникающими в случае работы с потоками (сборщик мусора), а также копиями модели или несколькими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GPU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при работе в одном процессе. Это особенно важно при работе с тяжелыми моделями и моделями с рекуррентными слоями.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189720" y="268560"/>
            <a:ext cx="11593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torch.multiprocessing vs. torch.distributed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Picture 1" descr=""/>
          <p:cNvPicPr/>
          <p:nvPr/>
        </p:nvPicPr>
        <p:blipFill>
          <a:blip r:embed="rId1"/>
          <a:stretch/>
        </p:blipFill>
        <p:spPr>
          <a:xfrm>
            <a:off x="5867280" y="1484640"/>
            <a:ext cx="5195520" cy="3960000"/>
          </a:xfrm>
          <a:prstGeom prst="rect">
            <a:avLst/>
          </a:prstGeom>
          <a:ln w="0">
            <a:noFill/>
          </a:ln>
        </p:spPr>
      </p:pic>
      <p:sp>
        <p:nvSpPr>
          <p:cNvPr id="128" name="TextBox 2"/>
          <p:cNvSpPr/>
          <p:nvPr/>
        </p:nvSpPr>
        <p:spPr>
          <a:xfrm>
            <a:off x="189720" y="188640"/>
            <a:ext cx="1159308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torch</a:t>
            </a:r>
            <a:r>
              <a:rPr b="1" lang="ru-RU" sz="3200" spc="-1" strike="noStrike">
                <a:solidFill>
                  <a:srgbClr val="000000"/>
                </a:solidFill>
                <a:latin typeface="Calibri"/>
              </a:rPr>
              <a:t>.</a:t>
            </a: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nn – </a:t>
            </a:r>
            <a:r>
              <a:rPr b="1" lang="ru-RU" sz="3200" spc="-1" strike="noStrike">
                <a:solidFill>
                  <a:srgbClr val="000000"/>
                </a:solidFill>
                <a:latin typeface="Calibri"/>
              </a:rPr>
              <a:t>модуль для создания нейронных сетей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261720" y="1124640"/>
            <a:ext cx="4896360" cy="630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torch.nn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тесно связан с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torch.autograd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. Это необходимо для создания последовательностей операций и их дифференцирования в правильном порядке.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torch.nn</a:t>
            </a:r>
            <a:r>
              <a:rPr b="1" lang="ru-RU" sz="2400" spc="-1" strike="noStrike">
                <a:solidFill>
                  <a:srgbClr val="000000"/>
                </a:solidFill>
                <a:latin typeface="Calibri"/>
              </a:rPr>
              <a:t>.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Module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содержит операции и слои, а также метод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forward()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для запуска данным по сети операций, в итоге формируется тензор в котором инициируется операция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backward()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для расчета градиентов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1"/>
          <p:cNvSpPr/>
          <p:nvPr/>
        </p:nvSpPr>
        <p:spPr>
          <a:xfrm>
            <a:off x="189720" y="268560"/>
            <a:ext cx="11593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torch.nn vs. torch.nn.functional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31" name="TextBox 2"/>
          <p:cNvSpPr/>
          <p:nvPr/>
        </p:nvSpPr>
        <p:spPr>
          <a:xfrm>
            <a:off x="549720" y="1351800"/>
            <a:ext cx="10584720" cy="52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В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torch.nn</a:t>
            </a:r>
            <a:r>
              <a:rPr b="1" lang="ru-RU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операции определены как классы унаследованные от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nn.Module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. В свою очередь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torch.nn.functional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использует функциональный подход.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Все операции созданные на основе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nn.Module </a:t>
            </a:r>
            <a:r>
              <a:rPr b="1" lang="ru-RU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определяются как классы со своим набором атрибутов. В частности они могут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иметь атрибут «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weights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». Объект такого класса уже имеет доступ ко всем атрибутам.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В случае с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functional</a:t>
            </a:r>
            <a:r>
              <a:rPr b="1" lang="ru-RU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API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определяется операция, ей необходимо передать параметры всех необходимых данных в качестве аргументов.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Тем не менее сами объекты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nn.Module</a:t>
            </a:r>
            <a:r>
              <a:rPr b="1" lang="ru-RU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внутри себя в конечном итоге вызывают методы из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torch.nn.functional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Разница заключается в том, что в случае использования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functional</a:t>
            </a:r>
            <a:r>
              <a:rPr b="1" lang="ru-RU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API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нам необходимо хранить все параметры самостоятельно, в случае использования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nn.Module</a:t>
            </a:r>
            <a:r>
              <a:rPr b="1" lang="ru-RU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параметры хранятся автоматически в атрибутах класса. Сочетание использования обоих подходов делает разработку легкой и позволяет сохранить гибкость в случае необходимости. 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" descr=""/>
          <p:cNvPicPr/>
          <p:nvPr/>
        </p:nvPicPr>
        <p:blipFill>
          <a:blip r:embed="rId1"/>
          <a:stretch/>
        </p:blipFill>
        <p:spPr>
          <a:xfrm>
            <a:off x="261720" y="1556640"/>
            <a:ext cx="6336360" cy="3849120"/>
          </a:xfrm>
          <a:prstGeom prst="rect">
            <a:avLst/>
          </a:prstGeom>
          <a:ln w="0">
            <a:noFill/>
          </a:ln>
        </p:spPr>
      </p:pic>
      <p:pic>
        <p:nvPicPr>
          <p:cNvPr id="133" name="Picture 2" descr=""/>
          <p:cNvPicPr/>
          <p:nvPr/>
        </p:nvPicPr>
        <p:blipFill>
          <a:blip r:embed="rId2"/>
          <a:stretch/>
        </p:blipFill>
        <p:spPr>
          <a:xfrm>
            <a:off x="7174440" y="1917000"/>
            <a:ext cx="4819680" cy="3345840"/>
          </a:xfrm>
          <a:prstGeom prst="rect">
            <a:avLst/>
          </a:prstGeom>
          <a:ln w="0">
            <a:noFill/>
          </a:ln>
        </p:spPr>
      </p:pic>
      <p:sp>
        <p:nvSpPr>
          <p:cNvPr id="134" name="Straight Connector 5"/>
          <p:cNvSpPr/>
          <p:nvPr/>
        </p:nvSpPr>
        <p:spPr>
          <a:xfrm>
            <a:off x="6886440" y="1844640"/>
            <a:ext cx="360" cy="3600360"/>
          </a:xfrm>
          <a:prstGeom prst="line">
            <a:avLst/>
          </a:prstGeom>
          <a:ln>
            <a:solidFill>
              <a:srgbClr val="a28e6a"/>
            </a:solidFill>
            <a:rou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/>
        </p:style>
      </p:sp>
      <p:sp>
        <p:nvSpPr>
          <p:cNvPr id="135" name="TextBox 8"/>
          <p:cNvSpPr/>
          <p:nvPr/>
        </p:nvSpPr>
        <p:spPr>
          <a:xfrm>
            <a:off x="189720" y="268560"/>
            <a:ext cx="11593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torch.nn vs. torch.nn.functional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"/>
          <p:cNvSpPr/>
          <p:nvPr/>
        </p:nvSpPr>
        <p:spPr>
          <a:xfrm>
            <a:off x="189720" y="188640"/>
            <a:ext cx="11593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0000"/>
                </a:solidFill>
                <a:latin typeface="Calibri"/>
              </a:rPr>
              <a:t>Инициализация параметров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37" name="Picture 2" descr=""/>
          <p:cNvPicPr/>
          <p:nvPr/>
        </p:nvPicPr>
        <p:blipFill>
          <a:blip r:embed="rId1"/>
          <a:stretch/>
        </p:blipFill>
        <p:spPr>
          <a:xfrm>
            <a:off x="6526440" y="900720"/>
            <a:ext cx="5006880" cy="4471920"/>
          </a:xfrm>
          <a:prstGeom prst="rect">
            <a:avLst/>
          </a:prstGeom>
          <a:ln w="0">
            <a:noFill/>
          </a:ln>
        </p:spPr>
      </p:pic>
      <p:sp>
        <p:nvSpPr>
          <p:cNvPr id="138" name="TextBox 3"/>
          <p:cNvSpPr/>
          <p:nvPr/>
        </p:nvSpPr>
        <p:spPr>
          <a:xfrm>
            <a:off x="117720" y="1196640"/>
            <a:ext cx="6048360" cy="52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Модуль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torch.nn.init</a:t>
            </a:r>
            <a:r>
              <a:rPr b="1" lang="ru-RU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позволяет осуществить начальную инициализацию параметров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операций имеющих настраиваемые параметры.</a:t>
            </a:r>
            <a:endParaRPr b="0" lang="en-US" sz="2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torch.nn.init.constant_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 - все значения одинаковые</a:t>
            </a:r>
            <a:endParaRPr b="0" lang="en-US" sz="2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torch.nn.init.normal_</a:t>
            </a:r>
            <a:r>
              <a:rPr b="1" lang="ru-RU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- инициализация параметров из нормального распределения</a:t>
            </a:r>
            <a:endParaRPr b="0" lang="en-US" sz="2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torch.nn.init.kaiming_uniform_</a:t>
            </a:r>
            <a:r>
              <a:rPr b="1" lang="ru-RU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2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torch.nn.init.orthogonal_</a:t>
            </a:r>
            <a:r>
              <a:rPr b="1" lang="ru-RU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2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torch.nn.init.eye_</a:t>
            </a:r>
            <a:r>
              <a:rPr b="1" lang="ru-RU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- диагональная инициализация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Picture 1" descr=""/>
          <p:cNvPicPr/>
          <p:nvPr/>
        </p:nvPicPr>
        <p:blipFill>
          <a:blip r:embed="rId1"/>
          <a:stretch/>
        </p:blipFill>
        <p:spPr>
          <a:xfrm>
            <a:off x="0" y="1558800"/>
            <a:ext cx="12188520" cy="4534200"/>
          </a:xfrm>
          <a:prstGeom prst="rect">
            <a:avLst/>
          </a:prstGeom>
          <a:ln w="0">
            <a:noFill/>
          </a:ln>
        </p:spPr>
      </p:pic>
      <p:sp>
        <p:nvSpPr>
          <p:cNvPr id="140" name="TextBox 2"/>
          <p:cNvSpPr/>
          <p:nvPr/>
        </p:nvSpPr>
        <p:spPr>
          <a:xfrm>
            <a:off x="189720" y="188640"/>
            <a:ext cx="11593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0000"/>
                </a:solidFill>
                <a:latin typeface="Calibri"/>
              </a:rPr>
              <a:t>Процесс обучения нейронной сети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3"/>
          <p:cNvSpPr/>
          <p:nvPr/>
        </p:nvSpPr>
        <p:spPr>
          <a:xfrm>
            <a:off x="117720" y="974160"/>
            <a:ext cx="5616360" cy="630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Определение состава нейронной сети имеющей настраиваемые параметры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Итерирование по набору входящих элементов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Прохождение входящих данных через нейронную сеть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Расчет ошибки (насколько далеко предсказание нейронной сети оказалось от реальности)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Расчет градиентов в каждой операции на основе ошибки предсказания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Обновление параметров нейронной сети на величину рассчитанных градиентов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2" name="TextBox 4"/>
          <p:cNvSpPr/>
          <p:nvPr/>
        </p:nvSpPr>
        <p:spPr>
          <a:xfrm>
            <a:off x="189720" y="188640"/>
            <a:ext cx="11593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0000"/>
                </a:solidFill>
                <a:latin typeface="Calibri"/>
              </a:rPr>
              <a:t>Процесс обучения в </a:t>
            </a: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PyTorch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43" name="Picture 7" descr=""/>
          <p:cNvPicPr/>
          <p:nvPr/>
        </p:nvPicPr>
        <p:blipFill>
          <a:blip r:embed="rId1"/>
          <a:stretch/>
        </p:blipFill>
        <p:spPr>
          <a:xfrm>
            <a:off x="5734440" y="476640"/>
            <a:ext cx="6210000" cy="5657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3"/>
          <p:cNvSpPr/>
          <p:nvPr/>
        </p:nvSpPr>
        <p:spPr>
          <a:xfrm>
            <a:off x="261720" y="1076040"/>
            <a:ext cx="11377080" cy="65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Часто его ошибочно принимают за механизм позволяющий локально отключить расчет градиентов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torch.no_grad()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. Технически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module.eval()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 (так же, как и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module.train()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) не имеет ничего общего с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no-grad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 режимом. 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То, как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model.eval()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влияет на модель нейронной сети полностью зависит от конкретных операций, используемых в составе сети и то имеют ли они какое-либо специфическое для режима обучения поведение. 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Если в модели присутствуют модули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torch.nn.Dropout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и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torch.nn.BatchNorm2d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, то они ведут себя различным образом в режиме обучения и оценивания. Режим оценивания в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BatchNorm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 исключает обновление текущих статистик. 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Рекомендуется всегда переключать модель в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model.train() 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при настройке параметров и в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model.eval()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 при валидации данных, даже если вы уверены в том, что у операций используемых в вашей модели нет специфического поведения в режиме обучения.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5" name="TextBox 4"/>
          <p:cNvSpPr/>
          <p:nvPr/>
        </p:nvSpPr>
        <p:spPr>
          <a:xfrm>
            <a:off x="189720" y="188640"/>
            <a:ext cx="11593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nn.Module.eval()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1" descr=""/>
          <p:cNvPicPr/>
          <p:nvPr/>
        </p:nvPicPr>
        <p:blipFill>
          <a:blip r:embed="rId1"/>
          <a:stretch/>
        </p:blipFill>
        <p:spPr>
          <a:xfrm>
            <a:off x="5730120" y="955440"/>
            <a:ext cx="6196680" cy="4876560"/>
          </a:xfrm>
          <a:prstGeom prst="rect">
            <a:avLst/>
          </a:prstGeom>
          <a:ln w="0">
            <a:noFill/>
          </a:ln>
        </p:spPr>
      </p:pic>
      <p:sp>
        <p:nvSpPr>
          <p:cNvPr id="147" name="TextBox 3"/>
          <p:cNvSpPr/>
          <p:nvPr/>
        </p:nvSpPr>
        <p:spPr>
          <a:xfrm>
            <a:off x="142200" y="1136880"/>
            <a:ext cx="5519880" cy="66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torchvision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модуль который включает в себя самые популярные наборы данных, архитектуры моделей, основные преобразования применяемые для обработки изображений в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Computer Vision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. </a:t>
            </a:r>
            <a:endParaRPr b="0" lang="en-US" sz="18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Все наборы данных, включенные в состав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torchvision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 (среди них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MNIST, ImageNet, CIFAR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и др.) имеют два общих параметра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-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transform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: для преобразования входящих данных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-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target_transform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: для преобразования эталонов</a:t>
            </a:r>
            <a:endParaRPr b="0" lang="en-US" sz="18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Взятые из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torchvision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 наборы данных могут быть переданы в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torch.utils.data.DataLoader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, которы преобразует набор данных в совместимый с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torch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формат.</a:t>
            </a:r>
            <a:endParaRPr b="0" lang="en-US" sz="18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Полученную структуру можно в свою очередь передать в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torch.multiprocessing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для параллельной обработки несколькими потоками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8" name="TextBox 4"/>
          <p:cNvSpPr/>
          <p:nvPr/>
        </p:nvSpPr>
        <p:spPr>
          <a:xfrm>
            <a:off x="189720" y="188640"/>
            <a:ext cx="11593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torchvision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Picture 1" descr=""/>
          <p:cNvPicPr/>
          <p:nvPr/>
        </p:nvPicPr>
        <p:blipFill>
          <a:blip r:embed="rId1"/>
          <a:stretch/>
        </p:blipFill>
        <p:spPr>
          <a:xfrm>
            <a:off x="4222080" y="836640"/>
            <a:ext cx="7953120" cy="5256360"/>
          </a:xfrm>
          <a:prstGeom prst="rect">
            <a:avLst/>
          </a:prstGeom>
          <a:ln w="0">
            <a:noFill/>
          </a:ln>
        </p:spPr>
      </p:pic>
      <p:sp>
        <p:nvSpPr>
          <p:cNvPr id="150" name="TextBox 3"/>
          <p:cNvSpPr/>
          <p:nvPr/>
        </p:nvSpPr>
        <p:spPr>
          <a:xfrm>
            <a:off x="189720" y="836640"/>
            <a:ext cx="381600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TensorBoard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это популярный  инструмент для логирования и визуализации  для обучения нейронных сетей с графическим интерфейсом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изначально созданный внутри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TensorFlow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. Запускается в браузере, позволяет получить информацию в виде графиков.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1" name="TextBox 4"/>
          <p:cNvSpPr/>
          <p:nvPr/>
        </p:nvSpPr>
        <p:spPr>
          <a:xfrm>
            <a:off x="189720" y="188640"/>
            <a:ext cx="11593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TensorBoard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52" name="TextBox 5"/>
          <p:cNvSpPr/>
          <p:nvPr/>
        </p:nvSpPr>
        <p:spPr>
          <a:xfrm>
            <a:off x="45720" y="3861000"/>
            <a:ext cx="4896360" cy="22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000000"/>
                </a:solidFill>
                <a:latin typeface="Bahnschrift SemiBold"/>
              </a:rPr>
              <a:t>from torch.utils.tensorboard import SummaryWriter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000000"/>
                </a:solidFill>
                <a:latin typeface="Bahnschrift SemiBold"/>
              </a:rPr>
              <a:t>writer = SummaryWriter(logging_dir)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000000"/>
                </a:solidFill>
                <a:latin typeface="Bahnschrift SemiBold"/>
              </a:rPr>
              <a:t>for epoch in range(10000): 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000000"/>
                </a:solidFill>
                <a:latin typeface="Bahnschrift SemiBold"/>
              </a:rPr>
              <a:t>…</a:t>
            </a:r>
            <a:r>
              <a:rPr b="0" i="1" lang="en-US" sz="1400" spc="-1" strike="noStrike">
                <a:solidFill>
                  <a:srgbClr val="000000"/>
                </a:solidFill>
                <a:latin typeface="Bahnschrift SemiBold"/>
              </a:rPr>
              <a:t>. #compute loss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000000"/>
                </a:solidFill>
                <a:latin typeface="Bahnschrift SemiBold"/>
              </a:rPr>
              <a:t>	</a:t>
            </a:r>
            <a:r>
              <a:rPr b="0" i="1" lang="en-US" sz="1400" spc="-1" strike="noStrike">
                <a:solidFill>
                  <a:srgbClr val="000000"/>
                </a:solidFill>
                <a:latin typeface="Bahnschrift SemiBold"/>
              </a:rPr>
              <a:t>writer.add_scalar('training_loss’, 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000000"/>
                </a:solidFill>
                <a:latin typeface="Bahnschrift SemiBold"/>
              </a:rPr>
              <a:t>	</a:t>
            </a:r>
            <a:r>
              <a:rPr b="0" i="1" lang="en-US" sz="1400" spc="-1" strike="noStrike">
                <a:solidFill>
                  <a:srgbClr val="000000"/>
                </a:solidFill>
                <a:latin typeface="Bahnschrift SemiBold"/>
              </a:rPr>
              <a:t>	</a:t>
            </a:r>
            <a:r>
              <a:rPr b="0" i="1" lang="en-US" sz="1400" spc="-1" strike="noStrike">
                <a:solidFill>
                  <a:srgbClr val="000000"/>
                </a:solidFill>
                <a:latin typeface="Bahnschrift SemiBold"/>
              </a:rPr>
              <a:t>	</a:t>
            </a:r>
            <a:r>
              <a:rPr b="0" i="1" lang="en-US" sz="1400" spc="-1" strike="noStrike">
                <a:solidFill>
                  <a:srgbClr val="000000"/>
                </a:solidFill>
                <a:latin typeface="Bahnschrift SemiBold"/>
              </a:rPr>
              <a:t>	</a:t>
            </a:r>
            <a:r>
              <a:rPr b="0" i="1" lang="en-US" sz="1400" spc="-1" strike="noStrike">
                <a:solidFill>
                  <a:srgbClr val="000000"/>
                </a:solidFill>
                <a:latin typeface="Bahnschrift SemiBold"/>
              </a:rPr>
              <a:t>epoch_loss, 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000000"/>
                </a:solidFill>
                <a:latin typeface="Bahnschrift SemiBold"/>
              </a:rPr>
              <a:t>	</a:t>
            </a:r>
            <a:r>
              <a:rPr b="0" i="1" lang="en-US" sz="1400" spc="-1" strike="noStrike">
                <a:solidFill>
                  <a:srgbClr val="000000"/>
                </a:solidFill>
                <a:latin typeface="Bahnschrift SemiBold"/>
              </a:rPr>
              <a:t>	</a:t>
            </a:r>
            <a:r>
              <a:rPr b="0" i="1" lang="en-US" sz="1400" spc="-1" strike="noStrike">
                <a:solidFill>
                  <a:srgbClr val="000000"/>
                </a:solidFill>
                <a:latin typeface="Bahnschrift SemiBold"/>
              </a:rPr>
              <a:t>	</a:t>
            </a:r>
            <a:r>
              <a:rPr b="0" i="1" lang="en-US" sz="1400" spc="-1" strike="noStrike">
                <a:solidFill>
                  <a:srgbClr val="000000"/>
                </a:solidFill>
                <a:latin typeface="Bahnschrift SemiBold"/>
              </a:rPr>
              <a:t>	</a:t>
            </a:r>
            <a:r>
              <a:rPr b="0" i="1" lang="en-US" sz="1400" spc="-1" strike="noStrike">
                <a:solidFill>
                  <a:srgbClr val="000000"/>
                </a:solidFill>
                <a:latin typeface="Bahnschrift SemiBold"/>
              </a:rPr>
              <a:t>global_step = epoch + 1)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Picture 2" descr=""/>
          <p:cNvPicPr/>
          <p:nvPr/>
        </p:nvPicPr>
        <p:blipFill>
          <a:blip r:embed="rId1"/>
          <a:stretch/>
        </p:blipFill>
        <p:spPr>
          <a:xfrm>
            <a:off x="6264720" y="44640"/>
            <a:ext cx="5878080" cy="2152080"/>
          </a:xfrm>
          <a:prstGeom prst="rect">
            <a:avLst/>
          </a:prstGeom>
          <a:ln w="0">
            <a:noFill/>
          </a:ln>
        </p:spPr>
      </p:pic>
      <p:pic>
        <p:nvPicPr>
          <p:cNvPr id="154" name="Picture 3" descr=""/>
          <p:cNvPicPr/>
          <p:nvPr/>
        </p:nvPicPr>
        <p:blipFill>
          <a:blip r:embed="rId2"/>
          <a:stretch/>
        </p:blipFill>
        <p:spPr>
          <a:xfrm>
            <a:off x="137160" y="4505760"/>
            <a:ext cx="6028920" cy="1731240"/>
          </a:xfrm>
          <a:prstGeom prst="rect">
            <a:avLst/>
          </a:prstGeom>
          <a:ln w="0">
            <a:noFill/>
          </a:ln>
        </p:spPr>
      </p:pic>
      <p:sp>
        <p:nvSpPr>
          <p:cNvPr id="155" name="TextBox 4"/>
          <p:cNvSpPr/>
          <p:nvPr/>
        </p:nvSpPr>
        <p:spPr>
          <a:xfrm>
            <a:off x="6310440" y="2133000"/>
            <a:ext cx="5878080" cy="55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Graph: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Управление жизненным циклом вычислительного графа передается на более низкий уровень, это необходимо для выполнения работы компилятора по оптимизации. И процесс запущенный в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python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 уже не контролирует ход это процедуры, ожидая её завершения и возвращения контроля себе.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Реализация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graph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работает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быстрее чем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eager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, граф создается только один раз и сразу же оптимизируется, что не возможно при реализации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eager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. Тем не менее, этот эффект лишает пользователя определенных возможностей. Отладка более не возможна в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python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, так как управление передано на уровень С++. Сопоставить ошибки в процессах протекающих в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python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и С++ становится неочевидной задачей, что крайне сильно усложняет работу пользователя.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156" name="TextBox 5"/>
          <p:cNvSpPr/>
          <p:nvPr/>
        </p:nvSpPr>
        <p:spPr>
          <a:xfrm>
            <a:off x="189720" y="773280"/>
            <a:ext cx="602892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Eager: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Вычислительный граф строится в процессе выполнения кода. В каждой итерации во время прямого хода вычислений происходит создание вычислительного графа модели нейронной сети при помощи модуля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autograd.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Последующий вызов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backward()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 использует полученный граф для выполнения своей логики и уничтожает его по окончании вычислений. Все математические операции требующие быстрых вычислений исполняются в С++ или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CUDA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ядрах, но все остальные операции доступны из процесса запущенного в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python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и именно этот процесс контролирует все этапы существования вычислительного графа. Отладка кода становится простой из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python.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7" name="TextBox 6"/>
          <p:cNvSpPr/>
          <p:nvPr/>
        </p:nvSpPr>
        <p:spPr>
          <a:xfrm>
            <a:off x="189720" y="188640"/>
            <a:ext cx="11593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Eager vs. graph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"/>
          <p:cNvSpPr/>
          <p:nvPr/>
        </p:nvSpPr>
        <p:spPr>
          <a:xfrm>
            <a:off x="189720" y="188640"/>
            <a:ext cx="11593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torch.jit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59" name="TextBox 2"/>
          <p:cNvSpPr/>
          <p:nvPr/>
        </p:nvSpPr>
        <p:spPr>
          <a:xfrm>
            <a:off x="189720" y="972000"/>
            <a:ext cx="6720480" cy="58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В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PyTorch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модуль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JIT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может быть использован в нескольких режимах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scripting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 и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tracing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. Для использования первого необходимо создать объект класса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jit.ScriptModule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и декоратор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 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@torch.jit.script_method</a:t>
            </a:r>
            <a:r>
              <a:rPr b="1" lang="ru-RU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это явным образом оборачивает модуль с поддерживающую компиляцию функцию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TorchScript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.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После инициализации объекта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MyModule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он будет объектом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Python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, но почти весь его код будет выполнятся в С++.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TorchScript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 это объектом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Python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, который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PyTorch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 умеет динамически проверять и преобразовывать в код ядра во время исполнения. Оптимизация налагает некоторые ограничения на код. Например циклы невозможны с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list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, только с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tuple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.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pic>
        <p:nvPicPr>
          <p:cNvPr id="160" name="Picture 3" descr=""/>
          <p:cNvPicPr/>
          <p:nvPr/>
        </p:nvPicPr>
        <p:blipFill>
          <a:blip r:embed="rId1"/>
          <a:stretch/>
        </p:blipFill>
        <p:spPr>
          <a:xfrm>
            <a:off x="7025400" y="773280"/>
            <a:ext cx="5021640" cy="4095360"/>
          </a:xfrm>
          <a:prstGeom prst="rect">
            <a:avLst/>
          </a:prstGeom>
          <a:ln w="0">
            <a:noFill/>
          </a:ln>
        </p:spPr>
      </p:pic>
      <p:sp>
        <p:nvSpPr>
          <p:cNvPr id="161" name="TextBox 7"/>
          <p:cNvSpPr/>
          <p:nvPr/>
        </p:nvSpPr>
        <p:spPr>
          <a:xfrm>
            <a:off x="189720" y="5301360"/>
            <a:ext cx="1199880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Компилятору необходимы гарантии неизменяемости объекта со временем, так как он не сможет сделать разворачивание цикла. По этому операции с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mutable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объектами запрещены.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1" descr=""/>
          <p:cNvPicPr/>
          <p:nvPr/>
        </p:nvPicPr>
        <p:blipFill>
          <a:blip r:embed="rId1"/>
          <a:stretch/>
        </p:blipFill>
        <p:spPr>
          <a:xfrm>
            <a:off x="5264640" y="736560"/>
            <a:ext cx="6878160" cy="4708440"/>
          </a:xfrm>
          <a:prstGeom prst="rect">
            <a:avLst/>
          </a:prstGeom>
          <a:ln w="0">
            <a:noFill/>
          </a:ln>
        </p:spPr>
      </p:pic>
      <p:sp>
        <p:nvSpPr>
          <p:cNvPr id="163" name="TextBox 2"/>
          <p:cNvSpPr/>
          <p:nvPr/>
        </p:nvSpPr>
        <p:spPr>
          <a:xfrm>
            <a:off x="165240" y="890280"/>
            <a:ext cx="4992840" cy="61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Для работы во втором режиме необходимо использовать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torch.jit.trace 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для функций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 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и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torch.jit.trace_module</a:t>
            </a:r>
            <a:r>
              <a:rPr b="1" lang="ru-RU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для модулей. При запуске кода с объектом унаследованным от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trace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,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PyTorch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отслеживает выполнение кода для создания соответствующего вычислительного графа. Выполняемый код не обязательно должен соответствовать ограничениям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TorchScript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.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PyTorch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 самостоятельно преобразует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Python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 код в код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TorchScript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. После запуска этого кода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traced_module</a:t>
            </a:r>
            <a:r>
              <a:rPr b="1" lang="ru-RU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становится компилируемым объектом который практически полностью выполняется в С++. 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64" name="TextBox 3"/>
          <p:cNvSpPr/>
          <p:nvPr/>
        </p:nvSpPr>
        <p:spPr>
          <a:xfrm>
            <a:off x="189720" y="188640"/>
            <a:ext cx="11593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torch.jit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Box 1"/>
          <p:cNvSpPr/>
          <p:nvPr/>
        </p:nvSpPr>
        <p:spPr>
          <a:xfrm>
            <a:off x="333720" y="1052640"/>
            <a:ext cx="11377080" cy="49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Tracing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имеет два ограничения: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Во-первых, он уничтожает любой контроль потока вычислений. Так любые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if-else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 в модуле будут оцениваться один раз исключительно в момент компилирования графа, то есть сохранится только одна ветвь выполнения. 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Во-вторых, все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и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while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 циклы будут развернуты компилятором в последовательность операций фиксированной длины. Изменить этот размер в последствии, возможности не будет.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PyTorch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предоставляет возможность справится со второй проблемой при помощи декоратора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 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@torch.jit.unused</a:t>
            </a:r>
            <a:r>
              <a:rPr b="1" lang="ru-RU" sz="2000" spc="-1" strike="noStrike">
                <a:solidFill>
                  <a:srgbClr val="000000"/>
                </a:solidFill>
                <a:latin typeface="Calibri"/>
              </a:rPr>
              <a:t>.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Желаемые операции можно просто исключить из потока вычислений. 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В отношении режимов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train</a:t>
            </a:r>
            <a:r>
              <a:rPr b="1" lang="ru-RU" sz="2000" spc="-1" strike="noStrike">
                <a:solidFill>
                  <a:srgbClr val="000000"/>
                </a:solidFill>
                <a:latin typeface="Calibri"/>
              </a:rPr>
              <a:t>()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 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и</a:t>
            </a:r>
            <a:r>
              <a:rPr b="1" lang="ru-RU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eval</a:t>
            </a:r>
            <a:r>
              <a:rPr b="1" lang="ru-RU" sz="2000" spc="-1" strike="noStrike">
                <a:solidFill>
                  <a:srgbClr val="000000"/>
                </a:solidFill>
                <a:latin typeface="Calibri"/>
              </a:rPr>
              <a:t>()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поведение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jit.tracer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остается консервативным. Операции, имеющие различное поведение в этих двух режимах будут выполнятся только в том режиме с которым был запущен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tracer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. Если в модуле содержатся операции такие, как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Dropout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 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или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 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BatchNorm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, то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jit.ScriptModule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, будет правильным подходом, так, как он неимеет таких ограничений.  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66" name="TextBox 2"/>
          <p:cNvSpPr/>
          <p:nvPr/>
        </p:nvSpPr>
        <p:spPr>
          <a:xfrm>
            <a:off x="189720" y="188640"/>
            <a:ext cx="11593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torch.jit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1360476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TP102801058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706496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003AC8-209A-4321-A17C-1B7A206433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D80E12-3BE9-4746-820E-FFB249F467F2}">
  <ds:schemaRefs>
    <ds:schemaRef ds:uri="http://purl.org/dc/terms/"/>
    <ds:schemaRef ds:uri="4873beb7-5857-4685-be1f-d57550cc96cc"/>
    <ds:schemaRef ds:uri="http://purl.org/dc/elements/1.1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3ED4759-CFDD-43F0-817C-11D9197192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36476</TotalTime>
  <Application>LibreOffice/7.3.7.2$Linux_X86_64 LibreOffice_project/30$Build-2</Application>
  <AppVersion>15.0000</AppVersion>
  <Words>2268</Words>
  <Paragraphs>143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2021-09-06T17:40:32Z</dcterms:created>
  <dc:creator>Борис Вишняков</dc:creator>
  <dc:description/>
  <dc:language>en-US</dc:language>
  <cp:lastModifiedBy/>
  <dcterms:modified xsi:type="dcterms:W3CDTF">2026-01-06T22:42:00Z</dcterms:modified>
  <cp:revision>293</cp:revision>
  <dc:subject/>
  <dc:title>Методы интеллектуальной обработки данных и машинного обучения с использованием глубоких нейронных сетей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mpaign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InternalTags">
    <vt:lpwstr/>
  </property>
  <property fmtid="{D5CDD505-2E9C-101B-9397-08002B2CF9AE}" pid="6" name="LocalizationTags">
    <vt:lpwstr/>
  </property>
  <property fmtid="{D5CDD505-2E9C-101B-9397-08002B2CF9AE}" pid="7" name="Notes">
    <vt:i4>15</vt:i4>
  </property>
  <property fmtid="{D5CDD505-2E9C-101B-9397-08002B2CF9AE}" pid="8" name="PresentationFormat">
    <vt:lpwstr>Custom</vt:lpwstr>
  </property>
  <property fmtid="{D5CDD505-2E9C-101B-9397-08002B2CF9AE}" pid="9" name="ScenarioTags">
    <vt:lpwstr/>
  </property>
  <property fmtid="{D5CDD505-2E9C-101B-9397-08002B2CF9AE}" pid="10" name="Slides">
    <vt:i4>32</vt:i4>
  </property>
</Properties>
</file>