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9.png" ContentType="image/png"/>
  <Override PartName="/ppt/media/image14.png" ContentType="image/png"/>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10.png" ContentType="image/png"/>
  <Override PartName="/ppt/media/image6.png" ContentType="image/png"/>
  <Override PartName="/ppt/media/image11.png" ContentType="image/png"/>
  <Override PartName="/ppt/media/image7.png" ContentType="image/png"/>
  <Override PartName="/ppt/media/image12.png" ContentType="image/png"/>
  <Override PartName="/ppt/media/image8.png" ContentType="image/png"/>
  <Override PartName="/ppt/media/image13.png" ContentType="image/png"/>
  <Override PartName="/ppt/presProps.xml" ContentType="application/vnd.openxmlformats-officedocument.presentationml.presProps+xml"/>
  <Override PartName="/ppt/slides/_rels/slide8.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14.xml.rels" ContentType="application/vnd.openxmlformats-package.relationships+xml"/>
  <Override PartName="/ppt/slides/_rels/slide11.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slide13.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9144000" cy="5143500"/>
  <p:notesSz cx="6735763" cy="98663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D76362D0-5D0E-4437-BD11-F18903A79B1E}"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28560" y="273960"/>
            <a:ext cx="7886520" cy="993960"/>
          </a:xfrm>
          <a:prstGeom prst="rect">
            <a:avLst/>
          </a:prstGeom>
          <a:noFill/>
          <a:ln w="0">
            <a:noFill/>
          </a:ln>
        </p:spPr>
        <p:txBody>
          <a:bodyPr lIns="0" rIns="0" tIns="0" bIns="0" anchor="ctr">
            <a:noAutofit/>
          </a:bodyPr>
          <a:p>
            <a:endParaRPr b="0" lang="en-US" sz="1500" spc="-1" strike="noStrike">
              <a:solidFill>
                <a:srgbClr val="000000"/>
              </a:solidFill>
              <a:latin typeface="Calibri"/>
            </a:endParaRPr>
          </a:p>
        </p:txBody>
      </p:sp>
      <p:sp>
        <p:nvSpPr>
          <p:cNvPr id="6" name="PlaceHolder 2"/>
          <p:cNvSpPr>
            <a:spLocks noGrp="1"/>
          </p:cNvSpPr>
          <p:nvPr>
            <p:ph type="subTitle"/>
          </p:nvPr>
        </p:nvSpPr>
        <p:spPr>
          <a:xfrm>
            <a:off x="628560" y="1369080"/>
            <a:ext cx="7886520" cy="32630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5ED2309-49DF-449A-87CE-676779497D18}"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28560" y="273960"/>
            <a:ext cx="7886520" cy="993960"/>
          </a:xfrm>
          <a:prstGeom prst="rect">
            <a:avLst/>
          </a:prstGeom>
          <a:noFill/>
          <a:ln w="0">
            <a:noFill/>
          </a:ln>
        </p:spPr>
        <p:txBody>
          <a:bodyPr lIns="0" rIns="0" tIns="0" bIns="0" anchor="ctr">
            <a:noAutofit/>
          </a:bodyPr>
          <a:p>
            <a:endParaRPr b="0" lang="en-US" sz="1500" spc="-1" strike="noStrike">
              <a:solidFill>
                <a:srgbClr val="000000"/>
              </a:solidFill>
              <a:latin typeface="Calibri"/>
            </a:endParaRPr>
          </a:p>
        </p:txBody>
      </p:sp>
      <p:sp>
        <p:nvSpPr>
          <p:cNvPr id="8" name="PlaceHolder 2"/>
          <p:cNvSpPr>
            <a:spLocks noGrp="1"/>
          </p:cNvSpPr>
          <p:nvPr>
            <p:ph/>
          </p:nvPr>
        </p:nvSpPr>
        <p:spPr>
          <a:xfrm>
            <a:off x="628560" y="1369080"/>
            <a:ext cx="7886520" cy="326304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D0A9D7F9-B903-4C70-AAF5-75623B2E5843}"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28560" y="273960"/>
            <a:ext cx="7886520" cy="993960"/>
          </a:xfrm>
          <a:prstGeom prst="rect">
            <a:avLst/>
          </a:prstGeom>
          <a:noFill/>
          <a:ln w="0">
            <a:noFill/>
          </a:ln>
        </p:spPr>
        <p:txBody>
          <a:bodyPr lIns="0" rIns="0" tIns="0" bIns="0" anchor="ctr">
            <a:noAutofit/>
          </a:bodyPr>
          <a:p>
            <a:endParaRPr b="0" lang="en-US" sz="1500" spc="-1" strike="noStrike">
              <a:solidFill>
                <a:srgbClr val="000000"/>
              </a:solidFill>
              <a:latin typeface="Calibri"/>
            </a:endParaRPr>
          </a:p>
        </p:txBody>
      </p:sp>
      <p:sp>
        <p:nvSpPr>
          <p:cNvPr id="10" name="PlaceHolder 2"/>
          <p:cNvSpPr>
            <a:spLocks noGrp="1"/>
          </p:cNvSpPr>
          <p:nvPr>
            <p:ph/>
          </p:nvPr>
        </p:nvSpPr>
        <p:spPr>
          <a:xfrm>
            <a:off x="628560" y="1369080"/>
            <a:ext cx="3848400" cy="326304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11" name="PlaceHolder 3"/>
          <p:cNvSpPr>
            <a:spLocks noGrp="1"/>
          </p:cNvSpPr>
          <p:nvPr>
            <p:ph/>
          </p:nvPr>
        </p:nvSpPr>
        <p:spPr>
          <a:xfrm>
            <a:off x="4669920" y="1369080"/>
            <a:ext cx="3848400" cy="326304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429126BF-8E92-4FD6-9A76-356CB22525A3}"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28560" y="273960"/>
            <a:ext cx="7886520" cy="993960"/>
          </a:xfrm>
          <a:prstGeom prst="rect">
            <a:avLst/>
          </a:prstGeom>
          <a:noFill/>
          <a:ln w="0">
            <a:noFill/>
          </a:ln>
        </p:spPr>
        <p:txBody>
          <a:bodyPr lIns="0" rIns="0" tIns="0" bIns="0" anchor="ctr">
            <a:noAutofit/>
          </a:bodyPr>
          <a:p>
            <a:endParaRPr b="0" lang="en-US" sz="15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35D79343-46C8-4C21-9579-7504A2A619EB}"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28560" y="273960"/>
            <a:ext cx="7886520" cy="46087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0A771F00-C752-4C63-A74C-CBCF2E93B5C1}" type="slidenum">
              <a:t>&lt;#&gt;</a:t>
            </a:fld>
          </a:p>
        </p:txBody>
      </p:sp>
      <p:sp>
        <p:nvSpPr>
          <p:cNvPr id="5" name="PlaceHolder 4"/>
          <p:cNvSpPr>
            <a:spLocks noGrp="1"/>
          </p:cNvSpPr>
          <p:nvPr>
            <p:ph type="dt" idx="1"/>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28560" y="273960"/>
            <a:ext cx="7886520" cy="993960"/>
          </a:xfrm>
          <a:prstGeom prst="rect">
            <a:avLst/>
          </a:prstGeom>
          <a:noFill/>
          <a:ln w="0">
            <a:noFill/>
          </a:ln>
        </p:spPr>
        <p:txBody>
          <a:bodyPr lIns="0" rIns="0" tIns="0" bIns="0" anchor="ctr">
            <a:noAutofit/>
          </a:bodyPr>
          <a:p>
            <a:endParaRPr b="0" lang="en-US" sz="1500" spc="-1" strike="noStrike">
              <a:solidFill>
                <a:srgbClr val="000000"/>
              </a:solidFill>
              <a:latin typeface="Calibri"/>
            </a:endParaRPr>
          </a:p>
        </p:txBody>
      </p:sp>
      <p:sp>
        <p:nvSpPr>
          <p:cNvPr id="15" name="PlaceHolder 2"/>
          <p:cNvSpPr>
            <a:spLocks noGrp="1"/>
          </p:cNvSpPr>
          <p:nvPr>
            <p:ph/>
          </p:nvPr>
        </p:nvSpPr>
        <p:spPr>
          <a:xfrm>
            <a:off x="628560" y="1369080"/>
            <a:ext cx="3848400" cy="155628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16" name="PlaceHolder 3"/>
          <p:cNvSpPr>
            <a:spLocks noGrp="1"/>
          </p:cNvSpPr>
          <p:nvPr>
            <p:ph/>
          </p:nvPr>
        </p:nvSpPr>
        <p:spPr>
          <a:xfrm>
            <a:off x="4669920" y="1369080"/>
            <a:ext cx="3848400" cy="326304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17" name="PlaceHolder 4"/>
          <p:cNvSpPr>
            <a:spLocks noGrp="1"/>
          </p:cNvSpPr>
          <p:nvPr>
            <p:ph/>
          </p:nvPr>
        </p:nvSpPr>
        <p:spPr>
          <a:xfrm>
            <a:off x="628560" y="3073680"/>
            <a:ext cx="3848400" cy="155628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50870697-D9BF-4F1C-9949-72C71E158927}"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28560" y="273960"/>
            <a:ext cx="7886520" cy="993960"/>
          </a:xfrm>
          <a:prstGeom prst="rect">
            <a:avLst/>
          </a:prstGeom>
          <a:noFill/>
          <a:ln w="0">
            <a:noFill/>
          </a:ln>
        </p:spPr>
        <p:txBody>
          <a:bodyPr lIns="0" rIns="0" tIns="0" bIns="0" anchor="ctr">
            <a:noAutofit/>
          </a:bodyPr>
          <a:p>
            <a:endParaRPr b="0" lang="en-US" sz="1500" spc="-1" strike="noStrike">
              <a:solidFill>
                <a:srgbClr val="000000"/>
              </a:solidFill>
              <a:latin typeface="Calibri"/>
            </a:endParaRPr>
          </a:p>
        </p:txBody>
      </p:sp>
      <p:sp>
        <p:nvSpPr>
          <p:cNvPr id="19" name="PlaceHolder 2"/>
          <p:cNvSpPr>
            <a:spLocks noGrp="1"/>
          </p:cNvSpPr>
          <p:nvPr>
            <p:ph/>
          </p:nvPr>
        </p:nvSpPr>
        <p:spPr>
          <a:xfrm>
            <a:off x="628560" y="1369080"/>
            <a:ext cx="3848400" cy="326304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20" name="PlaceHolder 3"/>
          <p:cNvSpPr>
            <a:spLocks noGrp="1"/>
          </p:cNvSpPr>
          <p:nvPr>
            <p:ph/>
          </p:nvPr>
        </p:nvSpPr>
        <p:spPr>
          <a:xfrm>
            <a:off x="4669920" y="1369080"/>
            <a:ext cx="3848400" cy="155628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21" name="PlaceHolder 4"/>
          <p:cNvSpPr>
            <a:spLocks noGrp="1"/>
          </p:cNvSpPr>
          <p:nvPr>
            <p:ph/>
          </p:nvPr>
        </p:nvSpPr>
        <p:spPr>
          <a:xfrm>
            <a:off x="4669920" y="3073680"/>
            <a:ext cx="3848400" cy="155628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C94B85E-0566-44AC-96BD-43ADEC5819A8}"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28560" y="273960"/>
            <a:ext cx="7886520" cy="993960"/>
          </a:xfrm>
          <a:prstGeom prst="rect">
            <a:avLst/>
          </a:prstGeom>
          <a:noFill/>
          <a:ln w="0">
            <a:noFill/>
          </a:ln>
        </p:spPr>
        <p:txBody>
          <a:bodyPr lIns="0" rIns="0" tIns="0" bIns="0" anchor="ctr">
            <a:noAutofit/>
          </a:bodyPr>
          <a:p>
            <a:endParaRPr b="0" lang="en-US" sz="1500" spc="-1" strike="noStrike">
              <a:solidFill>
                <a:srgbClr val="000000"/>
              </a:solidFill>
              <a:latin typeface="Calibri"/>
            </a:endParaRPr>
          </a:p>
        </p:txBody>
      </p:sp>
      <p:sp>
        <p:nvSpPr>
          <p:cNvPr id="23" name="PlaceHolder 2"/>
          <p:cNvSpPr>
            <a:spLocks noGrp="1"/>
          </p:cNvSpPr>
          <p:nvPr>
            <p:ph/>
          </p:nvPr>
        </p:nvSpPr>
        <p:spPr>
          <a:xfrm>
            <a:off x="628560" y="1369080"/>
            <a:ext cx="3848400" cy="155628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24" name="PlaceHolder 3"/>
          <p:cNvSpPr>
            <a:spLocks noGrp="1"/>
          </p:cNvSpPr>
          <p:nvPr>
            <p:ph/>
          </p:nvPr>
        </p:nvSpPr>
        <p:spPr>
          <a:xfrm>
            <a:off x="4669920" y="1369080"/>
            <a:ext cx="3848400" cy="155628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25" name="PlaceHolder 4"/>
          <p:cNvSpPr>
            <a:spLocks noGrp="1"/>
          </p:cNvSpPr>
          <p:nvPr>
            <p:ph/>
          </p:nvPr>
        </p:nvSpPr>
        <p:spPr>
          <a:xfrm>
            <a:off x="628560" y="3073680"/>
            <a:ext cx="7886520" cy="155628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DE4E6085-A791-4DB6-A664-84C9BA8F6097}" type="slidenum">
              <a:t>&lt;#&gt;</a:t>
            </a:fld>
          </a:p>
        </p:txBody>
      </p:sp>
      <p:sp>
        <p:nvSpPr>
          <p:cNvPr id="8" name="PlaceHolder 7"/>
          <p:cNvSpPr>
            <a:spLocks noGrp="1"/>
          </p:cNvSpPr>
          <p:nvPr>
            <p:ph type="dt" idx="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28560" y="273960"/>
            <a:ext cx="7886520" cy="993960"/>
          </a:xfrm>
          <a:prstGeom prst="rect">
            <a:avLst/>
          </a:prstGeom>
          <a:noFill/>
          <a:ln w="0">
            <a:noFill/>
          </a:ln>
        </p:spPr>
        <p:txBody>
          <a:bodyPr lIns="0" rIns="0" tIns="0" bIns="0" anchor="ctr">
            <a:noAutofit/>
          </a:bodyPr>
          <a:p>
            <a:endParaRPr b="0" lang="en-US" sz="1500" spc="-1" strike="noStrike">
              <a:solidFill>
                <a:srgbClr val="000000"/>
              </a:solidFill>
              <a:latin typeface="Calibri"/>
            </a:endParaRPr>
          </a:p>
        </p:txBody>
      </p:sp>
      <p:sp>
        <p:nvSpPr>
          <p:cNvPr id="27" name="PlaceHolder 2"/>
          <p:cNvSpPr>
            <a:spLocks noGrp="1"/>
          </p:cNvSpPr>
          <p:nvPr>
            <p:ph/>
          </p:nvPr>
        </p:nvSpPr>
        <p:spPr>
          <a:xfrm>
            <a:off x="628560" y="1369080"/>
            <a:ext cx="7886520" cy="155628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28" name="PlaceHolder 3"/>
          <p:cNvSpPr>
            <a:spLocks noGrp="1"/>
          </p:cNvSpPr>
          <p:nvPr>
            <p:ph/>
          </p:nvPr>
        </p:nvSpPr>
        <p:spPr>
          <a:xfrm>
            <a:off x="628560" y="3073680"/>
            <a:ext cx="7886520" cy="155628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68798589-5B2F-4FE7-97A8-3757F775B8E9}" type="slidenum">
              <a:t>&lt;#&gt;</a:t>
            </a:fld>
          </a:p>
        </p:txBody>
      </p:sp>
      <p:sp>
        <p:nvSpPr>
          <p:cNvPr id="7" name="PlaceHolder 6"/>
          <p:cNvSpPr>
            <a:spLocks noGrp="1"/>
          </p:cNvSpPr>
          <p:nvPr>
            <p:ph type="dt" idx="1"/>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28560" y="273960"/>
            <a:ext cx="7886520" cy="993960"/>
          </a:xfrm>
          <a:prstGeom prst="rect">
            <a:avLst/>
          </a:prstGeom>
          <a:noFill/>
          <a:ln w="0">
            <a:noFill/>
          </a:ln>
        </p:spPr>
        <p:txBody>
          <a:bodyPr lIns="0" rIns="0" tIns="0" bIns="0" anchor="ctr">
            <a:noAutofit/>
          </a:bodyPr>
          <a:p>
            <a:endParaRPr b="0" lang="en-US" sz="1500" spc="-1" strike="noStrike">
              <a:solidFill>
                <a:srgbClr val="000000"/>
              </a:solidFill>
              <a:latin typeface="Calibri"/>
            </a:endParaRPr>
          </a:p>
        </p:txBody>
      </p:sp>
      <p:sp>
        <p:nvSpPr>
          <p:cNvPr id="30" name="PlaceHolder 2"/>
          <p:cNvSpPr>
            <a:spLocks noGrp="1"/>
          </p:cNvSpPr>
          <p:nvPr>
            <p:ph/>
          </p:nvPr>
        </p:nvSpPr>
        <p:spPr>
          <a:xfrm>
            <a:off x="628560" y="1369080"/>
            <a:ext cx="3848400" cy="155628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31" name="PlaceHolder 3"/>
          <p:cNvSpPr>
            <a:spLocks noGrp="1"/>
          </p:cNvSpPr>
          <p:nvPr>
            <p:ph/>
          </p:nvPr>
        </p:nvSpPr>
        <p:spPr>
          <a:xfrm>
            <a:off x="4669920" y="1369080"/>
            <a:ext cx="3848400" cy="155628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32" name="PlaceHolder 4"/>
          <p:cNvSpPr>
            <a:spLocks noGrp="1"/>
          </p:cNvSpPr>
          <p:nvPr>
            <p:ph/>
          </p:nvPr>
        </p:nvSpPr>
        <p:spPr>
          <a:xfrm>
            <a:off x="628560" y="3073680"/>
            <a:ext cx="3848400" cy="155628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33" name="PlaceHolder 5"/>
          <p:cNvSpPr>
            <a:spLocks noGrp="1"/>
          </p:cNvSpPr>
          <p:nvPr>
            <p:ph/>
          </p:nvPr>
        </p:nvSpPr>
        <p:spPr>
          <a:xfrm>
            <a:off x="4669920" y="3073680"/>
            <a:ext cx="3848400" cy="155628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9712E5A9-FF06-41BE-A21D-24A58CCC9FC3}" type="slidenum">
              <a:t>&lt;#&gt;</a:t>
            </a:fld>
          </a:p>
        </p:txBody>
      </p:sp>
      <p:sp>
        <p:nvSpPr>
          <p:cNvPr id="9" name="PlaceHolder 8"/>
          <p:cNvSpPr>
            <a:spLocks noGrp="1"/>
          </p:cNvSpPr>
          <p:nvPr>
            <p:ph type="dt" idx="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28560" y="273960"/>
            <a:ext cx="7886520" cy="993960"/>
          </a:xfrm>
          <a:prstGeom prst="rect">
            <a:avLst/>
          </a:prstGeom>
          <a:noFill/>
          <a:ln w="0">
            <a:noFill/>
          </a:ln>
        </p:spPr>
        <p:txBody>
          <a:bodyPr lIns="0" rIns="0" tIns="0" bIns="0" anchor="ctr">
            <a:noAutofit/>
          </a:bodyPr>
          <a:p>
            <a:endParaRPr b="0" lang="en-US" sz="1500" spc="-1" strike="noStrike">
              <a:solidFill>
                <a:srgbClr val="000000"/>
              </a:solidFill>
              <a:latin typeface="Calibri"/>
            </a:endParaRPr>
          </a:p>
        </p:txBody>
      </p:sp>
      <p:sp>
        <p:nvSpPr>
          <p:cNvPr id="35" name="PlaceHolder 2"/>
          <p:cNvSpPr>
            <a:spLocks noGrp="1"/>
          </p:cNvSpPr>
          <p:nvPr>
            <p:ph/>
          </p:nvPr>
        </p:nvSpPr>
        <p:spPr>
          <a:xfrm>
            <a:off x="628560" y="1369080"/>
            <a:ext cx="2539080" cy="155628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36" name="PlaceHolder 3"/>
          <p:cNvSpPr>
            <a:spLocks noGrp="1"/>
          </p:cNvSpPr>
          <p:nvPr>
            <p:ph/>
          </p:nvPr>
        </p:nvSpPr>
        <p:spPr>
          <a:xfrm>
            <a:off x="3295080" y="1369080"/>
            <a:ext cx="2539080" cy="155628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37" name="PlaceHolder 4"/>
          <p:cNvSpPr>
            <a:spLocks noGrp="1"/>
          </p:cNvSpPr>
          <p:nvPr>
            <p:ph/>
          </p:nvPr>
        </p:nvSpPr>
        <p:spPr>
          <a:xfrm>
            <a:off x="5961240" y="1369080"/>
            <a:ext cx="2539080" cy="155628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38" name="PlaceHolder 5"/>
          <p:cNvSpPr>
            <a:spLocks noGrp="1"/>
          </p:cNvSpPr>
          <p:nvPr>
            <p:ph/>
          </p:nvPr>
        </p:nvSpPr>
        <p:spPr>
          <a:xfrm>
            <a:off x="628560" y="3073680"/>
            <a:ext cx="2539080" cy="155628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39" name="PlaceHolder 6"/>
          <p:cNvSpPr>
            <a:spLocks noGrp="1"/>
          </p:cNvSpPr>
          <p:nvPr>
            <p:ph/>
          </p:nvPr>
        </p:nvSpPr>
        <p:spPr>
          <a:xfrm>
            <a:off x="3295080" y="3073680"/>
            <a:ext cx="2539080" cy="155628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40" name="PlaceHolder 7"/>
          <p:cNvSpPr>
            <a:spLocks noGrp="1"/>
          </p:cNvSpPr>
          <p:nvPr>
            <p:ph/>
          </p:nvPr>
        </p:nvSpPr>
        <p:spPr>
          <a:xfrm>
            <a:off x="5961240" y="3073680"/>
            <a:ext cx="2539080" cy="1556280"/>
          </a:xfrm>
          <a:prstGeom prst="rect">
            <a:avLst/>
          </a:prstGeom>
          <a:noFill/>
          <a:ln w="0">
            <a:noFill/>
          </a:ln>
        </p:spPr>
        <p:txBody>
          <a:bodyPr lIns="0" rIns="0" tIns="0" bIns="0" anchor="t">
            <a:normAutofit/>
          </a:bodyPr>
          <a:p>
            <a:pPr>
              <a:lnSpc>
                <a:spcPct val="90000"/>
              </a:lnSpc>
              <a:spcBef>
                <a:spcPts val="1417"/>
              </a:spcBef>
              <a:buNone/>
            </a:pPr>
            <a:endParaRPr b="0" lang="en-US" sz="24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D54706AD-131A-468B-BBCC-1A2CCBB47B44}" type="slidenum">
              <a:t>&lt;#&gt;</a:t>
            </a:fld>
          </a:p>
        </p:txBody>
      </p:sp>
      <p:sp>
        <p:nvSpPr>
          <p:cNvPr id="11" name="PlaceHolder 10"/>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28560" y="273960"/>
            <a:ext cx="7886520" cy="993960"/>
          </a:xfrm>
          <a:prstGeom prst="rect">
            <a:avLst/>
          </a:prstGeom>
          <a:noFill/>
          <a:ln w="0">
            <a:noFill/>
          </a:ln>
        </p:spPr>
        <p:txBody>
          <a:bodyPr lIns="77760" rIns="77760" tIns="38880" bIns="38880" anchor="ctr">
            <a:noAutofit/>
          </a:bodyPr>
          <a:p>
            <a:pPr>
              <a:lnSpc>
                <a:spcPct val="90000"/>
              </a:lnSpc>
              <a:buNone/>
            </a:pPr>
            <a:r>
              <a:rPr b="0" lang="ru-RU" sz="3700" spc="-1" strike="noStrike">
                <a:solidFill>
                  <a:srgbClr val="000000"/>
                </a:solidFill>
                <a:latin typeface="Calibri Light"/>
              </a:rPr>
              <a:t>Образец заголовка</a:t>
            </a:r>
            <a:endParaRPr b="0" lang="en-US" sz="3700" spc="-1" strike="noStrike">
              <a:solidFill>
                <a:srgbClr val="000000"/>
              </a:solidFill>
              <a:latin typeface="Calibri"/>
            </a:endParaRPr>
          </a:p>
        </p:txBody>
      </p:sp>
      <p:sp>
        <p:nvSpPr>
          <p:cNvPr id="1" name="PlaceHolder 2"/>
          <p:cNvSpPr>
            <a:spLocks noGrp="1"/>
          </p:cNvSpPr>
          <p:nvPr>
            <p:ph type="body"/>
          </p:nvPr>
        </p:nvSpPr>
        <p:spPr>
          <a:xfrm>
            <a:off x="628560" y="1369080"/>
            <a:ext cx="7886520" cy="3263040"/>
          </a:xfrm>
          <a:prstGeom prst="rect">
            <a:avLst/>
          </a:prstGeom>
          <a:noFill/>
          <a:ln w="0">
            <a:noFill/>
          </a:ln>
        </p:spPr>
        <p:txBody>
          <a:bodyPr lIns="77760" rIns="77760" tIns="38880" bIns="38880" anchor="t">
            <a:noAutofit/>
          </a:bodyPr>
          <a:p>
            <a:pPr marL="194760" indent="-194760">
              <a:lnSpc>
                <a:spcPct val="90000"/>
              </a:lnSpc>
              <a:spcBef>
                <a:spcPts val="853"/>
              </a:spcBef>
              <a:buClr>
                <a:srgbClr val="000000"/>
              </a:buClr>
              <a:buFont typeface="Arial"/>
              <a:buChar char="•"/>
            </a:pPr>
            <a:r>
              <a:rPr b="0" lang="ru-RU" sz="2400" spc="-1" strike="noStrike">
                <a:solidFill>
                  <a:srgbClr val="000000"/>
                </a:solidFill>
                <a:latin typeface="Calibri"/>
              </a:rPr>
              <a:t>Образец текста</a:t>
            </a:r>
            <a:endParaRPr b="0" lang="en-US" sz="2400" spc="-1" strike="noStrike">
              <a:solidFill>
                <a:srgbClr val="000000"/>
              </a:solidFill>
              <a:latin typeface="Calibri"/>
            </a:endParaRPr>
          </a:p>
          <a:p>
            <a:pPr lvl="1" marL="584280" indent="-194760">
              <a:lnSpc>
                <a:spcPct val="90000"/>
              </a:lnSpc>
              <a:spcBef>
                <a:spcPts val="425"/>
              </a:spcBef>
              <a:buClr>
                <a:srgbClr val="000000"/>
              </a:buClr>
              <a:buFont typeface="Arial"/>
              <a:buChar char="•"/>
            </a:pPr>
            <a:r>
              <a:rPr b="0" lang="ru-RU" sz="2000" spc="-1" strike="noStrike">
                <a:solidFill>
                  <a:srgbClr val="000000"/>
                </a:solidFill>
                <a:latin typeface="Calibri"/>
              </a:rPr>
              <a:t>Второй уровень</a:t>
            </a:r>
            <a:endParaRPr b="0" lang="en-US" sz="2000" spc="-1" strike="noStrike">
              <a:solidFill>
                <a:srgbClr val="000000"/>
              </a:solidFill>
              <a:latin typeface="Calibri"/>
            </a:endParaRPr>
          </a:p>
          <a:p>
            <a:pPr lvl="2" marL="974160" indent="-194760">
              <a:lnSpc>
                <a:spcPct val="90000"/>
              </a:lnSpc>
              <a:spcBef>
                <a:spcPts val="425"/>
              </a:spcBef>
              <a:buClr>
                <a:srgbClr val="000000"/>
              </a:buClr>
              <a:buFont typeface="Arial"/>
              <a:buChar char="•"/>
            </a:pPr>
            <a:r>
              <a:rPr b="0" lang="ru-RU" sz="1700" spc="-1" strike="noStrike">
                <a:solidFill>
                  <a:srgbClr val="000000"/>
                </a:solidFill>
                <a:latin typeface="Calibri"/>
              </a:rPr>
              <a:t>Третий уровень</a:t>
            </a:r>
            <a:endParaRPr b="0" lang="en-US" sz="1700" spc="-1" strike="noStrike">
              <a:solidFill>
                <a:srgbClr val="000000"/>
              </a:solidFill>
              <a:latin typeface="Calibri"/>
            </a:endParaRPr>
          </a:p>
          <a:p>
            <a:pPr lvl="3" marL="1363680" indent="-194760">
              <a:lnSpc>
                <a:spcPct val="90000"/>
              </a:lnSpc>
              <a:spcBef>
                <a:spcPts val="425"/>
              </a:spcBef>
              <a:buClr>
                <a:srgbClr val="000000"/>
              </a:buClr>
              <a:buFont typeface="Arial"/>
              <a:buChar char="•"/>
            </a:pPr>
            <a:r>
              <a:rPr b="0" lang="ru-RU" sz="1500" spc="-1" strike="noStrike">
                <a:solidFill>
                  <a:srgbClr val="000000"/>
                </a:solidFill>
                <a:latin typeface="Calibri"/>
              </a:rPr>
              <a:t>Четвертый уровень</a:t>
            </a:r>
            <a:endParaRPr b="0" lang="en-US" sz="1500" spc="-1" strike="noStrike">
              <a:solidFill>
                <a:srgbClr val="000000"/>
              </a:solidFill>
              <a:latin typeface="Calibri"/>
            </a:endParaRPr>
          </a:p>
          <a:p>
            <a:pPr lvl="4" marL="1753200" indent="-194760">
              <a:lnSpc>
                <a:spcPct val="90000"/>
              </a:lnSpc>
              <a:spcBef>
                <a:spcPts val="425"/>
              </a:spcBef>
              <a:buClr>
                <a:srgbClr val="000000"/>
              </a:buClr>
              <a:buFont typeface="Arial"/>
              <a:buChar char="•"/>
            </a:pPr>
            <a:r>
              <a:rPr b="0" lang="ru-RU" sz="1500" spc="-1" strike="noStrike">
                <a:solidFill>
                  <a:srgbClr val="000000"/>
                </a:solidFill>
                <a:latin typeface="Calibri"/>
              </a:rPr>
              <a:t>Пятый уровень</a:t>
            </a:r>
            <a:endParaRPr b="0" lang="en-US" sz="1500" spc="-1" strike="noStrike">
              <a:solidFill>
                <a:srgbClr val="000000"/>
              </a:solidFill>
              <a:latin typeface="Calibri"/>
            </a:endParaRPr>
          </a:p>
        </p:txBody>
      </p:sp>
      <p:sp>
        <p:nvSpPr>
          <p:cNvPr id="2" name="PlaceHolder 3"/>
          <p:cNvSpPr>
            <a:spLocks noGrp="1"/>
          </p:cNvSpPr>
          <p:nvPr>
            <p:ph type="dt" idx="1"/>
          </p:nvPr>
        </p:nvSpPr>
        <p:spPr>
          <a:xfrm>
            <a:off x="628560" y="4767120"/>
            <a:ext cx="2057040" cy="273600"/>
          </a:xfrm>
          <a:prstGeom prst="rect">
            <a:avLst/>
          </a:prstGeom>
          <a:noFill/>
          <a:ln w="0">
            <a:noFill/>
          </a:ln>
        </p:spPr>
        <p:txBody>
          <a:bodyPr lIns="77760" rIns="77760" tIns="38880" bIns="38880" anchor="ctr">
            <a:noAutofit/>
          </a:bodyPr>
          <a:lstStyle>
            <a:lvl1pPr>
              <a:lnSpc>
                <a:spcPct val="100000"/>
              </a:lnSpc>
              <a:buNone/>
              <a:defRPr b="0" lang="ru-RU" sz="1000" spc="-1" strike="noStrike">
                <a:solidFill>
                  <a:srgbClr val="8b8b8b"/>
                </a:solidFill>
                <a:latin typeface="Calibri"/>
              </a:defRPr>
            </a:lvl1pPr>
          </a:lstStyle>
          <a:p>
            <a:pPr>
              <a:lnSpc>
                <a:spcPct val="100000"/>
              </a:lnSpc>
              <a:buNone/>
            </a:pPr>
            <a:r>
              <a:rPr b="0" lang="ru-RU" sz="1000" spc="-1" strike="noStrike">
                <a:solidFill>
                  <a:srgbClr val="8b8b8b"/>
                </a:solidFill>
                <a:latin typeface="Calibri"/>
              </a:rPr>
              <a:t>&lt;date/time&gt;</a:t>
            </a:r>
            <a:endParaRPr b="0" lang="en-US" sz="1000" spc="-1" strike="noStrike">
              <a:latin typeface="Times New Roman"/>
            </a:endParaRPr>
          </a:p>
        </p:txBody>
      </p:sp>
      <p:sp>
        <p:nvSpPr>
          <p:cNvPr id="3" name="PlaceHolder 4"/>
          <p:cNvSpPr>
            <a:spLocks noGrp="1"/>
          </p:cNvSpPr>
          <p:nvPr>
            <p:ph type="ftr" idx="2"/>
          </p:nvPr>
        </p:nvSpPr>
        <p:spPr>
          <a:xfrm>
            <a:off x="3029040" y="4767120"/>
            <a:ext cx="3085920" cy="273600"/>
          </a:xfrm>
          <a:prstGeom prst="rect">
            <a:avLst/>
          </a:prstGeom>
          <a:noFill/>
          <a:ln w="0">
            <a:noFill/>
          </a:ln>
        </p:spPr>
        <p:txBody>
          <a:bodyPr lIns="77760" rIns="77760" tIns="38880" bIns="38880" anchor="ctr">
            <a:noAutofit/>
          </a:bodyPr>
          <a:lstStyle>
            <a:lvl1pPr algn="ctr">
              <a:buNone/>
              <a:defRPr b="0" lang="en-US" sz="1400" spc="-1" strike="noStrike">
                <a:latin typeface="Times New Roman"/>
              </a:defRPr>
            </a:lvl1pPr>
          </a:lstStyle>
          <a:p>
            <a:pPr algn="ctr">
              <a:buNone/>
            </a:pPr>
            <a:r>
              <a:rPr b="0" lang="en-US" sz="1400" spc="-1" strike="noStrike">
                <a:latin typeface="Times New Roman"/>
              </a:rPr>
              <a:t>&lt;footer&gt;</a:t>
            </a:r>
            <a:endParaRPr b="0" lang="en-US" sz="1400" spc="-1" strike="noStrike">
              <a:latin typeface="Times New Roman"/>
            </a:endParaRPr>
          </a:p>
        </p:txBody>
      </p:sp>
      <p:sp>
        <p:nvSpPr>
          <p:cNvPr id="4" name="PlaceHolder 5"/>
          <p:cNvSpPr>
            <a:spLocks noGrp="1"/>
          </p:cNvSpPr>
          <p:nvPr>
            <p:ph type="sldNum" idx="3"/>
          </p:nvPr>
        </p:nvSpPr>
        <p:spPr>
          <a:xfrm>
            <a:off x="6458040" y="4767120"/>
            <a:ext cx="2057040" cy="273600"/>
          </a:xfrm>
          <a:prstGeom prst="rect">
            <a:avLst/>
          </a:prstGeom>
          <a:noFill/>
          <a:ln w="0">
            <a:noFill/>
          </a:ln>
        </p:spPr>
        <p:txBody>
          <a:bodyPr lIns="77760" rIns="77760" tIns="38880" bIns="38880" anchor="ctr">
            <a:noAutofit/>
          </a:bodyPr>
          <a:lstStyle>
            <a:lvl1pPr algn="r">
              <a:lnSpc>
                <a:spcPct val="100000"/>
              </a:lnSpc>
              <a:buNone/>
              <a:defRPr b="0" lang="ru-RU" sz="1000" spc="-1" strike="noStrike">
                <a:solidFill>
                  <a:srgbClr val="8b8b8b"/>
                </a:solidFill>
                <a:latin typeface="Calibri"/>
              </a:defRPr>
            </a:lvl1pPr>
          </a:lstStyle>
          <a:p>
            <a:pPr algn="r">
              <a:lnSpc>
                <a:spcPct val="100000"/>
              </a:lnSpc>
              <a:buNone/>
            </a:pPr>
            <a:fld id="{2509EF9A-41D6-4A01-B134-7ED299FD51D1}" type="slidenum">
              <a:rPr b="0" lang="ru-RU" sz="1000" spc="-1" strike="noStrike">
                <a:solidFill>
                  <a:srgbClr val="8b8b8b"/>
                </a:solidFill>
                <a:latin typeface="Calibri"/>
              </a:rPr>
              <a:t>&lt;number&gt;</a:t>
            </a:fld>
            <a:endParaRPr b="0" lang="en-US" sz="10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757800" y="1855080"/>
            <a:ext cx="7886520" cy="993960"/>
          </a:xfrm>
          <a:prstGeom prst="rect">
            <a:avLst/>
          </a:prstGeom>
          <a:noFill/>
          <a:ln w="0">
            <a:noFill/>
          </a:ln>
        </p:spPr>
        <p:txBody>
          <a:bodyPr lIns="77760" rIns="77760" tIns="38880" bIns="38880" anchor="ctr">
            <a:normAutofit fontScale="90000"/>
          </a:bodyPr>
          <a:p>
            <a:pPr algn="ctr">
              <a:lnSpc>
                <a:spcPct val="90000"/>
              </a:lnSpc>
              <a:buNone/>
            </a:pPr>
            <a:r>
              <a:rPr b="0" lang="ru-RU" sz="3700" spc="-1" strike="noStrike">
                <a:solidFill>
                  <a:srgbClr val="000000"/>
                </a:solidFill>
                <a:latin typeface="Calibri Light"/>
              </a:rPr>
              <a:t>Плат</a:t>
            </a:r>
            <a:r>
              <a:rPr b="0" lang="ru-RU" sz="3700" spc="-1" strike="noStrike">
                <a:solidFill>
                  <a:srgbClr val="000000"/>
                </a:solidFill>
                <a:latin typeface="Calibri Light"/>
              </a:rPr>
              <a:t>фор</a:t>
            </a:r>
            <a:r>
              <a:rPr b="0" lang="ru-RU" sz="3700" spc="-1" strike="noStrike">
                <a:solidFill>
                  <a:srgbClr val="000000"/>
                </a:solidFill>
                <a:latin typeface="Calibri Light"/>
              </a:rPr>
              <a:t>мы и </a:t>
            </a:r>
            <a:r>
              <a:rPr b="0" lang="ru-RU" sz="3700" spc="-1" strike="noStrike">
                <a:solidFill>
                  <a:srgbClr val="000000"/>
                </a:solidFill>
                <a:latin typeface="Calibri Light"/>
              </a:rPr>
              <a:t>фрей</a:t>
            </a:r>
            <a:r>
              <a:rPr b="0" lang="ru-RU" sz="3700" spc="-1" strike="noStrike">
                <a:solidFill>
                  <a:srgbClr val="000000"/>
                </a:solidFill>
                <a:latin typeface="Calibri Light"/>
              </a:rPr>
              <a:t>мвор</a:t>
            </a:r>
            <a:r>
              <a:rPr b="0" lang="ru-RU" sz="3700" spc="-1" strike="noStrike">
                <a:solidFill>
                  <a:srgbClr val="000000"/>
                </a:solidFill>
                <a:latin typeface="Calibri Light"/>
              </a:rPr>
              <a:t>ки </a:t>
            </a:r>
            <a:r>
              <a:rPr b="0" lang="ru-RU" sz="3700" spc="-1" strike="noStrike">
                <a:solidFill>
                  <a:srgbClr val="000000"/>
                </a:solidFill>
                <a:latin typeface="Calibri Light"/>
              </a:rPr>
              <a:t>глуб</a:t>
            </a:r>
            <a:r>
              <a:rPr b="0" lang="ru-RU" sz="3700" spc="-1" strike="noStrike">
                <a:solidFill>
                  <a:srgbClr val="000000"/>
                </a:solidFill>
                <a:latin typeface="Calibri Light"/>
              </a:rPr>
              <a:t>оког</a:t>
            </a:r>
            <a:r>
              <a:rPr b="0" lang="ru-RU" sz="3700" spc="-1" strike="noStrike">
                <a:solidFill>
                  <a:srgbClr val="000000"/>
                </a:solidFill>
                <a:latin typeface="Calibri Light"/>
              </a:rPr>
              <a:t>о </a:t>
            </a:r>
            <a:r>
              <a:rPr b="0" lang="ru-RU" sz="3700" spc="-1" strike="noStrike">
                <a:solidFill>
                  <a:srgbClr val="000000"/>
                </a:solidFill>
                <a:latin typeface="Calibri Light"/>
              </a:rPr>
              <a:t>обуч</a:t>
            </a:r>
            <a:r>
              <a:rPr b="0" lang="ru-RU" sz="3700" spc="-1" strike="noStrike">
                <a:solidFill>
                  <a:srgbClr val="000000"/>
                </a:solidFill>
                <a:latin typeface="Calibri Light"/>
              </a:rPr>
              <a:t>ения</a:t>
            </a:r>
            <a:endParaRPr b="0" lang="en-US" sz="3700" spc="-1" strike="noStrike">
              <a:solidFill>
                <a:srgbClr val="000000"/>
              </a:solidFill>
              <a:latin typeface="Calibri"/>
            </a:endParaRPr>
          </a:p>
        </p:txBody>
      </p:sp>
      <p:sp>
        <p:nvSpPr>
          <p:cNvPr id="3" name="PlaceHolder 2"/>
          <p:cNvSpPr>
            <a:spLocks noGrp="1"/>
          </p:cNvSpPr>
          <p:nvPr>
            <p:ph type="sldNum" idx="3"/>
          </p:nvPr>
        </p:nvSpPr>
        <p:spPr/>
        <p:txBody>
          <a:bodyPr/>
          <a:p>
            <a:fld id="{0EDCB36B-DA4E-475A-A21B-74541112B39B}"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Прямоугольник 6"/>
          <p:cNvSpPr/>
          <p:nvPr/>
        </p:nvSpPr>
        <p:spPr>
          <a:xfrm>
            <a:off x="274320" y="952200"/>
            <a:ext cx="8595000" cy="42267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pPr>
            <a:r>
              <a:rPr b="1" lang="ru-RU" sz="1600" spc="-1" strike="noStrike">
                <a:solidFill>
                  <a:srgbClr val="000000"/>
                </a:solidFill>
                <a:latin typeface="Cambria"/>
                <a:ea typeface="Times New Roman"/>
              </a:rPr>
              <a:t>Обучение</a:t>
            </a:r>
            <a:r>
              <a:rPr b="0" lang="ru-RU" sz="1600" spc="-1" strike="noStrike">
                <a:solidFill>
                  <a:srgbClr val="000000"/>
                </a:solidFill>
                <a:latin typeface="Cambria"/>
                <a:ea typeface="Times New Roman"/>
              </a:rPr>
              <a:t>. В процессе обучения размеченный набор данных пропускается через необученную нейронную сеть. Результаты фреймворка сравниваются с разметкой. Затем фреймворк оценивает значение ошибки и обновляет веса в слоях нейронной сети методом обратного распространения ошибки. Этот процесс повторяется до тех пор, пока нейронная сеть не будет делать прогнозы с достаточной точностью. Для этого требуются мощные вычислительные кластеры и высокопроизводительные масштабируемые системы хранения.</a:t>
            </a:r>
            <a:endParaRPr b="0" lang="en-US" sz="1600" spc="-1" strike="noStrike">
              <a:latin typeface="Arial"/>
            </a:endParaRPr>
          </a:p>
          <a:p>
            <a:pPr algn="just">
              <a:lnSpc>
                <a:spcPct val="100000"/>
              </a:lnSpc>
              <a:buNone/>
            </a:pPr>
            <a:endParaRPr b="0" lang="en-US" sz="1600" spc="-1" strike="noStrike">
              <a:latin typeface="Arial"/>
            </a:endParaRPr>
          </a:p>
          <a:p>
            <a:pPr algn="just">
              <a:lnSpc>
                <a:spcPct val="100000"/>
              </a:lnSpc>
              <a:buNone/>
            </a:pPr>
            <a:r>
              <a:rPr b="1" lang="ru-RU" sz="1600" spc="-1" strike="noStrike">
                <a:solidFill>
                  <a:srgbClr val="000000"/>
                </a:solidFill>
                <a:latin typeface="Cambria"/>
                <a:ea typeface="Times New Roman"/>
              </a:rPr>
              <a:t>Инференс</a:t>
            </a:r>
            <a:r>
              <a:rPr b="0" lang="ru-RU" sz="1600" spc="-1" strike="noStrike">
                <a:solidFill>
                  <a:srgbClr val="000000"/>
                </a:solidFill>
                <a:latin typeface="Cambria"/>
                <a:ea typeface="Times New Roman"/>
              </a:rPr>
              <a:t> – это использование </a:t>
            </a:r>
            <a:r>
              <a:rPr b="0" lang="ru-RU" sz="1600" spc="-1" strike="noStrike">
                <a:solidFill>
                  <a:srgbClr val="000000"/>
                </a:solidFill>
                <a:latin typeface="Cambria"/>
                <a:ea typeface="Times New Roman"/>
              </a:rPr>
              <a:t>обученной</a:t>
            </a:r>
            <a:r>
              <a:rPr b="0" lang="ru-RU" sz="1600" spc="-1" strike="noStrike">
                <a:solidFill>
                  <a:srgbClr val="000000"/>
                </a:solidFill>
                <a:latin typeface="Cambria"/>
                <a:ea typeface="Times New Roman"/>
              </a:rPr>
              <a:t> модели нейронной сети в работе. Для использования глубоких моделей в прикладных задачах требуется минимизировать использование ресурсов. Решается это различными способами: использование оптимизированных библиотек, которые максимально плотно заполняют конвейер процессора вычислениями (так называемые инференс-фреймворки); конвертация параметров модели из fp32 в fp16, int8; использование специализированных ускорителей (GPU, </a:t>
            </a:r>
            <a:r>
              <a:rPr b="0" lang="en-US" sz="1600" spc="-1" strike="noStrike">
                <a:solidFill>
                  <a:srgbClr val="000000"/>
                </a:solidFill>
                <a:latin typeface="Cambria"/>
                <a:ea typeface="Times New Roman"/>
              </a:rPr>
              <a:t>NPU</a:t>
            </a:r>
            <a:r>
              <a:rPr b="0" lang="ru-RU" sz="1600" spc="-1" strike="noStrike">
                <a:solidFill>
                  <a:srgbClr val="000000"/>
                </a:solidFill>
                <a:latin typeface="Cambria"/>
                <a:ea typeface="Times New Roman"/>
              </a:rPr>
              <a:t>, TPU, FPGA).</a:t>
            </a:r>
            <a:endParaRPr b="0" lang="en-US" sz="1600" spc="-1" strike="noStrike">
              <a:latin typeface="Arial"/>
            </a:endParaRPr>
          </a:p>
        </p:txBody>
      </p:sp>
      <p:sp>
        <p:nvSpPr>
          <p:cNvPr id="43" name="TextBox 7"/>
          <p:cNvSpPr/>
          <p:nvPr/>
        </p:nvSpPr>
        <p:spPr>
          <a:xfrm>
            <a:off x="981720" y="45000"/>
            <a:ext cx="7056720" cy="322200"/>
          </a:xfrm>
          <a:prstGeom prst="rect">
            <a:avLst/>
          </a:prstGeom>
          <a:noFill/>
          <a:ln w="0">
            <a:noFill/>
          </a:ln>
          <a:effectLst>
            <a:innerShdw blurRad="63500" dir="5400000" dist="50800">
              <a:srgbClr val="000000">
                <a:alpha val="50000"/>
              </a:srgbClr>
            </a:innerShdw>
          </a:effectLst>
          <a:scene3d>
            <a:camera prst="orthographicFront">
              <a:rot lat="0" lon="0" rev="0"/>
            </a:camera>
            <a:lightRig dir="t" rig="balanced">
              <a:rot lat="0" lon="0" rev="8700000"/>
            </a:lightRig>
          </a:scene3d>
          <a:sp3d>
            <a:bevelT w="190500" h="38100"/>
          </a:sp3d>
        </p:spPr>
        <p:style>
          <a:lnRef idx="0"/>
          <a:fillRef idx="0"/>
          <a:effectRef idx="0"/>
          <a:fontRef idx="minor"/>
        </p:style>
        <p:txBody>
          <a:bodyPr lIns="0" rIns="0" tIns="0" bIns="0" anchor="ctr">
            <a:noAutofit/>
          </a:bodyPr>
          <a:p>
            <a:pPr algn="ctr">
              <a:lnSpc>
                <a:spcPct val="100000"/>
              </a:lnSpc>
              <a:buNone/>
            </a:pPr>
            <a:r>
              <a:rPr b="1" lang="ru-RU" sz="1400" spc="-1" strike="noStrike">
                <a:solidFill>
                  <a:srgbClr val="000000"/>
                </a:solidFill>
                <a:latin typeface="Calibri"/>
              </a:rPr>
              <a:t>Обучение и прямой проход (инференс) нейронных сетей</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TextBox 7"/>
          <p:cNvSpPr/>
          <p:nvPr/>
        </p:nvSpPr>
        <p:spPr>
          <a:xfrm>
            <a:off x="981720" y="45000"/>
            <a:ext cx="7056720" cy="322200"/>
          </a:xfrm>
          <a:prstGeom prst="rect">
            <a:avLst/>
          </a:prstGeom>
          <a:noFill/>
          <a:ln w="0">
            <a:noFill/>
          </a:ln>
          <a:effectLst>
            <a:innerShdw blurRad="63500" dir="5400000" dist="50800">
              <a:srgbClr val="000000">
                <a:alpha val="50000"/>
              </a:srgbClr>
            </a:innerShdw>
          </a:effectLst>
          <a:scene3d>
            <a:camera prst="orthographicFront">
              <a:rot lat="0" lon="0" rev="0"/>
            </a:camera>
            <a:lightRig dir="t" rig="balanced">
              <a:rot lat="0" lon="0" rev="8700000"/>
            </a:lightRig>
          </a:scene3d>
          <a:sp3d>
            <a:bevelT w="190500" h="38100"/>
          </a:sp3d>
        </p:spPr>
        <p:style>
          <a:lnRef idx="0"/>
          <a:fillRef idx="0"/>
          <a:effectRef idx="0"/>
          <a:fontRef idx="minor"/>
        </p:style>
        <p:txBody>
          <a:bodyPr lIns="0" rIns="0" tIns="0" bIns="0" anchor="ctr">
            <a:noAutofit/>
          </a:bodyPr>
          <a:p>
            <a:pPr algn="ctr">
              <a:lnSpc>
                <a:spcPct val="100000"/>
              </a:lnSpc>
              <a:buNone/>
            </a:pPr>
            <a:r>
              <a:rPr b="1" lang="ru-RU" sz="1400" spc="-1" strike="noStrike">
                <a:solidFill>
                  <a:srgbClr val="000000"/>
                </a:solidFill>
                <a:latin typeface="Calibri"/>
              </a:rPr>
              <a:t>Фреймворки обучения нейронных сетей</a:t>
            </a:r>
            <a:endParaRPr b="0" lang="en-US" sz="1400" spc="-1" strike="noStrike">
              <a:latin typeface="Arial"/>
            </a:endParaRPr>
          </a:p>
        </p:txBody>
      </p:sp>
      <p:sp>
        <p:nvSpPr>
          <p:cNvPr id="45" name="Прямоугольник 8"/>
          <p:cNvSpPr/>
          <p:nvPr/>
        </p:nvSpPr>
        <p:spPr>
          <a:xfrm>
            <a:off x="356760" y="511200"/>
            <a:ext cx="8695440" cy="15498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pPr>
            <a:r>
              <a:rPr b="1" lang="ru-RU" sz="1600" spc="-1" strike="noStrike">
                <a:solidFill>
                  <a:srgbClr val="000000"/>
                </a:solidFill>
                <a:latin typeface="Cambria"/>
                <a:ea typeface="Times New Roman"/>
              </a:rPr>
              <a:t>Фреймворк</a:t>
            </a:r>
            <a:r>
              <a:rPr b="0" lang="ru-RU" sz="1600" spc="-1" strike="noStrike">
                <a:solidFill>
                  <a:srgbClr val="000000"/>
                </a:solidFill>
                <a:latin typeface="Cambria"/>
                <a:ea typeface="Times New Roman"/>
              </a:rPr>
              <a:t> обучения нейронных сетей представляет собой инструментарий для исследователя, позволяющий спроектировать архитектуру нейронной сети и обучить ее на предварительно собранных и размеченных данных. На выходе исследователь получает готовую модель</a:t>
            </a:r>
            <a:r>
              <a:rPr b="0" lang="ru-RU" sz="1000" spc="-1" strike="noStrike">
                <a:solidFill>
                  <a:srgbClr val="000000"/>
                </a:solidFill>
                <a:latin typeface="Cambria"/>
                <a:ea typeface="Times New Roman"/>
              </a:rPr>
              <a:t>  </a:t>
            </a:r>
            <a:r>
              <a:rPr b="0" lang="ru-RU" sz="1600" spc="-1" strike="noStrike">
                <a:solidFill>
                  <a:srgbClr val="000000"/>
                </a:solidFill>
                <a:latin typeface="Cambria"/>
                <a:ea typeface="Times New Roman"/>
              </a:rPr>
              <a:t> нейронной сети с обученными коэффициентами – так называемыми «весами». Схема работы фреймворка представлена ниже.</a:t>
            </a:r>
            <a:endParaRPr b="0" lang="en-US" sz="1600" spc="-1" strike="noStrike">
              <a:latin typeface="Arial"/>
            </a:endParaRPr>
          </a:p>
        </p:txBody>
      </p:sp>
      <p:pic>
        <p:nvPicPr>
          <p:cNvPr id="46" name="Рисунок 10" descr=""/>
          <p:cNvPicPr/>
          <p:nvPr/>
        </p:nvPicPr>
        <p:blipFill>
          <a:blip r:embed="rId1"/>
          <a:srcRect l="1112" t="0" r="0" b="0"/>
          <a:stretch/>
        </p:blipFill>
        <p:spPr>
          <a:xfrm>
            <a:off x="356760" y="1865880"/>
            <a:ext cx="5914800" cy="2885760"/>
          </a:xfrm>
          <a:prstGeom prst="rect">
            <a:avLst/>
          </a:prstGeom>
          <a:ln w="0">
            <a:noFill/>
          </a:ln>
        </p:spPr>
      </p:pic>
      <p:sp>
        <p:nvSpPr>
          <p:cNvPr id="47" name="Прямоугольник 11"/>
          <p:cNvSpPr/>
          <p:nvPr/>
        </p:nvSpPr>
        <p:spPr>
          <a:xfrm>
            <a:off x="6429600" y="1865880"/>
            <a:ext cx="2358720" cy="22798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600" spc="-1" strike="noStrike">
                <a:solidFill>
                  <a:srgbClr val="000000"/>
                </a:solidFill>
                <a:latin typeface="Cambria"/>
                <a:ea typeface="Times New Roman"/>
              </a:rPr>
              <a:t>TensorFlo</a:t>
            </a:r>
            <a:r>
              <a:rPr b="0" lang="en-US" sz="1600" spc="-1" strike="noStrike">
                <a:solidFill>
                  <a:srgbClr val="000000"/>
                </a:solidFill>
                <a:latin typeface="Cambria"/>
                <a:ea typeface="Times New Roman"/>
              </a:rPr>
              <a:t>w</a:t>
            </a:r>
            <a:r>
              <a:rPr b="0" lang="ru-RU" sz="1600" spc="-1" strike="noStrike">
                <a:solidFill>
                  <a:srgbClr val="000000"/>
                </a:solidFill>
                <a:latin typeface="Cambria"/>
                <a:ea typeface="Times New Roman"/>
              </a:rPr>
              <a:t> и PyTorch на сегодняшний день являются двумя наиболее популярными фреймворками глубокого обучения. </a:t>
            </a:r>
            <a:endParaRPr b="0" lang="en-US" sz="16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TextBox 7"/>
          <p:cNvSpPr/>
          <p:nvPr/>
        </p:nvSpPr>
        <p:spPr>
          <a:xfrm>
            <a:off x="981720" y="45000"/>
            <a:ext cx="7056720" cy="322200"/>
          </a:xfrm>
          <a:prstGeom prst="rect">
            <a:avLst/>
          </a:prstGeom>
          <a:noFill/>
          <a:ln w="0">
            <a:noFill/>
          </a:ln>
          <a:effectLst>
            <a:innerShdw blurRad="63500" dir="5400000" dist="50800">
              <a:srgbClr val="000000">
                <a:alpha val="50000"/>
              </a:srgbClr>
            </a:innerShdw>
          </a:effectLst>
          <a:scene3d>
            <a:camera prst="orthographicFront">
              <a:rot lat="0" lon="0" rev="0"/>
            </a:camera>
            <a:lightRig dir="t" rig="balanced">
              <a:rot lat="0" lon="0" rev="8700000"/>
            </a:lightRig>
          </a:scene3d>
          <a:sp3d>
            <a:bevelT w="190500" h="38100"/>
          </a:sp3d>
        </p:spPr>
        <p:style>
          <a:lnRef idx="0"/>
          <a:fillRef idx="0"/>
          <a:effectRef idx="0"/>
          <a:fontRef idx="minor"/>
        </p:style>
        <p:txBody>
          <a:bodyPr lIns="0" rIns="0" tIns="0" bIns="0" anchor="ctr">
            <a:noAutofit/>
          </a:bodyPr>
          <a:p>
            <a:pPr algn="ctr">
              <a:lnSpc>
                <a:spcPct val="100000"/>
              </a:lnSpc>
              <a:buNone/>
            </a:pPr>
            <a:r>
              <a:rPr b="1" lang="ru-RU" sz="1400" spc="-1" strike="noStrike">
                <a:solidFill>
                  <a:srgbClr val="000000"/>
                </a:solidFill>
                <a:latin typeface="Calibri"/>
              </a:rPr>
              <a:t>Фреймворки обучения нейронных сетей</a:t>
            </a:r>
            <a:endParaRPr b="0" lang="en-US" sz="1400" spc="-1" strike="noStrike">
              <a:latin typeface="Arial"/>
            </a:endParaRPr>
          </a:p>
        </p:txBody>
      </p:sp>
      <p:sp>
        <p:nvSpPr>
          <p:cNvPr id="49" name="Прямоугольник 2"/>
          <p:cNvSpPr/>
          <p:nvPr/>
        </p:nvSpPr>
        <p:spPr>
          <a:xfrm>
            <a:off x="183960" y="835200"/>
            <a:ext cx="8775720" cy="47782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tabLst>
                <a:tab algn="l" pos="4214880"/>
              </a:tabLst>
            </a:pPr>
            <a:r>
              <a:rPr b="1" lang="ru-RU" sz="1400" spc="-1" strike="noStrike">
                <a:solidFill>
                  <a:srgbClr val="000000"/>
                </a:solidFill>
                <a:latin typeface="Cambria"/>
                <a:ea typeface="Times New Roman"/>
              </a:rPr>
              <a:t>TensorFlow</a:t>
            </a:r>
            <a:r>
              <a:rPr b="0" lang="ru-RU" sz="1400" spc="-1" strike="noStrike">
                <a:solidFill>
                  <a:srgbClr val="000000"/>
                </a:solidFill>
                <a:latin typeface="Cambria"/>
                <a:ea typeface="Times New Roman"/>
              </a:rPr>
              <a:t> был разработан в Google в 2015 году. В основе первых версий TensorFlow лежали статические вычислительные графы, которые определялись перед запуском модели, что требовало перекомпиляции при изменении входных параметров. </a:t>
            </a:r>
            <a:endParaRPr b="0" lang="en-US" sz="1400" spc="-1" strike="noStrike">
              <a:latin typeface="Arial"/>
            </a:endParaRPr>
          </a:p>
          <a:p>
            <a:pPr algn="just">
              <a:lnSpc>
                <a:spcPct val="100000"/>
              </a:lnSpc>
              <a:buNone/>
              <a:tabLst>
                <a:tab algn="l" pos="4214880"/>
              </a:tabLst>
            </a:pPr>
            <a:endParaRPr b="0" lang="en-US" sz="1400" spc="-1" strike="noStrike">
              <a:latin typeface="Arial"/>
            </a:endParaRPr>
          </a:p>
          <a:p>
            <a:pPr algn="just">
              <a:lnSpc>
                <a:spcPct val="100000"/>
              </a:lnSpc>
              <a:buNone/>
              <a:tabLst>
                <a:tab algn="l" pos="4214880"/>
              </a:tabLst>
            </a:pPr>
            <a:r>
              <a:rPr b="0" lang="ru-RU" sz="1400" spc="-1" strike="noStrike">
                <a:solidFill>
                  <a:srgbClr val="000000"/>
                </a:solidFill>
                <a:latin typeface="Cambria"/>
                <a:ea typeface="Times New Roman"/>
              </a:rPr>
              <a:t>В 2019 году был представлен TensorFlow 2.0 с динамическими вычислительными графами, что существенно добавило гибкости к обучению нейронных сетей и к проведению различных экспериментов. Тем не менее, в TensorFlow 2.0 для распараллеливания моделей нейронных сетей на нескольких видеокартах все еще требуется использование дополнительных надстроек, в сравнении с PyTorch.</a:t>
            </a:r>
            <a:endParaRPr b="0" lang="en-US" sz="1400" spc="-1" strike="noStrike">
              <a:latin typeface="Arial"/>
            </a:endParaRPr>
          </a:p>
          <a:p>
            <a:pPr algn="just">
              <a:lnSpc>
                <a:spcPct val="100000"/>
              </a:lnSpc>
              <a:buNone/>
              <a:tabLst>
                <a:tab algn="l" pos="4214880"/>
              </a:tabLst>
            </a:pPr>
            <a:endParaRPr b="0" lang="en-US" sz="1400" spc="-1" strike="noStrike">
              <a:latin typeface="Arial"/>
            </a:endParaRPr>
          </a:p>
          <a:p>
            <a:pPr algn="just">
              <a:lnSpc>
                <a:spcPct val="100000"/>
              </a:lnSpc>
              <a:buNone/>
              <a:tabLst>
                <a:tab algn="l" pos="4214880"/>
              </a:tabLst>
            </a:pPr>
            <a:r>
              <a:rPr b="0" lang="ru-RU" sz="1400" spc="-1" strike="noStrike">
                <a:solidFill>
                  <a:srgbClr val="000000"/>
                </a:solidFill>
                <a:latin typeface="Cambria"/>
                <a:ea typeface="Times New Roman"/>
              </a:rPr>
              <a:t> </a:t>
            </a:r>
            <a:r>
              <a:rPr b="0" lang="ru-RU" sz="1400" spc="-1" strike="noStrike">
                <a:solidFill>
                  <a:srgbClr val="000000"/>
                </a:solidFill>
                <a:latin typeface="Cambria"/>
                <a:ea typeface="Times New Roman"/>
              </a:rPr>
              <a:t>Используя TensorFlow, можно добиться тех же результатов, что и при использовании PyTorch, но для этого потребуется больше навыков и усилий специалистов. Поэтому для быстрого старта в разработку нейронных сетей новички зачастую используют Keras – высокоуровневую надстройку над TensorFlow. </a:t>
            </a:r>
            <a:endParaRPr b="0" lang="en-US" sz="1400" spc="-1" strike="noStrike">
              <a:latin typeface="Arial"/>
            </a:endParaRPr>
          </a:p>
          <a:p>
            <a:pPr algn="just">
              <a:lnSpc>
                <a:spcPct val="100000"/>
              </a:lnSpc>
              <a:buNone/>
              <a:tabLst>
                <a:tab algn="l" pos="4214880"/>
              </a:tabLst>
            </a:pPr>
            <a:endParaRPr b="0" lang="en-US" sz="1400" spc="-1" strike="noStrike">
              <a:latin typeface="Arial"/>
            </a:endParaRPr>
          </a:p>
          <a:p>
            <a:pPr algn="just">
              <a:lnSpc>
                <a:spcPct val="100000"/>
              </a:lnSpc>
              <a:buNone/>
              <a:tabLst>
                <a:tab algn="l" pos="4214880"/>
              </a:tabLst>
            </a:pPr>
            <a:r>
              <a:rPr b="0" lang="ru-RU" sz="1400" spc="-1" strike="noStrike">
                <a:solidFill>
                  <a:srgbClr val="000000"/>
                </a:solidFill>
                <a:latin typeface="Cambria"/>
                <a:ea typeface="Times New Roman"/>
              </a:rPr>
              <a:t>Более того, с каждым годом увеличивается количество различных мобильных и веб-приложений, поэтому возникает потребность в развертывании моделей на мобильных устройствах и в браузерах. Tensorflow.js позволяет запускать собственные модели нейронных сетей в браузере, используя JavaScript. Tensorflow Lite позволяет оптимизировать и квантовать модели, что способствует повышению скорости работы нейронной сети и уменьшению количества использованной памяти на мобильных устройствах.</a:t>
            </a:r>
            <a:endParaRPr b="0" lang="en-US" sz="1400" spc="-1" strike="noStrike">
              <a:latin typeface="Arial"/>
            </a:endParaRPr>
          </a:p>
        </p:txBody>
      </p:sp>
      <p:pic>
        <p:nvPicPr>
          <p:cNvPr id="50" name="Picture 2" descr="Tensorpack: быстрый интерфейс для обучения нейросетей на TensorFlow"/>
          <p:cNvPicPr/>
          <p:nvPr/>
        </p:nvPicPr>
        <p:blipFill>
          <a:blip r:embed="rId1"/>
          <a:srcRect l="18632" t="17278" r="18959" b="14151"/>
          <a:stretch/>
        </p:blipFill>
        <p:spPr>
          <a:xfrm>
            <a:off x="214560" y="45000"/>
            <a:ext cx="1157040" cy="71208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TextBox 7"/>
          <p:cNvSpPr/>
          <p:nvPr/>
        </p:nvSpPr>
        <p:spPr>
          <a:xfrm>
            <a:off x="981720" y="45000"/>
            <a:ext cx="7056720" cy="322200"/>
          </a:xfrm>
          <a:prstGeom prst="rect">
            <a:avLst/>
          </a:prstGeom>
          <a:noFill/>
          <a:ln w="0">
            <a:noFill/>
          </a:ln>
          <a:effectLst>
            <a:innerShdw blurRad="63500" dir="5400000" dist="50800">
              <a:srgbClr val="000000">
                <a:alpha val="50000"/>
              </a:srgbClr>
            </a:innerShdw>
          </a:effectLst>
          <a:scene3d>
            <a:camera prst="orthographicFront">
              <a:rot lat="0" lon="0" rev="0"/>
            </a:camera>
            <a:lightRig dir="t" rig="balanced">
              <a:rot lat="0" lon="0" rev="8700000"/>
            </a:lightRig>
          </a:scene3d>
          <a:sp3d>
            <a:bevelT w="190500" h="38100"/>
          </a:sp3d>
        </p:spPr>
        <p:style>
          <a:lnRef idx="0"/>
          <a:fillRef idx="0"/>
          <a:effectRef idx="0"/>
          <a:fontRef idx="minor"/>
        </p:style>
        <p:txBody>
          <a:bodyPr lIns="0" rIns="0" tIns="0" bIns="0" anchor="ctr">
            <a:noAutofit/>
          </a:bodyPr>
          <a:p>
            <a:pPr algn="ctr">
              <a:lnSpc>
                <a:spcPct val="100000"/>
              </a:lnSpc>
              <a:buNone/>
            </a:pPr>
            <a:r>
              <a:rPr b="1" lang="ru-RU" sz="1400" spc="-1" strike="noStrike">
                <a:solidFill>
                  <a:srgbClr val="000000"/>
                </a:solidFill>
                <a:latin typeface="Calibri"/>
              </a:rPr>
              <a:t>Фреймворки обучения нейронных сетей</a:t>
            </a:r>
            <a:endParaRPr b="0" lang="en-US" sz="1400" spc="-1" strike="noStrike">
              <a:latin typeface="Arial"/>
            </a:endParaRPr>
          </a:p>
        </p:txBody>
      </p:sp>
      <p:sp>
        <p:nvSpPr>
          <p:cNvPr id="52" name="Прямоугольник 1"/>
          <p:cNvSpPr/>
          <p:nvPr/>
        </p:nvSpPr>
        <p:spPr>
          <a:xfrm>
            <a:off x="109800" y="1090440"/>
            <a:ext cx="8716320" cy="37126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pPr>
            <a:r>
              <a:rPr b="1" lang="ru-RU" sz="1400" spc="-1" strike="noStrike">
                <a:solidFill>
                  <a:srgbClr val="000000"/>
                </a:solidFill>
                <a:latin typeface="Cambria"/>
                <a:ea typeface="Times New Roman"/>
              </a:rPr>
              <a:t>PyTorch</a:t>
            </a:r>
            <a:r>
              <a:rPr b="0" lang="ru-RU" sz="1400" spc="-1" strike="noStrike">
                <a:solidFill>
                  <a:srgbClr val="000000"/>
                </a:solidFill>
                <a:latin typeface="Cambria"/>
                <a:ea typeface="Times New Roman"/>
              </a:rPr>
              <a:t> был разработан в Facebook в 2017 году. Динамические вычислительные графы, использующиеся в PyTorch, не требуют компиляции перед каждым выполнением. Это позволяет изменять входные данные в процессе работы и проводить более широкий спектр экспериментов. </a:t>
            </a:r>
            <a:endParaRPr b="0" lang="en-US" sz="1400" spc="-1" strike="noStrike">
              <a:latin typeface="Arial"/>
            </a:endParaRPr>
          </a:p>
          <a:p>
            <a:pPr algn="just">
              <a:lnSpc>
                <a:spcPct val="100000"/>
              </a:lnSpc>
              <a:buNone/>
            </a:pPr>
            <a:endParaRPr b="0" lang="en-US" sz="1400" spc="-1" strike="noStrike">
              <a:latin typeface="Arial"/>
            </a:endParaRPr>
          </a:p>
          <a:p>
            <a:pPr algn="just">
              <a:lnSpc>
                <a:spcPct val="100000"/>
              </a:lnSpc>
              <a:buNone/>
            </a:pPr>
            <a:r>
              <a:rPr b="0" lang="ru-RU" sz="1400" spc="-1" strike="noStrike">
                <a:solidFill>
                  <a:srgbClr val="000000"/>
                </a:solidFill>
                <a:latin typeface="Cambria"/>
                <a:ea typeface="Times New Roman"/>
              </a:rPr>
              <a:t>Для ускорения и эффективной работы с памятью приходится использовать более сложные инструменты, например JIT-компилятор (Just In Time), который создает статический вычислительный граф. </a:t>
            </a:r>
            <a:endParaRPr b="0" lang="en-US" sz="1400" spc="-1" strike="noStrike">
              <a:latin typeface="Arial"/>
            </a:endParaRPr>
          </a:p>
          <a:p>
            <a:pPr algn="just">
              <a:lnSpc>
                <a:spcPct val="100000"/>
              </a:lnSpc>
              <a:buNone/>
            </a:pPr>
            <a:endParaRPr b="0" lang="en-US" sz="1400" spc="-1" strike="noStrike">
              <a:latin typeface="Arial"/>
            </a:endParaRPr>
          </a:p>
          <a:p>
            <a:pPr algn="just">
              <a:lnSpc>
                <a:spcPct val="100000"/>
              </a:lnSpc>
              <a:buNone/>
            </a:pPr>
            <a:r>
              <a:rPr b="0" lang="ru-RU" sz="1400" spc="-1" strike="noStrike">
                <a:solidFill>
                  <a:srgbClr val="000000"/>
                </a:solidFill>
                <a:latin typeface="Cambria"/>
                <a:ea typeface="Times New Roman"/>
              </a:rPr>
              <a:t>Одна из важнейших особенностей, отличающих PyTorch от TensorFlow – возможность распараллеливания моделей на нескольких видеокартах практически без усилий в несколько строк кода. Более того, PyTorch более тесно интегрирован с языком Python. </a:t>
            </a:r>
            <a:endParaRPr b="0" lang="en-US" sz="1400" spc="-1" strike="noStrike">
              <a:latin typeface="Arial"/>
            </a:endParaRPr>
          </a:p>
          <a:p>
            <a:pPr algn="just">
              <a:lnSpc>
                <a:spcPct val="100000"/>
              </a:lnSpc>
              <a:buNone/>
            </a:pPr>
            <a:endParaRPr b="0" lang="en-US" sz="1400" spc="-1" strike="noStrike">
              <a:latin typeface="Arial"/>
            </a:endParaRPr>
          </a:p>
          <a:p>
            <a:pPr algn="just">
              <a:lnSpc>
                <a:spcPct val="100000"/>
              </a:lnSpc>
              <a:buNone/>
            </a:pPr>
            <a:r>
              <a:rPr b="0" lang="ru-RU" sz="1400" spc="-1" strike="noStrike">
                <a:solidFill>
                  <a:srgbClr val="000000"/>
                </a:solidFill>
                <a:latin typeface="Cambria"/>
                <a:ea typeface="Times New Roman"/>
              </a:rPr>
              <a:t>Для работы на мобильных устройствах используется надстройка PyTorch Mobile, которая позволяет осуществлять квантование и оптимизацию моделей как для Android, так и для iOS. Высокоуровневая надстройка PyTorch Lightning, являющаяся аналогом Keras для TensorFlow, позволяет снизить порог вхождения в разработку нейросетевых алгоритмов. </a:t>
            </a:r>
            <a:endParaRPr b="0" lang="en-US" sz="1400" spc="-1" strike="noStrike">
              <a:latin typeface="Arial"/>
            </a:endParaRPr>
          </a:p>
        </p:txBody>
      </p:sp>
      <p:pic>
        <p:nvPicPr>
          <p:cNvPr id="53" name="Picture 2" descr="Вебинар «Введение в PyTorch» — Вход свободный"/>
          <p:cNvPicPr/>
          <p:nvPr/>
        </p:nvPicPr>
        <p:blipFill>
          <a:blip r:embed="rId1"/>
          <a:stretch/>
        </p:blipFill>
        <p:spPr>
          <a:xfrm>
            <a:off x="194400" y="45000"/>
            <a:ext cx="1225800" cy="79524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 name="Picture 2" descr="GitHub - apache/incubator-mxnet: Lightweight, Portable, Flexible  Distributed/Mobile Deep Learning with Dynamic, Mutation-aware Dataflow Dep  Scheduler; for Python, R, Julia, Scala, Go, Javascript and more"/>
          <p:cNvPicPr/>
          <p:nvPr/>
        </p:nvPicPr>
        <p:blipFill>
          <a:blip r:embed="rId1"/>
          <a:stretch/>
        </p:blipFill>
        <p:spPr>
          <a:xfrm>
            <a:off x="804600" y="805320"/>
            <a:ext cx="1425960" cy="486360"/>
          </a:xfrm>
          <a:prstGeom prst="rect">
            <a:avLst/>
          </a:prstGeom>
          <a:ln w="0">
            <a:noFill/>
          </a:ln>
        </p:spPr>
      </p:pic>
      <p:pic>
        <p:nvPicPr>
          <p:cNvPr id="55" name="Picture 4" descr="PaddlePaddle/Paddle - Giters"/>
          <p:cNvPicPr/>
          <p:nvPr/>
        </p:nvPicPr>
        <p:blipFill>
          <a:blip r:embed="rId2"/>
          <a:srcRect l="27916" t="0" r="31859" b="0"/>
          <a:stretch/>
        </p:blipFill>
        <p:spPr>
          <a:xfrm>
            <a:off x="3589200" y="642240"/>
            <a:ext cx="1545120" cy="812520"/>
          </a:xfrm>
          <a:prstGeom prst="rect">
            <a:avLst/>
          </a:prstGeom>
          <a:ln w="0">
            <a:noFill/>
          </a:ln>
        </p:spPr>
      </p:pic>
      <p:pic>
        <p:nvPicPr>
          <p:cNvPr id="56" name="Picture 6" descr="GitHub - eclipse/deeplearning4j: Model import deployment framework for  retraining models (pytorch, tensorflow,keras) deploying in JVM Micro  service environments, mobile devices, iot, and Apache Spark"/>
          <p:cNvPicPr/>
          <p:nvPr/>
        </p:nvPicPr>
        <p:blipFill>
          <a:blip r:embed="rId3"/>
          <a:stretch/>
        </p:blipFill>
        <p:spPr>
          <a:xfrm>
            <a:off x="6480720" y="680040"/>
            <a:ext cx="1858320" cy="761760"/>
          </a:xfrm>
          <a:prstGeom prst="rect">
            <a:avLst/>
          </a:prstGeom>
          <a:ln w="0">
            <a:noFill/>
          </a:ln>
        </p:spPr>
      </p:pic>
      <p:sp>
        <p:nvSpPr>
          <p:cNvPr id="57" name="Прямоугольник 3"/>
          <p:cNvSpPr/>
          <p:nvPr/>
        </p:nvSpPr>
        <p:spPr>
          <a:xfrm>
            <a:off x="146160" y="1287360"/>
            <a:ext cx="2907360" cy="42454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pPr>
            <a:r>
              <a:rPr b="1" lang="ru-RU" sz="1050" spc="-1" strike="noStrike">
                <a:solidFill>
                  <a:srgbClr val="000000"/>
                </a:solidFill>
                <a:latin typeface="Cambria"/>
                <a:ea typeface="Times New Roman"/>
              </a:rPr>
              <a:t>Mxnet </a:t>
            </a:r>
            <a:r>
              <a:rPr b="0" lang="ru-RU" sz="1050" spc="-1" strike="noStrike">
                <a:solidFill>
                  <a:srgbClr val="000000"/>
                </a:solidFill>
                <a:latin typeface="Cambria"/>
                <a:ea typeface="Times New Roman"/>
              </a:rPr>
              <a:t>является представителем обеих парадигм. </a:t>
            </a:r>
            <a:endParaRPr b="0" lang="en-US" sz="1050" spc="-1" strike="noStrike">
              <a:latin typeface="Arial"/>
            </a:endParaRPr>
          </a:p>
          <a:p>
            <a:pPr algn="just">
              <a:lnSpc>
                <a:spcPct val="100000"/>
              </a:lnSpc>
              <a:buNone/>
            </a:pPr>
            <a:endParaRPr b="0" lang="en-US" sz="1050" spc="-1" strike="noStrike">
              <a:latin typeface="Arial"/>
            </a:endParaRPr>
          </a:p>
          <a:p>
            <a:pPr algn="just">
              <a:lnSpc>
                <a:spcPct val="100000"/>
              </a:lnSpc>
              <a:buNone/>
            </a:pPr>
            <a:r>
              <a:rPr b="0" lang="ru-RU" sz="1050" spc="-1" strike="noStrike">
                <a:solidFill>
                  <a:srgbClr val="000000"/>
                </a:solidFill>
                <a:latin typeface="Cambria"/>
                <a:ea typeface="Times New Roman"/>
              </a:rPr>
              <a:t>Модуль Mxnet Gluon является представителем императивной парадигмы, в которой вычисления выполняются поэтапно, как они записаны в коде. Гибкость в отношении внесения изменений в ход исполнения операций</a:t>
            </a:r>
            <a:r>
              <a:rPr b="0" lang="en-US" sz="1050" spc="-1" strike="noStrike">
                <a:solidFill>
                  <a:srgbClr val="000000"/>
                </a:solidFill>
                <a:latin typeface="Cambria"/>
                <a:ea typeface="Times New Roman"/>
              </a:rPr>
              <a:t> – </a:t>
            </a:r>
            <a:r>
              <a:rPr b="0" lang="ru-RU" sz="1050" spc="-1" strike="noStrike">
                <a:solidFill>
                  <a:srgbClr val="000000"/>
                </a:solidFill>
                <a:latin typeface="Cambria"/>
                <a:ea typeface="Times New Roman"/>
              </a:rPr>
              <a:t>основное преимущество динамических вычислительных графов. Однако такие графы перестраиваются в каждой новой итерации, что не эффективно ни в отношении памяти, ни в отношении скорости. </a:t>
            </a:r>
            <a:endParaRPr b="0" lang="en-US" sz="1050" spc="-1" strike="noStrike">
              <a:latin typeface="Arial"/>
            </a:endParaRPr>
          </a:p>
          <a:p>
            <a:pPr algn="just">
              <a:lnSpc>
                <a:spcPct val="100000"/>
              </a:lnSpc>
              <a:buNone/>
            </a:pPr>
            <a:endParaRPr b="0" lang="en-US" sz="1050" spc="-1" strike="noStrike">
              <a:latin typeface="Arial"/>
            </a:endParaRPr>
          </a:p>
          <a:p>
            <a:pPr algn="just">
              <a:lnSpc>
                <a:spcPct val="100000"/>
              </a:lnSpc>
              <a:buNone/>
            </a:pPr>
            <a:r>
              <a:rPr b="0" lang="ru-RU" sz="1050" spc="-1" strike="noStrike">
                <a:solidFill>
                  <a:srgbClr val="000000"/>
                </a:solidFill>
                <a:latin typeface="Cambria"/>
                <a:ea typeface="Times New Roman"/>
              </a:rPr>
              <a:t>В символьной парадигме (Mxnet Symbol) код компилируется и оптимизируется. Такие статические графы легко переносятся на разные платформы, что является их несомненным плюсом. Минусом является жестко заданная форма графа, при которой каждая итерация проходит одинаково</a:t>
            </a:r>
            <a:endParaRPr b="0" lang="en-US" sz="1050" spc="-1" strike="noStrike">
              <a:latin typeface="Arial"/>
            </a:endParaRPr>
          </a:p>
        </p:txBody>
      </p:sp>
      <p:sp>
        <p:nvSpPr>
          <p:cNvPr id="58" name="TextBox 7"/>
          <p:cNvSpPr/>
          <p:nvPr/>
        </p:nvSpPr>
        <p:spPr>
          <a:xfrm>
            <a:off x="981720" y="45000"/>
            <a:ext cx="7056720" cy="322200"/>
          </a:xfrm>
          <a:prstGeom prst="rect">
            <a:avLst/>
          </a:prstGeom>
          <a:noFill/>
          <a:ln w="0">
            <a:noFill/>
          </a:ln>
          <a:effectLst>
            <a:innerShdw blurRad="63500" dir="5400000" dist="50800">
              <a:srgbClr val="000000">
                <a:alpha val="50000"/>
              </a:srgbClr>
            </a:innerShdw>
          </a:effectLst>
          <a:scene3d>
            <a:camera prst="orthographicFront">
              <a:rot lat="0" lon="0" rev="0"/>
            </a:camera>
            <a:lightRig dir="t" rig="balanced">
              <a:rot lat="0" lon="0" rev="8700000"/>
            </a:lightRig>
          </a:scene3d>
          <a:sp3d>
            <a:bevelT w="190500" h="38100"/>
          </a:sp3d>
        </p:spPr>
        <p:style>
          <a:lnRef idx="0"/>
          <a:fillRef idx="0"/>
          <a:effectRef idx="0"/>
          <a:fontRef idx="minor"/>
        </p:style>
        <p:txBody>
          <a:bodyPr lIns="0" rIns="0" tIns="0" bIns="0" anchor="ctr">
            <a:noAutofit/>
          </a:bodyPr>
          <a:p>
            <a:pPr algn="ctr">
              <a:lnSpc>
                <a:spcPct val="100000"/>
              </a:lnSpc>
              <a:buNone/>
            </a:pPr>
            <a:r>
              <a:rPr b="1" lang="ru-RU" sz="1400" spc="-1" strike="noStrike">
                <a:solidFill>
                  <a:srgbClr val="000000"/>
                </a:solidFill>
                <a:latin typeface="Calibri"/>
              </a:rPr>
              <a:t>Фреймворки обучения нейронных сетей</a:t>
            </a:r>
            <a:endParaRPr b="0" lang="en-US" sz="1400" spc="-1" strike="noStrike">
              <a:latin typeface="Arial"/>
            </a:endParaRPr>
          </a:p>
        </p:txBody>
      </p:sp>
      <p:sp>
        <p:nvSpPr>
          <p:cNvPr id="59" name="Прямоугольник 4"/>
          <p:cNvSpPr/>
          <p:nvPr/>
        </p:nvSpPr>
        <p:spPr>
          <a:xfrm>
            <a:off x="146160" y="405000"/>
            <a:ext cx="8741160" cy="3942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pPr>
            <a:r>
              <a:rPr b="0" lang="ru-RU" sz="1000" spc="-1" strike="noStrike">
                <a:solidFill>
                  <a:srgbClr val="000000"/>
                </a:solidFill>
                <a:latin typeface="Cambria"/>
                <a:ea typeface="Times New Roman"/>
              </a:rPr>
              <a:t>Среди фреймворков глубокого обучения можно выделить две ветви: одни основаны на императивной парадигме (динамический вычислительный граф) вычислений, другие - на символьной (статический вычислительный граф).</a:t>
            </a:r>
            <a:endParaRPr b="0" lang="en-US" sz="1000" spc="-1" strike="noStrike">
              <a:latin typeface="Arial"/>
            </a:endParaRPr>
          </a:p>
        </p:txBody>
      </p:sp>
      <p:sp>
        <p:nvSpPr>
          <p:cNvPr id="60" name="Прямоугольник 6"/>
          <p:cNvSpPr/>
          <p:nvPr/>
        </p:nvSpPr>
        <p:spPr>
          <a:xfrm>
            <a:off x="3208320" y="1287360"/>
            <a:ext cx="2723400" cy="39258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pPr>
            <a:r>
              <a:rPr b="0" lang="ru-RU" sz="1050" spc="-1" strike="noStrike">
                <a:solidFill>
                  <a:srgbClr val="000000"/>
                </a:solidFill>
                <a:latin typeface="Cambria"/>
                <a:ea typeface="Times New Roman"/>
              </a:rPr>
              <a:t>В</a:t>
            </a:r>
            <a:r>
              <a:rPr b="0" lang="en-US" sz="1050" spc="-1" strike="noStrike">
                <a:solidFill>
                  <a:srgbClr val="000000"/>
                </a:solidFill>
                <a:latin typeface="Cambria"/>
                <a:ea typeface="Times New Roman"/>
              </a:rPr>
              <a:t> 2016 </a:t>
            </a:r>
            <a:r>
              <a:rPr b="0" lang="ru-RU" sz="1050" spc="-1" strike="noStrike">
                <a:solidFill>
                  <a:srgbClr val="000000"/>
                </a:solidFill>
                <a:latin typeface="Cambria"/>
                <a:ea typeface="Times New Roman"/>
              </a:rPr>
              <a:t>году в</a:t>
            </a:r>
            <a:r>
              <a:rPr b="0" lang="en-US" sz="1050" spc="-1" strike="noStrike">
                <a:solidFill>
                  <a:srgbClr val="000000"/>
                </a:solidFill>
                <a:latin typeface="Cambria"/>
                <a:ea typeface="Times New Roman"/>
              </a:rPr>
              <a:t> Baidu </a:t>
            </a:r>
            <a:r>
              <a:rPr b="0" lang="ru-RU" sz="1050" spc="-1" strike="noStrike">
                <a:solidFill>
                  <a:srgbClr val="000000"/>
                </a:solidFill>
                <a:latin typeface="Cambria"/>
                <a:ea typeface="Times New Roman"/>
              </a:rPr>
              <a:t>был разработал фреймворк</a:t>
            </a:r>
            <a:r>
              <a:rPr b="0" lang="en-US" sz="1050" spc="-1" strike="noStrike">
                <a:solidFill>
                  <a:srgbClr val="000000"/>
                </a:solidFill>
                <a:latin typeface="Cambria"/>
                <a:ea typeface="Times New Roman"/>
              </a:rPr>
              <a:t> PaddlePaddle (PArallel Distributed Deep LEarning). </a:t>
            </a:r>
            <a:endParaRPr b="0" lang="en-US" sz="1050" spc="-1" strike="noStrike">
              <a:latin typeface="Arial"/>
            </a:endParaRPr>
          </a:p>
          <a:p>
            <a:pPr algn="just">
              <a:lnSpc>
                <a:spcPct val="100000"/>
              </a:lnSpc>
              <a:buNone/>
            </a:pPr>
            <a:endParaRPr b="0" lang="en-US" sz="1050" spc="-1" strike="noStrike">
              <a:latin typeface="Arial"/>
            </a:endParaRPr>
          </a:p>
          <a:p>
            <a:pPr algn="just">
              <a:lnSpc>
                <a:spcPct val="100000"/>
              </a:lnSpc>
              <a:buNone/>
            </a:pPr>
            <a:r>
              <a:rPr b="0" lang="ru-RU" sz="1050" spc="-1" strike="noStrike">
                <a:solidFill>
                  <a:srgbClr val="000000"/>
                </a:solidFill>
                <a:latin typeface="Cambria"/>
                <a:ea typeface="Times New Roman"/>
              </a:rPr>
              <a:t>PaddlePaddle, также как и Mxnet, является представителем как императивной, так и символьной парадигмы. Это позволяет ему сохранить гибкость разработки и высокую производительность во время выполнения. </a:t>
            </a:r>
            <a:endParaRPr b="0" lang="en-US" sz="1050" spc="-1" strike="noStrike">
              <a:latin typeface="Arial"/>
            </a:endParaRPr>
          </a:p>
          <a:p>
            <a:pPr algn="just">
              <a:lnSpc>
                <a:spcPct val="100000"/>
              </a:lnSpc>
              <a:buNone/>
            </a:pPr>
            <a:endParaRPr b="0" lang="en-US" sz="1050" spc="-1" strike="noStrike">
              <a:latin typeface="Arial"/>
            </a:endParaRPr>
          </a:p>
          <a:p>
            <a:pPr algn="just">
              <a:lnSpc>
                <a:spcPct val="100000"/>
              </a:lnSpc>
              <a:buNone/>
            </a:pPr>
            <a:r>
              <a:rPr b="0" lang="ru-RU" sz="1050" spc="-1" strike="noStrike">
                <a:solidFill>
                  <a:srgbClr val="000000"/>
                </a:solidFill>
                <a:latin typeface="Cambria"/>
                <a:ea typeface="Times New Roman"/>
              </a:rPr>
              <a:t>PaddlePaddle прост в использовании, достаточно эффективен и поддерживает широкий спектр архитектур нейронных сетей и алгоритмов оптимизации. Более того, PaddlePaddle позволяет проводить обучение сверхмасштабных глубоких нейронных сетей с большим числом параметров на данных, распределенных по сотням вычислительных узлов.</a:t>
            </a:r>
            <a:endParaRPr b="0" lang="en-US" sz="1050" spc="-1" strike="noStrike">
              <a:latin typeface="Arial"/>
            </a:endParaRPr>
          </a:p>
        </p:txBody>
      </p:sp>
      <p:sp>
        <p:nvSpPr>
          <p:cNvPr id="61" name="Прямоугольник 9"/>
          <p:cNvSpPr/>
          <p:nvPr/>
        </p:nvSpPr>
        <p:spPr>
          <a:xfrm>
            <a:off x="6086520" y="1306800"/>
            <a:ext cx="2801160" cy="39258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pPr>
            <a:r>
              <a:rPr b="0" lang="ru-RU" sz="1050" spc="-1" strike="noStrike">
                <a:solidFill>
                  <a:srgbClr val="000000"/>
                </a:solidFill>
                <a:latin typeface="Cambria"/>
                <a:ea typeface="Times New Roman"/>
              </a:rPr>
              <a:t>На Java развивается DeepLearning4j (DL4J)</a:t>
            </a:r>
            <a:r>
              <a:rPr b="0" lang="en-US" sz="1050" spc="-1" strike="noStrike">
                <a:solidFill>
                  <a:srgbClr val="000000"/>
                </a:solidFill>
                <a:latin typeface="Cambria"/>
                <a:ea typeface="Times New Roman"/>
              </a:rPr>
              <a:t> </a:t>
            </a:r>
            <a:r>
              <a:rPr b="0" lang="ru-RU" sz="1050" spc="-1" strike="noStrike">
                <a:solidFill>
                  <a:srgbClr val="000000"/>
                </a:solidFill>
                <a:latin typeface="Cambria"/>
                <a:ea typeface="Times New Roman"/>
              </a:rPr>
              <a:t>– фреймворк глубокого обучения, в котором имеется полный набор инструментов - от первичной обработки данных до решения всевозможных задач: распознавание изображений, обработка аудио, обработка естественного языка, создание рекомендательных систем и т.д. </a:t>
            </a:r>
            <a:endParaRPr b="0" lang="en-US" sz="1050" spc="-1" strike="noStrike">
              <a:latin typeface="Arial"/>
            </a:endParaRPr>
          </a:p>
          <a:p>
            <a:pPr algn="just">
              <a:lnSpc>
                <a:spcPct val="100000"/>
              </a:lnSpc>
              <a:buNone/>
            </a:pPr>
            <a:endParaRPr b="0" lang="en-US" sz="1050" spc="-1" strike="noStrike">
              <a:latin typeface="Arial"/>
            </a:endParaRPr>
          </a:p>
          <a:p>
            <a:pPr algn="just">
              <a:lnSpc>
                <a:spcPct val="100000"/>
              </a:lnSpc>
              <a:buNone/>
            </a:pPr>
            <a:r>
              <a:rPr b="0" lang="ru-RU" sz="1050" spc="-1" strike="noStrike">
                <a:solidFill>
                  <a:srgbClr val="000000"/>
                </a:solidFill>
                <a:latin typeface="Cambria"/>
                <a:ea typeface="Times New Roman"/>
              </a:rPr>
              <a:t>Более того, DL4J имеет несколько подмодулей - от импорта моделей из Keras до распределенного обучения на Spark. </a:t>
            </a:r>
            <a:endParaRPr b="0" lang="en-US" sz="1050" spc="-1" strike="noStrike">
              <a:latin typeface="Arial"/>
            </a:endParaRPr>
          </a:p>
          <a:p>
            <a:pPr algn="just">
              <a:lnSpc>
                <a:spcPct val="100000"/>
              </a:lnSpc>
              <a:buNone/>
            </a:pPr>
            <a:endParaRPr b="0" lang="en-US" sz="1050" spc="-1" strike="noStrike">
              <a:latin typeface="Arial"/>
            </a:endParaRPr>
          </a:p>
          <a:p>
            <a:pPr algn="just">
              <a:lnSpc>
                <a:spcPct val="100000"/>
              </a:lnSpc>
              <a:buNone/>
            </a:pPr>
            <a:r>
              <a:rPr b="0" lang="ru-RU" sz="1050" spc="-1" strike="noStrike">
                <a:solidFill>
                  <a:srgbClr val="000000"/>
                </a:solidFill>
                <a:latin typeface="Cambria"/>
                <a:ea typeface="Times New Roman"/>
              </a:rPr>
              <a:t>На данный момент DL4J сложно конкурировать с TensorFlow и </a:t>
            </a:r>
            <a:r>
              <a:rPr b="0" lang="en-US" sz="1050" spc="-1" strike="noStrike">
                <a:solidFill>
                  <a:srgbClr val="000000"/>
                </a:solidFill>
                <a:latin typeface="Cambria"/>
                <a:ea typeface="Times New Roman"/>
              </a:rPr>
              <a:t>PyTorch</a:t>
            </a:r>
            <a:r>
              <a:rPr b="0" lang="ru-RU" sz="1050" spc="-1" strike="noStrike">
                <a:solidFill>
                  <a:srgbClr val="000000"/>
                </a:solidFill>
                <a:latin typeface="Cambria"/>
                <a:ea typeface="Times New Roman"/>
              </a:rPr>
              <a:t>, которые «выигрывают» у DL4J более подробной документацией, техническими возможностями, размерами сообщества и быстрой динамикой развития.</a:t>
            </a:r>
            <a:endParaRPr b="0" lang="en-US" sz="105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TextBox 7"/>
          <p:cNvSpPr/>
          <p:nvPr/>
        </p:nvSpPr>
        <p:spPr>
          <a:xfrm>
            <a:off x="981720" y="45000"/>
            <a:ext cx="7056720" cy="322200"/>
          </a:xfrm>
          <a:prstGeom prst="rect">
            <a:avLst/>
          </a:prstGeom>
          <a:noFill/>
          <a:ln w="0">
            <a:noFill/>
          </a:ln>
          <a:effectLst>
            <a:innerShdw blurRad="63500" dir="5400000" dist="50800">
              <a:srgbClr val="000000">
                <a:alpha val="50000"/>
              </a:srgbClr>
            </a:innerShdw>
          </a:effectLst>
          <a:scene3d>
            <a:camera prst="orthographicFront">
              <a:rot lat="0" lon="0" rev="0"/>
            </a:camera>
            <a:lightRig dir="t" rig="balanced">
              <a:rot lat="0" lon="0" rev="8700000"/>
            </a:lightRig>
          </a:scene3d>
          <a:sp3d>
            <a:bevelT w="190500" h="38100"/>
          </a:sp3d>
        </p:spPr>
        <p:style>
          <a:lnRef idx="0"/>
          <a:fillRef idx="0"/>
          <a:effectRef idx="0"/>
          <a:fontRef idx="minor"/>
        </p:style>
        <p:txBody>
          <a:bodyPr lIns="0" rIns="0" tIns="0" bIns="0" anchor="ctr">
            <a:noAutofit/>
          </a:bodyPr>
          <a:p>
            <a:pPr algn="ctr">
              <a:lnSpc>
                <a:spcPct val="100000"/>
              </a:lnSpc>
              <a:buNone/>
            </a:pPr>
            <a:r>
              <a:rPr b="1" lang="ru-RU" sz="1400" spc="-1" strike="noStrike">
                <a:solidFill>
                  <a:srgbClr val="000000"/>
                </a:solidFill>
                <a:latin typeface="Calibri"/>
              </a:rPr>
              <a:t>Фреймворки обучения нейронных сетей</a:t>
            </a:r>
            <a:endParaRPr b="0" lang="en-US" sz="1400" spc="-1" strike="noStrike">
              <a:latin typeface="Arial"/>
            </a:endParaRPr>
          </a:p>
        </p:txBody>
      </p:sp>
      <p:sp>
        <p:nvSpPr>
          <p:cNvPr id="63" name="Прямоугольник 8"/>
          <p:cNvSpPr/>
          <p:nvPr/>
        </p:nvSpPr>
        <p:spPr>
          <a:xfrm>
            <a:off x="85680" y="367200"/>
            <a:ext cx="8966520" cy="18716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pPr>
            <a:r>
              <a:rPr b="0" lang="ru-RU" sz="1300" spc="-1" strike="noStrike">
                <a:solidFill>
                  <a:srgbClr val="000000"/>
                </a:solidFill>
                <a:latin typeface="Cambria"/>
                <a:ea typeface="Times New Roman"/>
              </a:rPr>
              <a:t>ФГУП «ГосНИИАС» в рамках работ по разработке Платформы обучения глубоких нейронных сетей представил собственную библиотеку обучения нейросетевых алгоритмов – «</a:t>
            </a:r>
            <a:r>
              <a:rPr b="1" lang="en-US" sz="1300" spc="-1" strike="noStrike">
                <a:solidFill>
                  <a:srgbClr val="000000"/>
                </a:solidFill>
                <a:latin typeface="Cambria"/>
                <a:ea typeface="Times New Roman"/>
              </a:rPr>
              <a:t>platLib</a:t>
            </a:r>
            <a:r>
              <a:rPr b="0" lang="ru-RU" sz="1300" spc="-1" strike="noStrike">
                <a:solidFill>
                  <a:srgbClr val="000000"/>
                </a:solidFill>
                <a:latin typeface="Cambria"/>
                <a:ea typeface="Times New Roman"/>
              </a:rPr>
              <a:t>». Библиотека </a:t>
            </a:r>
            <a:r>
              <a:rPr b="0" lang="en-US" sz="1300" spc="-1" strike="noStrike">
                <a:solidFill>
                  <a:srgbClr val="000000"/>
                </a:solidFill>
                <a:latin typeface="Cambria"/>
                <a:ea typeface="Times New Roman"/>
              </a:rPr>
              <a:t>platLib</a:t>
            </a:r>
            <a:r>
              <a:rPr b="0" lang="ru-RU" sz="1300" spc="-1" strike="noStrike">
                <a:solidFill>
                  <a:srgbClr val="000000"/>
                </a:solidFill>
                <a:latin typeface="Cambria"/>
                <a:ea typeface="Times New Roman"/>
              </a:rPr>
              <a:t> представляет собой современную библиотеку для разработки и обучения нейросетевых алгоритмов. Библиотека состоит из двух основных частей: модулей </a:t>
            </a:r>
            <a:r>
              <a:rPr b="0" lang="en-US" sz="1300" spc="-1" strike="noStrike">
                <a:solidFill>
                  <a:srgbClr val="000000"/>
                </a:solidFill>
                <a:latin typeface="Cambria"/>
                <a:ea typeface="Times New Roman"/>
              </a:rPr>
              <a:t>platLib</a:t>
            </a:r>
            <a:r>
              <a:rPr b="0" lang="ru-RU" sz="1300" spc="-1" strike="noStrike">
                <a:solidFill>
                  <a:srgbClr val="000000"/>
                </a:solidFill>
                <a:latin typeface="Cambria"/>
                <a:ea typeface="Times New Roman"/>
              </a:rPr>
              <a:t> (аналогом в </a:t>
            </a:r>
            <a:r>
              <a:rPr b="0" lang="en-US" sz="1300" spc="-1" strike="noStrike">
                <a:solidFill>
                  <a:srgbClr val="000000"/>
                </a:solidFill>
                <a:latin typeface="Cambria"/>
                <a:ea typeface="Times New Roman"/>
              </a:rPr>
              <a:t>PyTorch</a:t>
            </a:r>
            <a:r>
              <a:rPr b="0" lang="ru-RU" sz="1300" spc="-1" strike="noStrike">
                <a:solidFill>
                  <a:srgbClr val="000000"/>
                </a:solidFill>
                <a:latin typeface="Cambria"/>
                <a:ea typeface="Times New Roman"/>
              </a:rPr>
              <a:t> является библиотека «</a:t>
            </a:r>
            <a:r>
              <a:rPr b="0" lang="en-US" sz="1300" spc="-1" strike="noStrike">
                <a:solidFill>
                  <a:srgbClr val="000000"/>
                </a:solidFill>
                <a:latin typeface="Cambria"/>
                <a:ea typeface="Times New Roman"/>
              </a:rPr>
              <a:t>torch</a:t>
            </a:r>
            <a:r>
              <a:rPr b="0" lang="ru-RU" sz="1300" spc="-1" strike="noStrike">
                <a:solidFill>
                  <a:srgbClr val="000000"/>
                </a:solidFill>
                <a:latin typeface="Cambria"/>
                <a:ea typeface="Times New Roman"/>
              </a:rPr>
              <a:t>»), который реализует программные примитивы, непосредственно содержащие процедуры формирования и обучения нейронных сетей, а также модулей </a:t>
            </a:r>
            <a:r>
              <a:rPr b="0" lang="en-US" sz="1300" spc="-1" strike="noStrike">
                <a:solidFill>
                  <a:srgbClr val="000000"/>
                </a:solidFill>
                <a:latin typeface="Cambria"/>
                <a:ea typeface="Times New Roman"/>
              </a:rPr>
              <a:t>platProj</a:t>
            </a:r>
            <a:r>
              <a:rPr b="0" lang="ru-RU" sz="1300" spc="-1" strike="noStrike">
                <a:solidFill>
                  <a:srgbClr val="000000"/>
                </a:solidFill>
                <a:latin typeface="Cambria"/>
                <a:ea typeface="Times New Roman"/>
              </a:rPr>
              <a:t> (аналогом в </a:t>
            </a:r>
            <a:r>
              <a:rPr b="0" lang="en-US" sz="1300" spc="-1" strike="noStrike">
                <a:solidFill>
                  <a:srgbClr val="000000"/>
                </a:solidFill>
                <a:latin typeface="Cambria"/>
                <a:ea typeface="Times New Roman"/>
              </a:rPr>
              <a:t>PyTorch</a:t>
            </a:r>
            <a:r>
              <a:rPr b="0" lang="ru-RU" sz="1300" spc="-1" strike="noStrike">
                <a:solidFill>
                  <a:srgbClr val="000000"/>
                </a:solidFill>
                <a:latin typeface="Cambria"/>
                <a:ea typeface="Times New Roman"/>
              </a:rPr>
              <a:t> является библиотека «</a:t>
            </a:r>
            <a:r>
              <a:rPr b="0" lang="en-US" sz="1300" spc="-1" strike="noStrike">
                <a:solidFill>
                  <a:srgbClr val="000000"/>
                </a:solidFill>
                <a:latin typeface="Cambria"/>
                <a:ea typeface="Times New Roman"/>
              </a:rPr>
              <a:t>torchvision</a:t>
            </a:r>
            <a:r>
              <a:rPr b="0" lang="ru-RU" sz="1300" spc="-1" strike="noStrike">
                <a:solidFill>
                  <a:srgbClr val="000000"/>
                </a:solidFill>
                <a:latin typeface="Cambria"/>
                <a:ea typeface="Times New Roman"/>
              </a:rPr>
              <a:t>») для работы с обучающими выборками, процедурами аугментации и прочими вспомогательными функциями. </a:t>
            </a:r>
            <a:endParaRPr b="0" lang="en-US" sz="1300" spc="-1" strike="noStrike">
              <a:latin typeface="Arial"/>
            </a:endParaRPr>
          </a:p>
          <a:p>
            <a:pPr algn="just">
              <a:lnSpc>
                <a:spcPct val="100000"/>
              </a:lnSpc>
              <a:buNone/>
            </a:pPr>
            <a:r>
              <a:rPr b="0" lang="ru-RU" sz="1300" spc="-1" strike="noStrike">
                <a:solidFill>
                  <a:srgbClr val="000000"/>
                </a:solidFill>
                <a:latin typeface="Cambria"/>
                <a:ea typeface="Times New Roman"/>
              </a:rPr>
              <a:t>Общая структура библиотеки </a:t>
            </a:r>
            <a:r>
              <a:rPr b="0" lang="en-US" sz="1300" spc="-1" strike="noStrike">
                <a:solidFill>
                  <a:srgbClr val="000000"/>
                </a:solidFill>
                <a:latin typeface="Cambria"/>
                <a:ea typeface="Times New Roman"/>
              </a:rPr>
              <a:t>platLib</a:t>
            </a:r>
            <a:r>
              <a:rPr b="0" lang="ru-RU" sz="1300" spc="-1" strike="noStrike">
                <a:solidFill>
                  <a:srgbClr val="000000"/>
                </a:solidFill>
                <a:latin typeface="Cambria"/>
                <a:ea typeface="Times New Roman"/>
              </a:rPr>
              <a:t> представлена на рисунке ниже.</a:t>
            </a:r>
            <a:endParaRPr b="0" lang="en-US" sz="1300" spc="-1" strike="noStrike">
              <a:latin typeface="Arial"/>
            </a:endParaRPr>
          </a:p>
        </p:txBody>
      </p:sp>
      <p:grpSp>
        <p:nvGrpSpPr>
          <p:cNvPr id="64" name="Группа 11"/>
          <p:cNvGrpSpPr/>
          <p:nvPr/>
        </p:nvGrpSpPr>
        <p:grpSpPr>
          <a:xfrm>
            <a:off x="1611720" y="2133360"/>
            <a:ext cx="5914800" cy="1773000"/>
            <a:chOff x="1611720" y="2133360"/>
            <a:chExt cx="5914800" cy="1773000"/>
          </a:xfrm>
        </p:grpSpPr>
        <p:sp>
          <p:nvSpPr>
            <p:cNvPr id="65" name="Прямоугольник 12"/>
            <p:cNvSpPr/>
            <p:nvPr/>
          </p:nvSpPr>
          <p:spPr>
            <a:xfrm>
              <a:off x="1611720" y="2133360"/>
              <a:ext cx="5914800" cy="342360"/>
            </a:xfrm>
            <a:prstGeom prst="rect">
              <a:avLst/>
            </a:prstGeom>
            <a:solidFill>
              <a:srgbClr val="5b9bd5"/>
            </a:solidFill>
            <a:ln>
              <a:solidFill>
                <a:srgbClr val="43729d"/>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just">
                <a:lnSpc>
                  <a:spcPct val="100000"/>
                </a:lnSpc>
                <a:buNone/>
              </a:pPr>
              <a:r>
                <a:rPr b="0" lang="en-US" sz="1200" spc="-1" strike="noStrike">
                  <a:solidFill>
                    <a:srgbClr val="ffffff"/>
                  </a:solidFill>
                  <a:latin typeface="Cambria"/>
                  <a:ea typeface="Times New Roman"/>
                </a:rPr>
                <a:t>platLib Python</a:t>
              </a:r>
              <a:endParaRPr b="0" lang="en-US" sz="1200" spc="-1" strike="noStrike">
                <a:latin typeface="Arial"/>
              </a:endParaRPr>
            </a:p>
          </p:txBody>
        </p:sp>
        <p:sp>
          <p:nvSpPr>
            <p:cNvPr id="66" name="Прямоугольник 13"/>
            <p:cNvSpPr/>
            <p:nvPr/>
          </p:nvSpPr>
          <p:spPr>
            <a:xfrm>
              <a:off x="1611720" y="2476080"/>
              <a:ext cx="5914800" cy="385560"/>
            </a:xfrm>
            <a:prstGeom prst="rect">
              <a:avLst/>
            </a:prstGeom>
            <a:solidFill>
              <a:srgbClr val="ed7d31"/>
            </a:solidFill>
            <a:ln>
              <a:solidFill>
                <a:srgbClr val="af5c24"/>
              </a:solidFill>
            </a:ln>
          </p:spPr>
          <p:style>
            <a:lnRef idx="2">
              <a:schemeClr val="accent2">
                <a:shade val="50000"/>
              </a:schemeClr>
            </a:lnRef>
            <a:fillRef idx="1">
              <a:schemeClr val="accent2"/>
            </a:fillRef>
            <a:effectRef idx="0">
              <a:schemeClr val="accent2"/>
            </a:effectRef>
            <a:fontRef idx="minor"/>
          </p:style>
          <p:txBody>
            <a:bodyPr lIns="90000" rIns="90000" tIns="45000" bIns="45000" anchor="ctr">
              <a:noAutofit/>
            </a:bodyPr>
            <a:p>
              <a:pPr algn="just">
                <a:lnSpc>
                  <a:spcPct val="100000"/>
                </a:lnSpc>
                <a:buNone/>
              </a:pPr>
              <a:r>
                <a:rPr b="0" lang="en-US" sz="1200" spc="-1" strike="noStrike">
                  <a:solidFill>
                    <a:srgbClr val="ffffff"/>
                  </a:solidFill>
                  <a:latin typeface="Cambria"/>
                  <a:ea typeface="Times New Roman"/>
                </a:rPr>
                <a:t>platLib C++</a:t>
              </a:r>
              <a:endParaRPr b="0" lang="en-US" sz="1200" spc="-1" strike="noStrike">
                <a:latin typeface="Arial"/>
              </a:endParaRPr>
            </a:p>
          </p:txBody>
        </p:sp>
        <p:sp>
          <p:nvSpPr>
            <p:cNvPr id="67" name="Прямоугольник 14"/>
            <p:cNvSpPr/>
            <p:nvPr/>
          </p:nvSpPr>
          <p:spPr>
            <a:xfrm>
              <a:off x="1611720" y="2862000"/>
              <a:ext cx="3845160" cy="393840"/>
            </a:xfrm>
            <a:prstGeom prst="rect">
              <a:avLst/>
            </a:prstGeom>
            <a:solidFill>
              <a:srgbClr val="ffc000"/>
            </a:solidFill>
            <a:ln>
              <a:solidFill>
                <a:srgbClr val="bc8e00"/>
              </a:solidFill>
            </a:ln>
          </p:spPr>
          <p:style>
            <a:lnRef idx="2">
              <a:schemeClr val="accent4">
                <a:shade val="50000"/>
              </a:schemeClr>
            </a:lnRef>
            <a:fillRef idx="1">
              <a:schemeClr val="accent4"/>
            </a:fillRef>
            <a:effectRef idx="0">
              <a:schemeClr val="accent4"/>
            </a:effectRef>
            <a:fontRef idx="minor"/>
          </p:style>
          <p:txBody>
            <a:bodyPr lIns="90000" rIns="90000" tIns="45000" bIns="45000" anchor="ctr">
              <a:noAutofit/>
            </a:bodyPr>
            <a:p>
              <a:pPr algn="just">
                <a:lnSpc>
                  <a:spcPct val="100000"/>
                </a:lnSpc>
                <a:buNone/>
              </a:pPr>
              <a:r>
                <a:rPr b="0" lang="en-US" sz="1200" spc="-1" strike="noStrike">
                  <a:solidFill>
                    <a:srgbClr val="ffffff"/>
                  </a:solidFill>
                  <a:latin typeface="Cambria"/>
                  <a:ea typeface="Times New Roman"/>
                </a:rPr>
                <a:t>GDM</a:t>
              </a:r>
              <a:endParaRPr b="0" lang="en-US" sz="1200" spc="-1" strike="noStrike">
                <a:latin typeface="Arial"/>
              </a:endParaRPr>
            </a:p>
          </p:txBody>
        </p:sp>
        <p:sp>
          <p:nvSpPr>
            <p:cNvPr id="68" name="Прямоугольник 15"/>
            <p:cNvSpPr/>
            <p:nvPr/>
          </p:nvSpPr>
          <p:spPr>
            <a:xfrm>
              <a:off x="5456880" y="2862000"/>
              <a:ext cx="2069280" cy="393840"/>
            </a:xfrm>
            <a:prstGeom prst="rect">
              <a:avLst/>
            </a:prstGeom>
            <a:solidFill>
              <a:srgbClr val="ffc000"/>
            </a:solidFill>
            <a:ln>
              <a:solidFill>
                <a:srgbClr val="bc8e00"/>
              </a:solidFill>
            </a:ln>
          </p:spPr>
          <p:style>
            <a:lnRef idx="2">
              <a:schemeClr val="accent4">
                <a:shade val="50000"/>
              </a:schemeClr>
            </a:lnRef>
            <a:fillRef idx="1">
              <a:schemeClr val="accent4"/>
            </a:fillRef>
            <a:effectRef idx="0">
              <a:schemeClr val="accent4"/>
            </a:effectRef>
            <a:fontRef idx="minor"/>
          </p:style>
          <p:txBody>
            <a:bodyPr lIns="90000" rIns="90000" tIns="45000" bIns="45000" anchor="ctr">
              <a:noAutofit/>
            </a:bodyPr>
            <a:p>
              <a:pPr algn="just">
                <a:lnSpc>
                  <a:spcPct val="100000"/>
                </a:lnSpc>
                <a:buNone/>
              </a:pPr>
              <a:r>
                <a:rPr b="0" lang="en-US" sz="1200" spc="-1" strike="noStrike">
                  <a:solidFill>
                    <a:srgbClr val="ffffff"/>
                  </a:solidFill>
                  <a:latin typeface="Cambria"/>
                  <a:ea typeface="Times New Roman"/>
                </a:rPr>
                <a:t>commLib</a:t>
              </a:r>
              <a:endParaRPr b="0" lang="en-US" sz="1200" spc="-1" strike="noStrike">
                <a:latin typeface="Arial"/>
              </a:endParaRPr>
            </a:p>
          </p:txBody>
        </p:sp>
        <p:sp>
          <p:nvSpPr>
            <p:cNvPr id="69" name="Прямоугольник 16"/>
            <p:cNvSpPr/>
            <p:nvPr/>
          </p:nvSpPr>
          <p:spPr>
            <a:xfrm>
              <a:off x="1615320" y="3256200"/>
              <a:ext cx="1358640" cy="649440"/>
            </a:xfrm>
            <a:prstGeom prst="rect">
              <a:avLst/>
            </a:prstGeom>
            <a:solidFill>
              <a:srgbClr val="70ad47"/>
            </a:solidFill>
            <a:ln>
              <a:solidFill>
                <a:srgbClr val="527f34"/>
              </a:solidFill>
            </a:ln>
          </p:spPr>
          <p:style>
            <a:lnRef idx="2">
              <a:schemeClr val="accent6">
                <a:shade val="50000"/>
              </a:schemeClr>
            </a:lnRef>
            <a:fillRef idx="1">
              <a:schemeClr val="accent6"/>
            </a:fillRef>
            <a:effectRef idx="0">
              <a:schemeClr val="accent6"/>
            </a:effectRef>
            <a:fontRef idx="minor"/>
          </p:style>
          <p:txBody>
            <a:bodyPr lIns="90000" rIns="90000" tIns="45000" bIns="45000" anchor="ctr">
              <a:noAutofit/>
            </a:bodyPr>
            <a:p>
              <a:pPr algn="just">
                <a:lnSpc>
                  <a:spcPct val="100000"/>
                </a:lnSpc>
                <a:buNone/>
              </a:pPr>
              <a:r>
                <a:rPr b="0" lang="en-US" sz="1200" spc="-1" strike="noStrike">
                  <a:solidFill>
                    <a:srgbClr val="ffffff"/>
                  </a:solidFill>
                  <a:latin typeface="Cambria"/>
                  <a:ea typeface="Times New Roman"/>
                </a:rPr>
                <a:t>NVIDIA (Cuda) + cudnn</a:t>
              </a:r>
              <a:endParaRPr b="0" lang="en-US" sz="1200" spc="-1" strike="noStrike">
                <a:latin typeface="Arial"/>
              </a:endParaRPr>
            </a:p>
          </p:txBody>
        </p:sp>
        <p:sp>
          <p:nvSpPr>
            <p:cNvPr id="70" name="Прямоугольник 17"/>
            <p:cNvSpPr/>
            <p:nvPr/>
          </p:nvSpPr>
          <p:spPr>
            <a:xfrm>
              <a:off x="2974680" y="3256560"/>
              <a:ext cx="1180440" cy="649440"/>
            </a:xfrm>
            <a:prstGeom prst="rect">
              <a:avLst/>
            </a:prstGeom>
            <a:solidFill>
              <a:srgbClr val="4472c4"/>
            </a:solidFill>
            <a:ln>
              <a:solidFill>
                <a:srgbClr val="325490"/>
              </a:solidFill>
            </a:ln>
          </p:spPr>
          <p:style>
            <a:lnRef idx="2">
              <a:schemeClr val="accent5">
                <a:shade val="50000"/>
              </a:schemeClr>
            </a:lnRef>
            <a:fillRef idx="1">
              <a:schemeClr val="accent5"/>
            </a:fillRef>
            <a:effectRef idx="0">
              <a:schemeClr val="accent5"/>
            </a:effectRef>
            <a:fontRef idx="minor"/>
          </p:style>
          <p:txBody>
            <a:bodyPr lIns="90000" rIns="90000" tIns="45000" bIns="45000" anchor="ctr">
              <a:noAutofit/>
            </a:bodyPr>
            <a:p>
              <a:pPr algn="just">
                <a:lnSpc>
                  <a:spcPct val="100000"/>
                </a:lnSpc>
                <a:buNone/>
              </a:pPr>
              <a:r>
                <a:rPr b="0" lang="en-US" sz="1200" spc="-1" strike="noStrike">
                  <a:solidFill>
                    <a:srgbClr val="ffffff"/>
                  </a:solidFill>
                  <a:latin typeface="Cambria"/>
                  <a:ea typeface="Times New Roman"/>
                </a:rPr>
                <a:t>CPU (C++)</a:t>
              </a:r>
              <a:endParaRPr b="0" lang="en-US" sz="1200" spc="-1" strike="noStrike">
                <a:latin typeface="Arial"/>
              </a:endParaRPr>
            </a:p>
          </p:txBody>
        </p:sp>
        <p:sp>
          <p:nvSpPr>
            <p:cNvPr id="71" name="Прямоугольник 18"/>
            <p:cNvSpPr/>
            <p:nvPr/>
          </p:nvSpPr>
          <p:spPr>
            <a:xfrm>
              <a:off x="4152600" y="3256920"/>
              <a:ext cx="1300680" cy="649440"/>
            </a:xfrm>
            <a:prstGeom prst="rect">
              <a:avLst/>
            </a:prstGeom>
            <a:solidFill>
              <a:srgbClr val="ff7c80"/>
            </a:solidFill>
            <a:ln>
              <a:solidFill>
                <a:srgbClr val="ed7d31"/>
              </a:solidFill>
            </a:ln>
          </p:spPr>
          <p:style>
            <a:lnRef idx="1">
              <a:schemeClr val="accent2"/>
            </a:lnRef>
            <a:fillRef idx="2">
              <a:schemeClr val="accent2"/>
            </a:fillRef>
            <a:effectRef idx="1">
              <a:schemeClr val="accent2"/>
            </a:effectRef>
            <a:fontRef idx="minor"/>
          </p:style>
          <p:txBody>
            <a:bodyPr lIns="90000" rIns="90000" tIns="45000" bIns="45000" anchor="ctr">
              <a:noAutofit/>
            </a:bodyPr>
            <a:p>
              <a:pPr>
                <a:lnSpc>
                  <a:spcPct val="100000"/>
                </a:lnSpc>
                <a:buNone/>
              </a:pPr>
              <a:r>
                <a:rPr b="0" lang="en-US" sz="1200" spc="-1" strike="noStrike">
                  <a:solidFill>
                    <a:srgbClr val="ffffff"/>
                  </a:solidFill>
                  <a:latin typeface="Cambria"/>
                  <a:ea typeface="Times New Roman"/>
                </a:rPr>
                <a:t>AMD(HIP) +</a:t>
              </a:r>
              <a:br>
                <a:rPr sz="1200"/>
              </a:br>
              <a:r>
                <a:rPr b="0" lang="en-US" sz="1200" spc="-1" strike="noStrike">
                  <a:solidFill>
                    <a:srgbClr val="ffffff"/>
                  </a:solidFill>
                  <a:latin typeface="Cambria"/>
                  <a:ea typeface="Times New Roman"/>
                </a:rPr>
                <a:t>MIOpen</a:t>
              </a:r>
              <a:endParaRPr b="0" lang="en-US" sz="1200" spc="-1" strike="noStrike">
                <a:latin typeface="Arial"/>
              </a:endParaRPr>
            </a:p>
          </p:txBody>
        </p:sp>
        <p:sp>
          <p:nvSpPr>
            <p:cNvPr id="72" name="Прямоугольник 19"/>
            <p:cNvSpPr/>
            <p:nvPr/>
          </p:nvSpPr>
          <p:spPr>
            <a:xfrm>
              <a:off x="5453640" y="3256920"/>
              <a:ext cx="2069280" cy="649440"/>
            </a:xfrm>
            <a:prstGeom prst="rect">
              <a:avLst/>
            </a:prstGeom>
            <a:solidFill>
              <a:srgbClr val="00b050"/>
            </a:solidFill>
            <a:ln>
              <a:solidFill>
                <a:srgbClr val="ed7d31"/>
              </a:solidFill>
            </a:ln>
          </p:spPr>
          <p:style>
            <a:lnRef idx="1">
              <a:schemeClr val="accent2"/>
            </a:lnRef>
            <a:fillRef idx="2">
              <a:schemeClr val="accent2"/>
            </a:fillRef>
            <a:effectRef idx="1">
              <a:schemeClr val="accent2"/>
            </a:effectRef>
            <a:fontRef idx="minor"/>
          </p:style>
          <p:txBody>
            <a:bodyPr lIns="90000" rIns="90000" tIns="45000" bIns="45000" anchor="ctr">
              <a:noAutofit/>
            </a:bodyPr>
            <a:p>
              <a:pPr algn="just">
                <a:lnSpc>
                  <a:spcPct val="100000"/>
                </a:lnSpc>
                <a:buNone/>
              </a:pPr>
              <a:r>
                <a:rPr b="0" lang="en-US" sz="1200" spc="-1" strike="noStrike">
                  <a:solidFill>
                    <a:srgbClr val="ffffff"/>
                  </a:solidFill>
                  <a:latin typeface="Cambria"/>
                  <a:ea typeface="Times New Roman"/>
                </a:rPr>
                <a:t>MPI lib</a:t>
              </a:r>
              <a:endParaRPr b="0" lang="en-US" sz="1200" spc="-1" strike="noStrike">
                <a:latin typeface="Arial"/>
              </a:endParaRPr>
            </a:p>
          </p:txBody>
        </p:sp>
      </p:grpSp>
      <p:sp>
        <p:nvSpPr>
          <p:cNvPr id="73" name="Прямоугольник 20"/>
          <p:cNvSpPr/>
          <p:nvPr/>
        </p:nvSpPr>
        <p:spPr>
          <a:xfrm>
            <a:off x="85680" y="3971880"/>
            <a:ext cx="8884440" cy="10796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300" spc="-1" strike="noStrike">
                <a:solidFill>
                  <a:srgbClr val="000000"/>
                </a:solidFill>
                <a:latin typeface="Cambria"/>
                <a:ea typeface="Times New Roman"/>
              </a:rPr>
              <a:t>При разработке пользователь взаимодействует с библиотекой platLib на языке </a:t>
            </a:r>
            <a:r>
              <a:rPr b="0" lang="en-US" sz="1300" spc="-1" strike="noStrike">
                <a:solidFill>
                  <a:srgbClr val="000000"/>
                </a:solidFill>
                <a:latin typeface="Cambria"/>
                <a:ea typeface="Times New Roman"/>
              </a:rPr>
              <a:t>Python</a:t>
            </a:r>
            <a:r>
              <a:rPr b="0" lang="ru-RU" sz="1300" spc="-1" strike="noStrike">
                <a:solidFill>
                  <a:srgbClr val="000000"/>
                </a:solidFill>
                <a:latin typeface="Cambria"/>
                <a:ea typeface="Times New Roman"/>
              </a:rPr>
              <a:t>, как и другие современные фреймворки глубокого обучения. При этом на текущий момент реализовано более 60 вычислительных примитивов, которые позволяют пользователю как разрабатывать собственные слои для нейронных сетей, так и использовать современных архитектуры такие как </a:t>
            </a:r>
            <a:r>
              <a:rPr b="0" lang="en-US" sz="1300" spc="-1" strike="noStrike">
                <a:solidFill>
                  <a:srgbClr val="000000"/>
                </a:solidFill>
                <a:latin typeface="Cambria"/>
                <a:ea typeface="Times New Roman"/>
              </a:rPr>
              <a:t>ResNet</a:t>
            </a:r>
            <a:r>
              <a:rPr b="0" lang="ru-RU" sz="1300" spc="-1" strike="noStrike">
                <a:solidFill>
                  <a:srgbClr val="000000"/>
                </a:solidFill>
                <a:latin typeface="Cambria"/>
                <a:ea typeface="Times New Roman"/>
              </a:rPr>
              <a:t>, </a:t>
            </a:r>
            <a:r>
              <a:rPr b="0" lang="en-US" sz="1300" spc="-1" strike="noStrike">
                <a:solidFill>
                  <a:srgbClr val="000000"/>
                </a:solidFill>
                <a:latin typeface="Cambria"/>
                <a:ea typeface="Times New Roman"/>
              </a:rPr>
              <a:t>ResNext</a:t>
            </a:r>
            <a:r>
              <a:rPr b="0" lang="ru-RU" sz="1300" spc="-1" strike="noStrike">
                <a:solidFill>
                  <a:srgbClr val="000000"/>
                </a:solidFill>
                <a:latin typeface="Cambria"/>
                <a:ea typeface="Times New Roman"/>
              </a:rPr>
              <a:t>, </a:t>
            </a:r>
            <a:r>
              <a:rPr b="0" lang="en-US" sz="1300" spc="-1" strike="noStrike">
                <a:solidFill>
                  <a:srgbClr val="000000"/>
                </a:solidFill>
                <a:latin typeface="Cambria"/>
                <a:ea typeface="Times New Roman"/>
              </a:rPr>
              <a:t>SEResnet</a:t>
            </a:r>
            <a:r>
              <a:rPr b="0" lang="ru-RU" sz="1300" spc="-1" strike="noStrike">
                <a:solidFill>
                  <a:srgbClr val="000000"/>
                </a:solidFill>
                <a:latin typeface="Cambria"/>
                <a:ea typeface="Times New Roman"/>
              </a:rPr>
              <a:t>, </a:t>
            </a:r>
            <a:r>
              <a:rPr b="0" lang="en-US" sz="1300" spc="-1" strike="noStrike">
                <a:solidFill>
                  <a:srgbClr val="000000"/>
                </a:solidFill>
                <a:latin typeface="Cambria"/>
                <a:ea typeface="Times New Roman"/>
              </a:rPr>
              <a:t>DenseNet</a:t>
            </a:r>
            <a:r>
              <a:rPr b="0" lang="ru-RU" sz="1300" spc="-1" strike="noStrike">
                <a:solidFill>
                  <a:srgbClr val="000000"/>
                </a:solidFill>
                <a:latin typeface="Cambria"/>
                <a:ea typeface="Times New Roman"/>
              </a:rPr>
              <a:t>, </a:t>
            </a:r>
            <a:r>
              <a:rPr b="0" lang="en-US" sz="1300" spc="-1" strike="noStrike">
                <a:solidFill>
                  <a:srgbClr val="000000"/>
                </a:solidFill>
                <a:latin typeface="Cambria"/>
                <a:ea typeface="Times New Roman"/>
              </a:rPr>
              <a:t>MobileNet v</a:t>
            </a:r>
            <a:r>
              <a:rPr b="0" lang="ru-RU" sz="1300" spc="-1" strike="noStrike">
                <a:solidFill>
                  <a:srgbClr val="000000"/>
                </a:solidFill>
                <a:latin typeface="Cambria"/>
                <a:ea typeface="Times New Roman"/>
              </a:rPr>
              <a:t>1,</a:t>
            </a:r>
            <a:r>
              <a:rPr b="0" lang="en-US" sz="1300" spc="-1" strike="noStrike">
                <a:solidFill>
                  <a:srgbClr val="000000"/>
                </a:solidFill>
                <a:latin typeface="Cambria"/>
                <a:ea typeface="Times New Roman"/>
              </a:rPr>
              <a:t>v</a:t>
            </a:r>
            <a:r>
              <a:rPr b="0" lang="ru-RU" sz="1300" spc="-1" strike="noStrike">
                <a:solidFill>
                  <a:srgbClr val="000000"/>
                </a:solidFill>
                <a:latin typeface="Cambria"/>
                <a:ea typeface="Times New Roman"/>
              </a:rPr>
              <a:t>2,</a:t>
            </a:r>
            <a:r>
              <a:rPr b="0" lang="en-US" sz="1300" spc="-1" strike="noStrike">
                <a:solidFill>
                  <a:srgbClr val="000000"/>
                </a:solidFill>
                <a:latin typeface="Cambria"/>
                <a:ea typeface="Times New Roman"/>
              </a:rPr>
              <a:t>v</a:t>
            </a:r>
            <a:r>
              <a:rPr b="0" lang="ru-RU" sz="1300" spc="-1" strike="noStrike">
                <a:solidFill>
                  <a:srgbClr val="000000"/>
                </a:solidFill>
                <a:latin typeface="Cambria"/>
                <a:ea typeface="Times New Roman"/>
              </a:rPr>
              <a:t>3 и многие другие. </a:t>
            </a:r>
            <a:endParaRPr b="0" lang="en-US" sz="13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TextBox 7"/>
          <p:cNvSpPr/>
          <p:nvPr/>
        </p:nvSpPr>
        <p:spPr>
          <a:xfrm>
            <a:off x="981720" y="45000"/>
            <a:ext cx="7056720" cy="322200"/>
          </a:xfrm>
          <a:prstGeom prst="rect">
            <a:avLst/>
          </a:prstGeom>
          <a:noFill/>
          <a:ln w="0">
            <a:noFill/>
          </a:ln>
          <a:effectLst>
            <a:innerShdw blurRad="63500" dir="5400000" dist="50800">
              <a:srgbClr val="000000">
                <a:alpha val="50000"/>
              </a:srgbClr>
            </a:innerShdw>
          </a:effectLst>
          <a:scene3d>
            <a:camera prst="orthographicFront">
              <a:rot lat="0" lon="0" rev="0"/>
            </a:camera>
            <a:lightRig dir="t" rig="balanced">
              <a:rot lat="0" lon="0" rev="8700000"/>
            </a:lightRig>
          </a:scene3d>
          <a:sp3d>
            <a:bevelT w="190500" h="38100"/>
          </a:sp3d>
        </p:spPr>
        <p:style>
          <a:lnRef idx="0"/>
          <a:fillRef idx="0"/>
          <a:effectRef idx="0"/>
          <a:fontRef idx="minor"/>
        </p:style>
        <p:txBody>
          <a:bodyPr lIns="0" rIns="0" tIns="0" bIns="0" anchor="ctr">
            <a:noAutofit/>
          </a:bodyPr>
          <a:p>
            <a:pPr algn="ctr">
              <a:lnSpc>
                <a:spcPct val="100000"/>
              </a:lnSpc>
              <a:buNone/>
            </a:pPr>
            <a:r>
              <a:rPr b="1" lang="ru-RU" sz="1400" spc="-1" strike="noStrike">
                <a:solidFill>
                  <a:srgbClr val="000000"/>
                </a:solidFill>
                <a:latin typeface="Calibri"/>
              </a:rPr>
              <a:t>Платформы обучения нейронных сетей</a:t>
            </a:r>
            <a:endParaRPr b="0" lang="en-US" sz="1400" spc="-1" strike="noStrike">
              <a:latin typeface="Arial"/>
            </a:endParaRPr>
          </a:p>
        </p:txBody>
      </p:sp>
      <p:pic>
        <p:nvPicPr>
          <p:cNvPr id="75" name="Рисунок 21" descr=""/>
          <p:cNvPicPr/>
          <p:nvPr/>
        </p:nvPicPr>
        <p:blipFill>
          <a:blip r:embed="rId1"/>
          <a:srcRect l="1237" t="0" r="0" b="0"/>
          <a:stretch/>
        </p:blipFill>
        <p:spPr>
          <a:xfrm>
            <a:off x="197280" y="2125440"/>
            <a:ext cx="5371200" cy="2736720"/>
          </a:xfrm>
          <a:prstGeom prst="rect">
            <a:avLst/>
          </a:prstGeom>
          <a:ln w="0">
            <a:noFill/>
          </a:ln>
        </p:spPr>
      </p:pic>
      <p:sp>
        <p:nvSpPr>
          <p:cNvPr id="76" name="Прямоугольник 2"/>
          <p:cNvSpPr/>
          <p:nvPr/>
        </p:nvSpPr>
        <p:spPr>
          <a:xfrm>
            <a:off x="197280" y="309600"/>
            <a:ext cx="8854920" cy="20077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pPr>
            <a:r>
              <a:rPr b="1" lang="ru-RU" sz="1400" spc="-1" strike="noStrike">
                <a:solidFill>
                  <a:srgbClr val="000000"/>
                </a:solidFill>
                <a:latin typeface="Cambria"/>
                <a:ea typeface="Times New Roman"/>
              </a:rPr>
              <a:t>Платформа </a:t>
            </a:r>
            <a:r>
              <a:rPr b="0" lang="ru-RU" sz="1400" spc="-1" strike="noStrike">
                <a:solidFill>
                  <a:srgbClr val="000000"/>
                </a:solidFill>
                <a:latin typeface="Cambria"/>
                <a:ea typeface="Times New Roman"/>
              </a:rPr>
              <a:t>для подготовки конечных решений представляет собой конечный инструментарий как для исследователя, так и для разработчика или инженера, позволяющий собрать и в автоматизированном режиме разметить данные для обучения, подобрать готовое типовое решение или создать архитектуру самостоятельно, провести обучение нейронной сети и на выходе получить работающий программный сервис, позволяющий решать поставленную задачу.</a:t>
            </a:r>
            <a:endParaRPr b="0" lang="en-US" sz="1400" spc="-1" strike="noStrike">
              <a:latin typeface="Arial"/>
            </a:endParaRPr>
          </a:p>
          <a:p>
            <a:pPr algn="just">
              <a:lnSpc>
                <a:spcPct val="100000"/>
              </a:lnSpc>
              <a:buNone/>
            </a:pPr>
            <a:r>
              <a:rPr b="0" lang="ru-RU" sz="1400" spc="-1" strike="noStrike">
                <a:solidFill>
                  <a:srgbClr val="000000"/>
                </a:solidFill>
                <a:latin typeface="Cambria"/>
                <a:ea typeface="Times New Roman"/>
              </a:rPr>
              <a:t>Основные решения, предоставляющие конечным потребителям платформу для подготовки конечных решений на основе глубоких нейронных сетей – </a:t>
            </a:r>
            <a:r>
              <a:rPr b="0" lang="en-US" sz="1400" spc="-1" strike="noStrike">
                <a:solidFill>
                  <a:srgbClr val="000000"/>
                </a:solidFill>
                <a:latin typeface="Cambria"/>
                <a:ea typeface="Times New Roman"/>
              </a:rPr>
              <a:t>Supervisely</a:t>
            </a:r>
            <a:r>
              <a:rPr b="0" lang="ru-RU" sz="1400" spc="-1" strike="noStrike">
                <a:solidFill>
                  <a:srgbClr val="000000"/>
                </a:solidFill>
                <a:latin typeface="Cambria"/>
                <a:ea typeface="Times New Roman"/>
              </a:rPr>
              <a:t>, </a:t>
            </a:r>
            <a:r>
              <a:rPr b="0" lang="en-US" sz="1400" spc="-1" strike="noStrike">
                <a:solidFill>
                  <a:srgbClr val="000000"/>
                </a:solidFill>
                <a:latin typeface="Cambria"/>
                <a:ea typeface="Times New Roman"/>
              </a:rPr>
              <a:t>Roboflow</a:t>
            </a:r>
            <a:r>
              <a:rPr b="0" lang="ru-RU" sz="1400" spc="-1" strike="noStrike">
                <a:solidFill>
                  <a:srgbClr val="000000"/>
                </a:solidFill>
                <a:latin typeface="Cambria"/>
                <a:ea typeface="Times New Roman"/>
              </a:rPr>
              <a:t>, </a:t>
            </a:r>
            <a:r>
              <a:rPr b="0" lang="en-US" sz="1400" spc="-1" strike="noStrike">
                <a:solidFill>
                  <a:srgbClr val="000000"/>
                </a:solidFill>
                <a:latin typeface="Cambria"/>
                <a:ea typeface="Times New Roman"/>
              </a:rPr>
              <a:t>Datarobot</a:t>
            </a:r>
            <a:r>
              <a:rPr b="0" lang="ru-RU" sz="1400" spc="-1" strike="noStrike">
                <a:solidFill>
                  <a:srgbClr val="000000"/>
                </a:solidFill>
                <a:latin typeface="Cambria"/>
                <a:ea typeface="Times New Roman"/>
              </a:rPr>
              <a:t>, «Платформа-ГНС» разработки ФГУП ГосНИИАС.</a:t>
            </a:r>
            <a:endParaRPr b="0" lang="en-US" sz="1400" spc="-1" strike="noStrike">
              <a:latin typeface="Arial"/>
            </a:endParaRPr>
          </a:p>
        </p:txBody>
      </p:sp>
      <p:sp>
        <p:nvSpPr>
          <p:cNvPr id="77" name="Прямоугольник 4"/>
          <p:cNvSpPr/>
          <p:nvPr/>
        </p:nvSpPr>
        <p:spPr>
          <a:xfrm>
            <a:off x="5751720" y="2009160"/>
            <a:ext cx="3300480" cy="36050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pPr>
            <a:r>
              <a:rPr b="0" lang="ru-RU" sz="1100" spc="-1" strike="noStrike">
                <a:solidFill>
                  <a:srgbClr val="000000"/>
                </a:solidFill>
                <a:latin typeface="Cambria"/>
                <a:ea typeface="Times New Roman"/>
              </a:rPr>
              <a:t>Все вышеперечисленные платформы предоставляют потребителю на выбор целый набор готовых типовых решений для различных классических задач машинного обучения. Платформа «</a:t>
            </a:r>
            <a:r>
              <a:rPr b="1" lang="en-US" sz="1100" spc="-1" strike="noStrike">
                <a:solidFill>
                  <a:srgbClr val="000000"/>
                </a:solidFill>
                <a:latin typeface="Cambria"/>
                <a:ea typeface="Times New Roman"/>
              </a:rPr>
              <a:t>Datarobot</a:t>
            </a:r>
            <a:r>
              <a:rPr b="0" lang="ru-RU" sz="1100" spc="-1" strike="noStrike">
                <a:solidFill>
                  <a:srgbClr val="000000"/>
                </a:solidFill>
                <a:latin typeface="Cambria"/>
                <a:ea typeface="Times New Roman"/>
              </a:rPr>
              <a:t>» больше направлена на задачи обработки данных, есть возможность ограниченного применения автообучения (</a:t>
            </a:r>
            <a:r>
              <a:rPr b="0" lang="en-US" sz="1100" spc="-1" strike="noStrike">
                <a:solidFill>
                  <a:srgbClr val="000000"/>
                </a:solidFill>
                <a:latin typeface="Cambria"/>
                <a:ea typeface="Times New Roman"/>
              </a:rPr>
              <a:t>AutoML</a:t>
            </a:r>
            <a:r>
              <a:rPr b="0" lang="ru-RU" sz="1100" spc="-1" strike="noStrike">
                <a:solidFill>
                  <a:srgbClr val="000000"/>
                </a:solidFill>
                <a:latin typeface="Cambria"/>
                <a:ea typeface="Times New Roman"/>
              </a:rPr>
              <a:t>), практически отсутствуют типовые решения по обработке изображений. Платформа «</a:t>
            </a:r>
            <a:r>
              <a:rPr b="1" lang="en-US" sz="1100" spc="-1" strike="noStrike">
                <a:solidFill>
                  <a:srgbClr val="000000"/>
                </a:solidFill>
                <a:latin typeface="Cambria"/>
                <a:ea typeface="Times New Roman"/>
              </a:rPr>
              <a:t>Supervisely</a:t>
            </a:r>
            <a:r>
              <a:rPr b="0" lang="ru-RU" sz="1100" spc="-1" strike="noStrike">
                <a:solidFill>
                  <a:srgbClr val="000000"/>
                </a:solidFill>
                <a:latin typeface="Cambria"/>
                <a:ea typeface="Times New Roman"/>
              </a:rPr>
              <a:t>» предлагает целый спектр типовых решений по обработке изображений, видеопоследовательностей, а также трехмерных облаков точек. Платформа «</a:t>
            </a:r>
            <a:r>
              <a:rPr b="1" lang="en-US" sz="1100" spc="-1" strike="noStrike">
                <a:solidFill>
                  <a:srgbClr val="000000"/>
                </a:solidFill>
                <a:latin typeface="Cambria"/>
                <a:ea typeface="Times New Roman"/>
              </a:rPr>
              <a:t>Roboflow</a:t>
            </a:r>
            <a:r>
              <a:rPr b="0" lang="ru-RU" sz="1100" spc="-1" strike="noStrike">
                <a:solidFill>
                  <a:srgbClr val="000000"/>
                </a:solidFill>
                <a:latin typeface="Cambria"/>
                <a:ea typeface="Times New Roman"/>
              </a:rPr>
              <a:t>» также специализируется на обработке изображений, предлагая потребителю набор типовых решений в основном для задачи распознавания объектов.</a:t>
            </a:r>
            <a:endParaRPr b="0" lang="en-US" sz="11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Прямоугольник 6"/>
          <p:cNvSpPr/>
          <p:nvPr/>
        </p:nvSpPr>
        <p:spPr>
          <a:xfrm>
            <a:off x="274320" y="952200"/>
            <a:ext cx="8595000" cy="42267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pPr>
            <a:r>
              <a:rPr b="1" lang="ru-RU" sz="1600" spc="-1" strike="noStrike">
                <a:solidFill>
                  <a:srgbClr val="000000"/>
                </a:solidFill>
                <a:latin typeface="Cambria"/>
                <a:ea typeface="Times New Roman"/>
              </a:rPr>
              <a:t>Обучение</a:t>
            </a:r>
            <a:r>
              <a:rPr b="0" lang="ru-RU" sz="1600" spc="-1" strike="noStrike">
                <a:solidFill>
                  <a:srgbClr val="000000"/>
                </a:solidFill>
                <a:latin typeface="Cambria"/>
                <a:ea typeface="Times New Roman"/>
              </a:rPr>
              <a:t>. В процессе обучения размеченный набор данных пропускается через необученную нейронную сеть. Результаты фреймворка сравниваются с разметкой. Затем фреймворк оценивает значение ошибки и обновляет веса в слоях нейронной сети методом обратного распространения ошибки. Этот процесс повторяется до тех пор, пока нейронная сеть не будет делать прогнозы с достаточной точностью. Для этого требуются мощные вычислительные кластеры и высокопроизводительные масштабируемые системы хранения.</a:t>
            </a:r>
            <a:endParaRPr b="0" lang="en-US" sz="1600" spc="-1" strike="noStrike">
              <a:latin typeface="Arial"/>
            </a:endParaRPr>
          </a:p>
          <a:p>
            <a:pPr algn="just">
              <a:lnSpc>
                <a:spcPct val="100000"/>
              </a:lnSpc>
              <a:buNone/>
            </a:pPr>
            <a:endParaRPr b="0" lang="en-US" sz="1600" spc="-1" strike="noStrike">
              <a:latin typeface="Arial"/>
            </a:endParaRPr>
          </a:p>
          <a:p>
            <a:pPr algn="just">
              <a:lnSpc>
                <a:spcPct val="100000"/>
              </a:lnSpc>
              <a:buNone/>
            </a:pPr>
            <a:r>
              <a:rPr b="1" lang="ru-RU" sz="1600" spc="-1" strike="noStrike">
                <a:solidFill>
                  <a:srgbClr val="000000"/>
                </a:solidFill>
                <a:latin typeface="Cambria"/>
                <a:ea typeface="Times New Roman"/>
              </a:rPr>
              <a:t>Инференс</a:t>
            </a:r>
            <a:r>
              <a:rPr b="0" lang="ru-RU" sz="1600" spc="-1" strike="noStrike">
                <a:solidFill>
                  <a:srgbClr val="000000"/>
                </a:solidFill>
                <a:latin typeface="Cambria"/>
                <a:ea typeface="Times New Roman"/>
              </a:rPr>
              <a:t> – это использование </a:t>
            </a:r>
            <a:r>
              <a:rPr b="0" lang="ru-RU" sz="1600" spc="-1" strike="noStrike">
                <a:solidFill>
                  <a:srgbClr val="000000"/>
                </a:solidFill>
                <a:latin typeface="Cambria"/>
                <a:ea typeface="Times New Roman"/>
              </a:rPr>
              <a:t>обученной</a:t>
            </a:r>
            <a:r>
              <a:rPr b="0" lang="ru-RU" sz="1600" spc="-1" strike="noStrike">
                <a:solidFill>
                  <a:srgbClr val="000000"/>
                </a:solidFill>
                <a:latin typeface="Cambria"/>
                <a:ea typeface="Times New Roman"/>
              </a:rPr>
              <a:t> модели нейронной сети в работе. Для использования глубоких моделей в прикладных задачах требуется минимизировать использование ресурсов. Решается это различными способами: использование оптимизированных библиотек, которые максимально плотно заполняют конвейер процессора вычислениями (так называемые инференс-фреймворки); конвертация параметров модели из fp32 в fp16, int8; использование специализированных ускорителей (GPU, </a:t>
            </a:r>
            <a:r>
              <a:rPr b="0" lang="en-US" sz="1600" spc="-1" strike="noStrike">
                <a:solidFill>
                  <a:srgbClr val="000000"/>
                </a:solidFill>
                <a:latin typeface="Cambria"/>
                <a:ea typeface="Times New Roman"/>
              </a:rPr>
              <a:t>NPU</a:t>
            </a:r>
            <a:r>
              <a:rPr b="0" lang="ru-RU" sz="1600" spc="-1" strike="noStrike">
                <a:solidFill>
                  <a:srgbClr val="000000"/>
                </a:solidFill>
                <a:latin typeface="Cambria"/>
                <a:ea typeface="Times New Roman"/>
              </a:rPr>
              <a:t>, TPU, FPGA).</a:t>
            </a:r>
            <a:endParaRPr b="0" lang="en-US" sz="1600" spc="-1" strike="noStrike">
              <a:latin typeface="Arial"/>
            </a:endParaRPr>
          </a:p>
        </p:txBody>
      </p:sp>
      <p:sp>
        <p:nvSpPr>
          <p:cNvPr id="79" name="TextBox 7"/>
          <p:cNvSpPr/>
          <p:nvPr/>
        </p:nvSpPr>
        <p:spPr>
          <a:xfrm>
            <a:off x="981720" y="45000"/>
            <a:ext cx="7056720" cy="322200"/>
          </a:xfrm>
          <a:prstGeom prst="rect">
            <a:avLst/>
          </a:prstGeom>
          <a:noFill/>
          <a:ln w="0">
            <a:noFill/>
          </a:ln>
          <a:effectLst>
            <a:innerShdw blurRad="63500" dir="5400000" dist="50800">
              <a:srgbClr val="000000">
                <a:alpha val="50000"/>
              </a:srgbClr>
            </a:innerShdw>
          </a:effectLst>
          <a:scene3d>
            <a:camera prst="orthographicFront">
              <a:rot lat="0" lon="0" rev="0"/>
            </a:camera>
            <a:lightRig dir="t" rig="balanced">
              <a:rot lat="0" lon="0" rev="8700000"/>
            </a:lightRig>
          </a:scene3d>
          <a:sp3d>
            <a:bevelT w="190500" h="38100"/>
          </a:sp3d>
        </p:spPr>
        <p:style>
          <a:lnRef idx="0"/>
          <a:fillRef idx="0"/>
          <a:effectRef idx="0"/>
          <a:fontRef idx="minor"/>
        </p:style>
        <p:txBody>
          <a:bodyPr lIns="0" rIns="0" tIns="0" bIns="0" anchor="ctr">
            <a:noAutofit/>
          </a:bodyPr>
          <a:p>
            <a:pPr algn="ctr">
              <a:lnSpc>
                <a:spcPct val="100000"/>
              </a:lnSpc>
              <a:buNone/>
            </a:pPr>
            <a:r>
              <a:rPr b="1" lang="ru-RU" sz="1400" spc="-1" strike="noStrike">
                <a:solidFill>
                  <a:srgbClr val="000000"/>
                </a:solidFill>
                <a:latin typeface="Calibri"/>
              </a:rPr>
              <a:t>Обучение и прямой проход (инференс) нейронных сетей</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TextBox 7"/>
          <p:cNvSpPr/>
          <p:nvPr/>
        </p:nvSpPr>
        <p:spPr>
          <a:xfrm>
            <a:off x="981720" y="45000"/>
            <a:ext cx="7056720" cy="322200"/>
          </a:xfrm>
          <a:prstGeom prst="rect">
            <a:avLst/>
          </a:prstGeom>
          <a:noFill/>
          <a:ln w="0">
            <a:noFill/>
          </a:ln>
          <a:effectLst>
            <a:innerShdw blurRad="63500" dir="5400000" dist="50800">
              <a:srgbClr val="000000">
                <a:alpha val="50000"/>
              </a:srgbClr>
            </a:innerShdw>
          </a:effectLst>
          <a:scene3d>
            <a:camera prst="orthographicFront">
              <a:rot lat="0" lon="0" rev="0"/>
            </a:camera>
            <a:lightRig dir="t" rig="balanced">
              <a:rot lat="0" lon="0" rev="8700000"/>
            </a:lightRig>
          </a:scene3d>
          <a:sp3d>
            <a:bevelT w="190500" h="38100"/>
          </a:sp3d>
        </p:spPr>
        <p:style>
          <a:lnRef idx="0"/>
          <a:fillRef idx="0"/>
          <a:effectRef idx="0"/>
          <a:fontRef idx="minor"/>
        </p:style>
        <p:txBody>
          <a:bodyPr lIns="0" rIns="0" tIns="0" bIns="0" anchor="ctr">
            <a:noAutofit/>
          </a:bodyPr>
          <a:p>
            <a:pPr algn="ctr">
              <a:lnSpc>
                <a:spcPct val="100000"/>
              </a:lnSpc>
              <a:buNone/>
            </a:pPr>
            <a:r>
              <a:rPr b="1" lang="ru-RU" sz="1400" spc="-1" strike="noStrike">
                <a:solidFill>
                  <a:srgbClr val="000000"/>
                </a:solidFill>
                <a:latin typeface="Calibri"/>
              </a:rPr>
              <a:t>Ускорение процесса обучения</a:t>
            </a:r>
            <a:endParaRPr b="0" lang="en-US" sz="1400" spc="-1" strike="noStrike">
              <a:latin typeface="Arial"/>
            </a:endParaRPr>
          </a:p>
        </p:txBody>
      </p:sp>
      <p:sp>
        <p:nvSpPr>
          <p:cNvPr id="81" name="Прямоугольник 2"/>
          <p:cNvSpPr/>
          <p:nvPr/>
        </p:nvSpPr>
        <p:spPr>
          <a:xfrm>
            <a:off x="186840" y="1568520"/>
            <a:ext cx="4118400" cy="15498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ru-RU" sz="1600" spc="-1" strike="noStrike">
                <a:solidFill>
                  <a:srgbClr val="000000"/>
                </a:solidFill>
                <a:latin typeface="Cambria"/>
                <a:ea typeface="Times New Roman"/>
              </a:rPr>
              <a:t>Для CPU </a:t>
            </a:r>
            <a:r>
              <a:rPr b="0" lang="ru-RU" sz="1600" spc="-1" strike="noStrike">
                <a:solidFill>
                  <a:srgbClr val="000000"/>
                </a:solidFill>
                <a:latin typeface="Cambria"/>
                <a:ea typeface="Times New Roman"/>
              </a:rPr>
              <a:t>оптимизация в основном происходит за счет применения модели </a:t>
            </a:r>
            <a:r>
              <a:rPr b="0" lang="en-US" sz="1600" spc="-1" strike="noStrike">
                <a:solidFill>
                  <a:srgbClr val="000000"/>
                </a:solidFill>
                <a:latin typeface="Cambria"/>
                <a:ea typeface="Times New Roman"/>
              </a:rPr>
              <a:t>Single Instruction Multiple Data</a:t>
            </a:r>
            <a:r>
              <a:rPr b="0" lang="ru-RU" sz="1600" spc="-1" strike="noStrike">
                <a:solidFill>
                  <a:srgbClr val="000000"/>
                </a:solidFill>
                <a:latin typeface="Cambria"/>
                <a:ea typeface="Times New Roman"/>
              </a:rPr>
              <a:t> (</a:t>
            </a:r>
            <a:r>
              <a:rPr b="0" lang="en-US" sz="1600" spc="-1" strike="noStrike">
                <a:solidFill>
                  <a:srgbClr val="000000"/>
                </a:solidFill>
                <a:latin typeface="Cambria"/>
                <a:ea typeface="Times New Roman"/>
              </a:rPr>
              <a:t>SIMD</a:t>
            </a:r>
            <a:r>
              <a:rPr b="0" lang="ru-RU" sz="1600" spc="-1" strike="noStrike">
                <a:solidFill>
                  <a:srgbClr val="000000"/>
                </a:solidFill>
                <a:latin typeface="Cambria"/>
                <a:ea typeface="Times New Roman"/>
              </a:rPr>
              <a:t>), которая представлена векторными расширениями</a:t>
            </a:r>
            <a:r>
              <a:rPr b="0" lang="en-US" sz="1600" spc="-1" strike="noStrike">
                <a:solidFill>
                  <a:srgbClr val="000000"/>
                </a:solidFill>
                <a:latin typeface="Cambria"/>
                <a:ea typeface="Times New Roman"/>
              </a:rPr>
              <a:t> SSE, AVX, AVX-2, AVX-512</a:t>
            </a:r>
            <a:endParaRPr b="0" lang="en-US" sz="1600" spc="-1" strike="noStrike">
              <a:latin typeface="Arial"/>
            </a:endParaRPr>
          </a:p>
        </p:txBody>
      </p:sp>
      <p:sp>
        <p:nvSpPr>
          <p:cNvPr id="82" name="Прямоугольник 4"/>
          <p:cNvSpPr/>
          <p:nvPr/>
        </p:nvSpPr>
        <p:spPr>
          <a:xfrm>
            <a:off x="4702680" y="1445400"/>
            <a:ext cx="4118400" cy="17931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ru-RU" sz="1600" spc="-1" strike="noStrike">
                <a:solidFill>
                  <a:srgbClr val="000000"/>
                </a:solidFill>
                <a:latin typeface="Cambria"/>
                <a:ea typeface="Times New Roman"/>
              </a:rPr>
              <a:t>Для </a:t>
            </a:r>
            <a:r>
              <a:rPr b="1" lang="en-US" sz="1600" spc="-1" strike="noStrike">
                <a:solidFill>
                  <a:srgbClr val="000000"/>
                </a:solidFill>
                <a:latin typeface="Cambria"/>
                <a:ea typeface="Times New Roman"/>
              </a:rPr>
              <a:t>GPU </a:t>
            </a:r>
            <a:r>
              <a:rPr b="0" lang="ru-RU" sz="1600" spc="-1" strike="noStrike">
                <a:solidFill>
                  <a:srgbClr val="000000"/>
                </a:solidFill>
                <a:latin typeface="Cambria"/>
                <a:ea typeface="Times New Roman"/>
              </a:rPr>
              <a:t>оптимизация в основном происходит за счет применения модели </a:t>
            </a:r>
            <a:r>
              <a:rPr b="0" lang="en-US" sz="1600" spc="-1" strike="noStrike">
                <a:solidFill>
                  <a:srgbClr val="000000"/>
                </a:solidFill>
                <a:latin typeface="Cambria"/>
                <a:ea typeface="Times New Roman"/>
              </a:rPr>
              <a:t>Single Instruction Multiple Thread</a:t>
            </a:r>
            <a:r>
              <a:rPr b="0" lang="ru-RU" sz="1600" spc="-1" strike="noStrike">
                <a:solidFill>
                  <a:srgbClr val="000000"/>
                </a:solidFill>
                <a:latin typeface="Cambria"/>
                <a:ea typeface="Times New Roman"/>
              </a:rPr>
              <a:t> (</a:t>
            </a:r>
            <a:r>
              <a:rPr b="0" lang="en-US" sz="1600" spc="-1" strike="noStrike">
                <a:solidFill>
                  <a:srgbClr val="000000"/>
                </a:solidFill>
                <a:latin typeface="Cambria"/>
                <a:ea typeface="Times New Roman"/>
              </a:rPr>
              <a:t>SIMT</a:t>
            </a:r>
            <a:r>
              <a:rPr b="0" lang="ru-RU" sz="1600" spc="-1" strike="noStrike">
                <a:solidFill>
                  <a:srgbClr val="000000"/>
                </a:solidFill>
                <a:latin typeface="Cambria"/>
                <a:ea typeface="Times New Roman"/>
              </a:rPr>
              <a:t>). Повышение производительности базируется на параллельном запуске множества скалярных потоков</a:t>
            </a:r>
            <a:endParaRPr b="0" lang="en-US" sz="1600" spc="-1" strike="noStrike">
              <a:latin typeface="Arial"/>
            </a:endParaRPr>
          </a:p>
        </p:txBody>
      </p:sp>
      <p:sp>
        <p:nvSpPr>
          <p:cNvPr id="83" name="Прямоугольник 5"/>
          <p:cNvSpPr/>
          <p:nvPr/>
        </p:nvSpPr>
        <p:spPr>
          <a:xfrm>
            <a:off x="186840" y="427320"/>
            <a:ext cx="8719920" cy="13064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pPr>
            <a:r>
              <a:rPr b="0" lang="ru-RU" sz="1600" spc="-1" strike="noStrike">
                <a:solidFill>
                  <a:srgbClr val="000000"/>
                </a:solidFill>
                <a:latin typeface="Cambria"/>
                <a:ea typeface="Cambria"/>
              </a:rPr>
              <a:t>Ускорение обучения и инференса нейронных сетей достигается за счет использования хорошо оптимизированных библиотек. </a:t>
            </a:r>
            <a:endParaRPr b="0" lang="en-US" sz="1600" spc="-1" strike="noStrike">
              <a:latin typeface="Arial"/>
            </a:endParaRPr>
          </a:p>
          <a:p>
            <a:pPr algn="just">
              <a:lnSpc>
                <a:spcPct val="100000"/>
              </a:lnSpc>
              <a:buNone/>
            </a:pPr>
            <a:r>
              <a:rPr b="0" lang="ru-RU" sz="1600" spc="-1" strike="noStrike">
                <a:solidFill>
                  <a:srgbClr val="000000"/>
                </a:solidFill>
                <a:latin typeface="Cambria"/>
                <a:ea typeface="Cambria"/>
              </a:rPr>
              <a:t>Одна из наиболее частых видов оптимизаций – использование наиболее подходящих структур данных, улучшающее расположение в памяти (</a:t>
            </a:r>
            <a:r>
              <a:rPr b="0" lang="en-US" sz="1600" spc="-1" strike="noStrike">
                <a:solidFill>
                  <a:srgbClr val="000000"/>
                </a:solidFill>
                <a:latin typeface="Cambria"/>
                <a:ea typeface="Cambria"/>
              </a:rPr>
              <a:t>cache friendly</a:t>
            </a:r>
            <a:r>
              <a:rPr b="0" lang="ru-RU" sz="1600" spc="-1" strike="noStrike">
                <a:solidFill>
                  <a:srgbClr val="000000"/>
                </a:solidFill>
                <a:latin typeface="Cambria"/>
                <a:ea typeface="Cambria"/>
              </a:rPr>
              <a:t>).</a:t>
            </a:r>
            <a:endParaRPr b="0" lang="en-US" sz="1600" spc="-1" strike="noStrike">
              <a:latin typeface="Arial"/>
            </a:endParaRPr>
          </a:p>
        </p:txBody>
      </p:sp>
      <p:pic>
        <p:nvPicPr>
          <p:cNvPr id="84" name="Рисунок 8" descr=""/>
          <p:cNvPicPr/>
          <p:nvPr/>
        </p:nvPicPr>
        <p:blipFill>
          <a:blip r:embed="rId1"/>
          <a:stretch/>
        </p:blipFill>
        <p:spPr>
          <a:xfrm>
            <a:off x="186840" y="3015360"/>
            <a:ext cx="4118400" cy="2127960"/>
          </a:xfrm>
          <a:prstGeom prst="rect">
            <a:avLst/>
          </a:prstGeom>
          <a:ln w="0">
            <a:noFill/>
          </a:ln>
        </p:spPr>
      </p:pic>
      <p:pic>
        <p:nvPicPr>
          <p:cNvPr id="85" name="Picture 2" descr="NVIDIA GPU block diagram showing internal architecture and system... |  Download Scientific Diagram"/>
          <p:cNvPicPr/>
          <p:nvPr/>
        </p:nvPicPr>
        <p:blipFill>
          <a:blip r:embed="rId2"/>
          <a:stretch/>
        </p:blipFill>
        <p:spPr>
          <a:xfrm>
            <a:off x="4788720" y="3015360"/>
            <a:ext cx="4118400" cy="208296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Прямоугольник 6"/>
          <p:cNvSpPr/>
          <p:nvPr/>
        </p:nvSpPr>
        <p:spPr>
          <a:xfrm>
            <a:off x="274320" y="838800"/>
            <a:ext cx="8595000" cy="20077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pPr>
            <a:r>
              <a:rPr b="1" lang="ru-RU" sz="1400" spc="-1" strike="noStrike">
                <a:solidFill>
                  <a:srgbClr val="000000"/>
                </a:solidFill>
                <a:latin typeface="Calibri"/>
              </a:rPr>
              <a:t>Инференс-фреймворк OpenVINO </a:t>
            </a:r>
            <a:endParaRPr b="0" lang="en-US" sz="1400" spc="-1" strike="noStrike">
              <a:latin typeface="Arial"/>
            </a:endParaRPr>
          </a:p>
          <a:p>
            <a:pPr algn="just">
              <a:lnSpc>
                <a:spcPct val="100000"/>
              </a:lnSpc>
              <a:buNone/>
            </a:pPr>
            <a:r>
              <a:rPr b="0" lang="ru-RU" sz="1400" spc="-1" strike="noStrike">
                <a:solidFill>
                  <a:srgbClr val="000000"/>
                </a:solidFill>
                <a:latin typeface="Calibri"/>
              </a:rPr>
              <a:t>Инженеры Intel разработал OpenVINO как совершенный инструмент для удобной и быстрой разработки конечных решений основанных на обработке данных при помощи нейронных сетей включая конволюционные, рекуррентные и сети с attention-механизмом. Среди приложений, разрабатываемых при помощи openVINO, могут быть приложения для машинного зрения, распознавания речи, рекомендательных систем, обработка текстов и другие. OpenVINO способен идеально оптимизировать вычисления линейной алгебры для каждой архитектуры процессора Intel, максимально повышая производительность и ускоряя работу конкретного приложения. </a:t>
            </a:r>
            <a:endParaRPr b="0" lang="en-US" sz="1400" spc="-1" strike="noStrike">
              <a:latin typeface="Arial"/>
            </a:endParaRPr>
          </a:p>
        </p:txBody>
      </p:sp>
      <p:sp>
        <p:nvSpPr>
          <p:cNvPr id="87" name="TextBox 7"/>
          <p:cNvSpPr/>
          <p:nvPr/>
        </p:nvSpPr>
        <p:spPr>
          <a:xfrm>
            <a:off x="1043280" y="84600"/>
            <a:ext cx="7056720" cy="322200"/>
          </a:xfrm>
          <a:prstGeom prst="rect">
            <a:avLst/>
          </a:prstGeom>
          <a:noFill/>
          <a:ln w="0">
            <a:noFill/>
          </a:ln>
          <a:effectLst>
            <a:innerShdw blurRad="63500" dir="5400000" dist="50800">
              <a:srgbClr val="000000">
                <a:alpha val="50000"/>
              </a:srgbClr>
            </a:innerShdw>
          </a:effectLst>
          <a:scene3d>
            <a:camera prst="orthographicFront">
              <a:rot lat="0" lon="0" rev="0"/>
            </a:camera>
            <a:lightRig dir="t" rig="balanced">
              <a:rot lat="0" lon="0" rev="8700000"/>
            </a:lightRig>
          </a:scene3d>
          <a:sp3d>
            <a:bevelT w="190500" h="38100"/>
          </a:sp3d>
        </p:spPr>
        <p:style>
          <a:lnRef idx="0"/>
          <a:fillRef idx="0"/>
          <a:effectRef idx="0"/>
          <a:fontRef idx="minor"/>
        </p:style>
        <p:txBody>
          <a:bodyPr lIns="0" rIns="0" tIns="0" bIns="0" anchor="ctr">
            <a:noAutofit/>
          </a:bodyPr>
          <a:p>
            <a:pPr algn="ctr">
              <a:lnSpc>
                <a:spcPct val="100000"/>
              </a:lnSpc>
              <a:buNone/>
            </a:pPr>
            <a:r>
              <a:rPr b="1" lang="ru-RU" sz="1400" spc="-1" strike="noStrike">
                <a:solidFill>
                  <a:srgbClr val="000000"/>
                </a:solidFill>
                <a:latin typeface="Calibri"/>
                <a:ea typeface="Calibri"/>
              </a:rPr>
              <a:t>Инференс-фреймворки для различных аппаратных платформ</a:t>
            </a:r>
            <a:endParaRPr b="0" lang="en-US" sz="1400" spc="-1" strike="noStrike">
              <a:latin typeface="Arial"/>
            </a:endParaRPr>
          </a:p>
        </p:txBody>
      </p:sp>
      <p:sp>
        <p:nvSpPr>
          <p:cNvPr id="88" name="Прямоугольник 3"/>
          <p:cNvSpPr/>
          <p:nvPr/>
        </p:nvSpPr>
        <p:spPr>
          <a:xfrm>
            <a:off x="274320" y="2632320"/>
            <a:ext cx="4937400" cy="30884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400" spc="-1" strike="noStrike">
                <a:solidFill>
                  <a:srgbClr val="000000"/>
                </a:solidFill>
                <a:latin typeface="Calibri"/>
              </a:rPr>
              <a:t>Достоинства:</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Позволяет реализовать большинство востребованных задач по обнаружению объектов, сегментации, обработки естественного языка и др.</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Предусматривает прямое </a:t>
            </a:r>
            <a:r>
              <a:rPr b="0" lang="ru-RU" sz="1500" spc="-1" strike="noStrike">
                <a:solidFill>
                  <a:srgbClr val="000000"/>
                </a:solidFill>
                <a:latin typeface="Calibri"/>
              </a:rPr>
              <a:t>конвертирование</a:t>
            </a:r>
            <a:r>
              <a:rPr b="0" lang="ru-RU" sz="1400" spc="-1" strike="noStrike">
                <a:solidFill>
                  <a:srgbClr val="000000"/>
                </a:solidFill>
                <a:latin typeface="Calibri"/>
              </a:rPr>
              <a:t> из самых популярных форматов Caffe*, TensorFlow*</a:t>
            </a:r>
            <a:r>
              <a:rPr b="0" lang="en-US" sz="1400" spc="-1" strike="noStrike">
                <a:solidFill>
                  <a:srgbClr val="000000"/>
                </a:solidFill>
                <a:latin typeface="Calibri"/>
              </a:rPr>
              <a:t>, tflite</a:t>
            </a:r>
            <a:r>
              <a:rPr b="0" lang="ru-RU" sz="1400" spc="-1" strike="noStrike">
                <a:solidFill>
                  <a:srgbClr val="000000"/>
                </a:solidFill>
                <a:latin typeface="Calibri"/>
              </a:rPr>
              <a:t>, MXNet*, Kaldi*, ONNX* фреймворков глубокого обучения.</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Поддержка режимов оптимизации INT8 и FLOAT16.</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Наличие большой базы предобученных моделей, позволяющих строить готовые решения «из коробки».</a:t>
            </a:r>
            <a:endParaRPr b="0" lang="en-US" sz="1400" spc="-1" strike="noStrike">
              <a:latin typeface="Arial"/>
            </a:endParaRPr>
          </a:p>
        </p:txBody>
      </p:sp>
      <p:sp>
        <p:nvSpPr>
          <p:cNvPr id="89" name="Прямоугольник 4"/>
          <p:cNvSpPr/>
          <p:nvPr/>
        </p:nvSpPr>
        <p:spPr>
          <a:xfrm>
            <a:off x="5276160" y="2632320"/>
            <a:ext cx="3593160" cy="2220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400" spc="-1" strike="noStrike">
                <a:solidFill>
                  <a:srgbClr val="000000"/>
                </a:solidFill>
                <a:latin typeface="Calibri"/>
              </a:rPr>
              <a:t>Недостатки:</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Все перечисленные преимущества</a:t>
            </a:r>
            <a:r>
              <a:rPr b="0" lang="en-US" sz="1400" spc="-1" strike="noStrike">
                <a:solidFill>
                  <a:srgbClr val="000000"/>
                </a:solidFill>
                <a:latin typeface="Calibri"/>
              </a:rPr>
              <a:t> </a:t>
            </a:r>
            <a:r>
              <a:rPr b="0" lang="ru-RU" sz="1400" spc="-1" strike="noStrike">
                <a:solidFill>
                  <a:srgbClr val="000000"/>
                </a:solidFill>
                <a:latin typeface="Calibri"/>
              </a:rPr>
              <a:t>официально доступны только для оборудования Intel. </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Модуль инференса имеет ограничения по типам слоёв в моделях и может не поддерживать часть из них для отдельных видов вычислителей. </a:t>
            </a:r>
            <a:endParaRPr b="0" lang="en-US" sz="1400" spc="-1" strike="noStrike">
              <a:latin typeface="Arial"/>
            </a:endParaRPr>
          </a:p>
        </p:txBody>
      </p:sp>
      <p:pic>
        <p:nvPicPr>
          <p:cNvPr id="90" name="Picture 6" descr="Проекты Центра разработки Intel в России. OpenVINO Toolkit / Хабр"/>
          <p:cNvPicPr/>
          <p:nvPr/>
        </p:nvPicPr>
        <p:blipFill>
          <a:blip r:embed="rId1"/>
          <a:stretch/>
        </p:blipFill>
        <p:spPr>
          <a:xfrm>
            <a:off x="398520" y="444600"/>
            <a:ext cx="1935000" cy="393840"/>
          </a:xfrm>
          <a:prstGeom prst="rect">
            <a:avLst/>
          </a:prstGeom>
          <a:ln w="0">
            <a:noFill/>
          </a:ln>
        </p:spPr>
      </p:pic>
      <p:sp>
        <p:nvSpPr>
          <p:cNvPr id="91" name="TextBox 9"/>
          <p:cNvSpPr/>
          <p:nvPr/>
        </p:nvSpPr>
        <p:spPr>
          <a:xfrm>
            <a:off x="2107080" y="344160"/>
            <a:ext cx="4571640" cy="302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ru-RU" sz="1400" spc="-1" strike="noStrike">
                <a:solidFill>
                  <a:srgbClr val="000000"/>
                </a:solidFill>
                <a:latin typeface="Calibri"/>
              </a:rPr>
              <a:t>Аппаратная платформа </a:t>
            </a:r>
            <a:r>
              <a:rPr b="1" lang="en-US" sz="1400" spc="-1" strike="noStrike">
                <a:solidFill>
                  <a:srgbClr val="000000"/>
                </a:solidFill>
                <a:latin typeface="Calibri"/>
              </a:rPr>
              <a:t>Intel</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Прямоугольник 6"/>
          <p:cNvSpPr/>
          <p:nvPr/>
        </p:nvSpPr>
        <p:spPr>
          <a:xfrm>
            <a:off x="274320" y="756000"/>
            <a:ext cx="8595000" cy="179460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pPr>
            <a:r>
              <a:rPr b="1" lang="ru-RU" sz="1400" spc="-1" strike="noStrike">
                <a:solidFill>
                  <a:srgbClr val="000000"/>
                </a:solidFill>
                <a:latin typeface="Calibri"/>
              </a:rPr>
              <a:t>Инференс-фреймворк </a:t>
            </a:r>
            <a:r>
              <a:rPr b="1" lang="en-US" sz="1400" spc="-1" strike="noStrike">
                <a:solidFill>
                  <a:srgbClr val="000000"/>
                </a:solidFill>
                <a:latin typeface="Calibri"/>
              </a:rPr>
              <a:t>TensorRT </a:t>
            </a:r>
            <a:endParaRPr b="0" lang="en-US" sz="1400" spc="-1" strike="noStrike">
              <a:latin typeface="Arial"/>
            </a:endParaRPr>
          </a:p>
          <a:p>
            <a:pPr algn="just">
              <a:lnSpc>
                <a:spcPct val="100000"/>
              </a:lnSpc>
              <a:buNone/>
            </a:pPr>
            <a:r>
              <a:rPr b="0" lang="ru-RU" sz="1400" spc="-1" strike="noStrike">
                <a:solidFill>
                  <a:srgbClr val="000000"/>
                </a:solidFill>
                <a:latin typeface="Calibri"/>
              </a:rPr>
              <a:t>TensorRT — высокопроизводительный инструмент, разработанный инженерами Nvidia специально для инференса. Это — построенная на CUDA модель параллельного программирования, позволяющая оптимизировать вычисления линейной алгебры при помощи технологий CUDA-X. С помощью TensorRT разработчики могут оптимизировать и запускать приложения в том числе в области искусственного интеллекта для умной видеоаналитики, рекомендательных систем, обнаружения мошенничества, автономных систем.</a:t>
            </a:r>
            <a:endParaRPr b="0" lang="en-US" sz="1400" spc="-1" strike="noStrike">
              <a:latin typeface="Arial"/>
            </a:endParaRPr>
          </a:p>
        </p:txBody>
      </p:sp>
      <p:sp>
        <p:nvSpPr>
          <p:cNvPr id="93" name="Прямоугольник 3"/>
          <p:cNvSpPr/>
          <p:nvPr/>
        </p:nvSpPr>
        <p:spPr>
          <a:xfrm>
            <a:off x="274320" y="2250360"/>
            <a:ext cx="5476680" cy="28602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400" spc="-1" strike="noStrike">
                <a:solidFill>
                  <a:srgbClr val="000000"/>
                </a:solidFill>
                <a:latin typeface="Calibri"/>
              </a:rPr>
              <a:t>Достоинства:</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Ускорение достигается за счет объединения вычислений нескольких операций в одну (layer fusion) без промежуточных вычислений. </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Большое количество открытых для реализации многих популярных алгоритмов обнаружения, сегментации, обработки естественного языка. </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Поддержка режимов оптимизации INT8 и FLOAT16. </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Популярность среди исследователей, большое сообщество, поддержка со стороны специалистов Nvidia, понятная документация. </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Совместимость с другими инструментами от Nvidia (cuBLAS, cuDNN, NPP, CUDA и др.).</a:t>
            </a:r>
            <a:endParaRPr b="0" lang="en-US" sz="1400" spc="-1" strike="noStrike">
              <a:latin typeface="Arial"/>
            </a:endParaRPr>
          </a:p>
        </p:txBody>
      </p:sp>
      <p:sp>
        <p:nvSpPr>
          <p:cNvPr id="94" name="Прямоугольник 4"/>
          <p:cNvSpPr/>
          <p:nvPr/>
        </p:nvSpPr>
        <p:spPr>
          <a:xfrm>
            <a:off x="5625720" y="2250360"/>
            <a:ext cx="3243600" cy="17946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400" spc="-1" strike="noStrike">
                <a:solidFill>
                  <a:srgbClr val="000000"/>
                </a:solidFill>
                <a:latin typeface="Calibri"/>
              </a:rPr>
              <a:t>Недостатки:</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Возможно использовать исключительно для работы с видеокартами Nvidia. </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Значительное отличие скорости работы в зависимости от архитектуры видеокарты.</a:t>
            </a:r>
            <a:endParaRPr b="0" lang="en-US" sz="1400" spc="-1" strike="noStrike">
              <a:latin typeface="Arial"/>
            </a:endParaRPr>
          </a:p>
        </p:txBody>
      </p:sp>
      <p:sp>
        <p:nvSpPr>
          <p:cNvPr id="95" name="TextBox 9"/>
          <p:cNvSpPr/>
          <p:nvPr/>
        </p:nvSpPr>
        <p:spPr>
          <a:xfrm>
            <a:off x="2107080" y="133920"/>
            <a:ext cx="4571640" cy="302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ru-RU" sz="1400" spc="-1" strike="noStrike">
                <a:solidFill>
                  <a:srgbClr val="000000"/>
                </a:solidFill>
                <a:latin typeface="Calibri"/>
              </a:rPr>
              <a:t>Аппаратная платформа </a:t>
            </a:r>
            <a:r>
              <a:rPr b="1" lang="en-US" sz="1400" spc="-1" strike="noStrike">
                <a:solidFill>
                  <a:srgbClr val="000000"/>
                </a:solidFill>
                <a:latin typeface="Calibri"/>
              </a:rPr>
              <a:t>NVidia</a:t>
            </a:r>
            <a:endParaRPr b="0" lang="en-US" sz="1400" spc="-1" strike="noStrike">
              <a:latin typeface="Arial"/>
            </a:endParaRPr>
          </a:p>
        </p:txBody>
      </p:sp>
      <p:pic>
        <p:nvPicPr>
          <p:cNvPr id="96" name="Picture 4" descr="How to Speed Up Deep Learning Inference Using TensorRT | NVIDIA Developer  Blog"/>
          <p:cNvPicPr/>
          <p:nvPr/>
        </p:nvPicPr>
        <p:blipFill>
          <a:blip r:embed="rId1"/>
          <a:stretch/>
        </p:blipFill>
        <p:spPr>
          <a:xfrm>
            <a:off x="274320" y="-85320"/>
            <a:ext cx="1689120" cy="105372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Прямоугольник 6"/>
          <p:cNvSpPr/>
          <p:nvPr/>
        </p:nvSpPr>
        <p:spPr>
          <a:xfrm>
            <a:off x="274320" y="838800"/>
            <a:ext cx="8595000" cy="13683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pPr>
            <a:r>
              <a:rPr b="1" lang="ru-RU" sz="1400" spc="-1" strike="noStrike">
                <a:solidFill>
                  <a:srgbClr val="000000"/>
                </a:solidFill>
                <a:latin typeface="Calibri"/>
              </a:rPr>
              <a:t>Инференс-фреймворк </a:t>
            </a:r>
            <a:r>
              <a:rPr b="1" lang="en-US" sz="1400" spc="-1" strike="noStrike">
                <a:solidFill>
                  <a:srgbClr val="000000"/>
                </a:solidFill>
                <a:latin typeface="Calibri"/>
              </a:rPr>
              <a:t>Mace (XiaoMi)</a:t>
            </a:r>
            <a:endParaRPr b="0" lang="en-US" sz="1400" spc="-1" strike="noStrike">
              <a:latin typeface="Arial"/>
            </a:endParaRPr>
          </a:p>
          <a:p>
            <a:pPr algn="just">
              <a:lnSpc>
                <a:spcPct val="100000"/>
              </a:lnSpc>
              <a:buNone/>
            </a:pPr>
            <a:r>
              <a:rPr b="0" lang="ru-RU" sz="1400" spc="-1" strike="noStrike">
                <a:solidFill>
                  <a:srgbClr val="000000"/>
                </a:solidFill>
                <a:latin typeface="Calibri"/>
              </a:rPr>
              <a:t>MACE (Mobile AI Compute Engine) — это фреймворк для инференса глубоких нейронных сетей, оптимизированный для мобильных гетерогенных вычислительных платформ. MACE предоставляет инструменты и документацию, которые помогают пользователям развертывать модели глубокого обучения на мобильных телефонах, планшетах, персональных компьютерах и устройствах IoT.</a:t>
            </a:r>
            <a:endParaRPr b="0" lang="en-US" sz="1400" spc="-1" strike="noStrike">
              <a:latin typeface="Arial"/>
            </a:endParaRPr>
          </a:p>
        </p:txBody>
      </p:sp>
      <p:sp>
        <p:nvSpPr>
          <p:cNvPr id="98" name="Прямоугольник 3"/>
          <p:cNvSpPr/>
          <p:nvPr/>
        </p:nvSpPr>
        <p:spPr>
          <a:xfrm>
            <a:off x="274320" y="2066760"/>
            <a:ext cx="4118400" cy="729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400" spc="-1" strike="noStrike">
                <a:solidFill>
                  <a:srgbClr val="000000"/>
                </a:solidFill>
                <a:latin typeface="Calibri"/>
              </a:rPr>
              <a:t>Достоинства:</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Относительно неплохая</a:t>
            </a:r>
            <a:r>
              <a:rPr b="0" lang="en-US" sz="1400" spc="-1" strike="noStrike">
                <a:solidFill>
                  <a:srgbClr val="000000"/>
                </a:solidFill>
                <a:latin typeface="Calibri"/>
              </a:rPr>
              <a:t> </a:t>
            </a:r>
            <a:r>
              <a:rPr b="0" lang="ru-RU" sz="1400" spc="-1" strike="noStrike">
                <a:solidFill>
                  <a:srgbClr val="000000"/>
                </a:solidFill>
                <a:latin typeface="Calibri"/>
              </a:rPr>
              <a:t>производительность.</a:t>
            </a:r>
            <a:endParaRPr b="0" lang="en-US" sz="1400" spc="-1" strike="noStrike">
              <a:latin typeface="Arial"/>
            </a:endParaRPr>
          </a:p>
        </p:txBody>
      </p:sp>
      <p:sp>
        <p:nvSpPr>
          <p:cNvPr id="99" name="Прямоугольник 4"/>
          <p:cNvSpPr/>
          <p:nvPr/>
        </p:nvSpPr>
        <p:spPr>
          <a:xfrm>
            <a:off x="4750920" y="2148480"/>
            <a:ext cx="4118400" cy="34995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400" spc="-1" strike="noStrike">
                <a:solidFill>
                  <a:srgbClr val="000000"/>
                </a:solidFill>
                <a:latin typeface="Calibri"/>
              </a:rPr>
              <a:t>Недостатки:</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Неудобная конвертация в IR (Intermediate Representation file — промежуточный формат представления сети) с помощью .yml файлов. </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Не такая полная поддержка слоев ONNX (Pytorch), как для TensorFlow. </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Для большого количества архитектур требуется править реализации слоёв. </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Оптимизация сети только на этапе конвертации в IR, в рантайме меняется только backend, кол-во потоков исполнения и режим энергосбережения (большие-маленькие ядра).</a:t>
            </a:r>
            <a:r>
              <a:rPr b="0" lang="en-US" sz="1400" spc="-1" strike="noStrike">
                <a:solidFill>
                  <a:srgbClr val="000000"/>
                </a:solidFill>
                <a:latin typeface="Calibri"/>
              </a:rPr>
              <a:t>`</a:t>
            </a:r>
            <a:endParaRPr b="0" lang="en-US" sz="1400" spc="-1" strike="noStrike">
              <a:latin typeface="Arial"/>
            </a:endParaRPr>
          </a:p>
        </p:txBody>
      </p:sp>
      <p:sp>
        <p:nvSpPr>
          <p:cNvPr id="100" name="TextBox 9"/>
          <p:cNvSpPr/>
          <p:nvPr/>
        </p:nvSpPr>
        <p:spPr>
          <a:xfrm>
            <a:off x="2107080" y="133920"/>
            <a:ext cx="4571640" cy="302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ru-RU" sz="1400" spc="-1" strike="noStrike">
                <a:solidFill>
                  <a:srgbClr val="000000"/>
                </a:solidFill>
                <a:latin typeface="Calibri"/>
              </a:rPr>
              <a:t>Аппаратная платформа </a:t>
            </a:r>
            <a:r>
              <a:rPr b="1" lang="en-US" sz="1400" spc="-1" strike="noStrike">
                <a:solidFill>
                  <a:srgbClr val="000000"/>
                </a:solidFill>
                <a:latin typeface="Calibri"/>
              </a:rPr>
              <a:t>ARM</a:t>
            </a:r>
            <a:endParaRPr b="0" lang="en-US" sz="1400" spc="-1" strike="noStrike">
              <a:latin typeface="Arial"/>
            </a:endParaRPr>
          </a:p>
        </p:txBody>
      </p:sp>
      <p:pic>
        <p:nvPicPr>
          <p:cNvPr id="101" name="Picture 2" descr="XiaoMi/mace - Giters"/>
          <p:cNvPicPr/>
          <p:nvPr/>
        </p:nvPicPr>
        <p:blipFill>
          <a:blip r:embed="rId1"/>
          <a:stretch/>
        </p:blipFill>
        <p:spPr>
          <a:xfrm>
            <a:off x="401040" y="134280"/>
            <a:ext cx="1932120" cy="70416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Прямоугольник 6"/>
          <p:cNvSpPr/>
          <p:nvPr/>
        </p:nvSpPr>
        <p:spPr>
          <a:xfrm>
            <a:off x="274320" y="971280"/>
            <a:ext cx="8595000" cy="200772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pPr>
            <a:r>
              <a:rPr b="1" lang="ru-RU" sz="1400" spc="-1" strike="noStrike">
                <a:solidFill>
                  <a:srgbClr val="000000"/>
                </a:solidFill>
                <a:latin typeface="Calibri"/>
              </a:rPr>
              <a:t>Инференс-фреймворк </a:t>
            </a:r>
            <a:r>
              <a:rPr b="1" lang="en-US" sz="1400" spc="-1" strike="noStrike">
                <a:solidFill>
                  <a:srgbClr val="000000"/>
                </a:solidFill>
                <a:latin typeface="Calibri"/>
              </a:rPr>
              <a:t>Ncnn (Tencent) </a:t>
            </a:r>
            <a:endParaRPr b="0" lang="en-US" sz="1400" spc="-1" strike="noStrike">
              <a:latin typeface="Arial"/>
            </a:endParaRPr>
          </a:p>
          <a:p>
            <a:pPr algn="just">
              <a:lnSpc>
                <a:spcPct val="100000"/>
              </a:lnSpc>
              <a:buNone/>
            </a:pPr>
            <a:r>
              <a:rPr b="0" lang="ru-RU" sz="1400" spc="-1" strike="noStrike">
                <a:solidFill>
                  <a:srgbClr val="000000"/>
                </a:solidFill>
                <a:latin typeface="Calibri"/>
              </a:rPr>
              <a:t>NCNN — это фреймворк для инференса глубоких нейронных сетей, оптимизированный для мобильных платформ. NCNN не имеет сторонних зависимостей, он кроссплатформенный и работает быстрее, чем все известные платформы с открытым исходным кодом на процессорах мобильных телефонов. На основе NCNN разработчики могут легко переносить алгоритмы глубоких нейронных сетей на мобильные телефоны для эффективного выполнения, разрабатывать приложения с искусственным интеллектом. NCNN в настоящее время используется во многих приложениях Tencent, таких как QQ, Qzone, WeChat, Pitu и так далее.</a:t>
            </a:r>
            <a:endParaRPr b="0" lang="en-US" sz="1400" spc="-1" strike="noStrike">
              <a:latin typeface="Arial"/>
            </a:endParaRPr>
          </a:p>
        </p:txBody>
      </p:sp>
      <p:sp>
        <p:nvSpPr>
          <p:cNvPr id="103" name="Прямоугольник 3"/>
          <p:cNvSpPr/>
          <p:nvPr/>
        </p:nvSpPr>
        <p:spPr>
          <a:xfrm>
            <a:off x="274320" y="2571840"/>
            <a:ext cx="4118400" cy="30733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400" spc="-1" strike="noStrike">
                <a:solidFill>
                  <a:srgbClr val="000000"/>
                </a:solidFill>
                <a:latin typeface="Calibri"/>
              </a:rPr>
              <a:t>Достоинства:</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Работает практически на всех возможных связках OS (Linux/Windows/MacOS/Android/ IOS) + CPU (ARM/MIPS/RISC-V/x86) + GPU. </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Удобная сборка и конвертация графа сети в IR. Полностью «работает из коробки». </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Много примеров проектов для Android. </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Гибкая оптимизация сети на этапе загрузки сети в рантайме, настройка скорости инференса к потреблению оперативной памяти</a:t>
            </a:r>
            <a:endParaRPr b="0" lang="en-US" sz="1400" spc="-1" strike="noStrike">
              <a:latin typeface="Arial"/>
            </a:endParaRPr>
          </a:p>
        </p:txBody>
      </p:sp>
      <p:sp>
        <p:nvSpPr>
          <p:cNvPr id="104" name="Прямоугольник 4"/>
          <p:cNvSpPr/>
          <p:nvPr/>
        </p:nvSpPr>
        <p:spPr>
          <a:xfrm>
            <a:off x="4750920" y="2571840"/>
            <a:ext cx="4118400" cy="729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400" spc="-1" strike="noStrike">
                <a:solidFill>
                  <a:srgbClr val="000000"/>
                </a:solidFill>
                <a:latin typeface="Calibri"/>
              </a:rPr>
              <a:t>Недостатки:</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Для GPU используется только Vulkan API, не все чипы его поддерживают. </a:t>
            </a:r>
            <a:endParaRPr b="0" lang="en-US" sz="1400" spc="-1" strike="noStrike">
              <a:latin typeface="Arial"/>
            </a:endParaRPr>
          </a:p>
        </p:txBody>
      </p:sp>
      <p:pic>
        <p:nvPicPr>
          <p:cNvPr id="105" name="Picture 2" descr="Servers | DeepDetect"/>
          <p:cNvPicPr/>
          <p:nvPr/>
        </p:nvPicPr>
        <p:blipFill>
          <a:blip r:embed="rId1"/>
          <a:stretch/>
        </p:blipFill>
        <p:spPr>
          <a:xfrm>
            <a:off x="322200" y="99360"/>
            <a:ext cx="804960" cy="1073520"/>
          </a:xfrm>
          <a:prstGeom prst="rect">
            <a:avLst/>
          </a:prstGeom>
          <a:ln w="0">
            <a:noFill/>
          </a:ln>
        </p:spPr>
      </p:pic>
      <p:sp>
        <p:nvSpPr>
          <p:cNvPr id="106" name="TextBox 5"/>
          <p:cNvSpPr/>
          <p:nvPr/>
        </p:nvSpPr>
        <p:spPr>
          <a:xfrm>
            <a:off x="2107080" y="133920"/>
            <a:ext cx="4571640" cy="302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ru-RU" sz="1400" spc="-1" strike="noStrike">
                <a:solidFill>
                  <a:srgbClr val="000000"/>
                </a:solidFill>
                <a:latin typeface="Calibri"/>
              </a:rPr>
              <a:t>Аппаратная платформа </a:t>
            </a:r>
            <a:r>
              <a:rPr b="1" lang="en-US" sz="1400" spc="-1" strike="noStrike">
                <a:solidFill>
                  <a:srgbClr val="000000"/>
                </a:solidFill>
                <a:latin typeface="Calibri"/>
              </a:rPr>
              <a:t>ARM</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Прямоугольник 6"/>
          <p:cNvSpPr/>
          <p:nvPr/>
        </p:nvSpPr>
        <p:spPr>
          <a:xfrm>
            <a:off x="274320" y="838800"/>
            <a:ext cx="8595000" cy="22208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pPr>
            <a:r>
              <a:rPr b="1" lang="ru-RU" sz="1400" spc="-1" strike="noStrike">
                <a:solidFill>
                  <a:srgbClr val="000000"/>
                </a:solidFill>
                <a:latin typeface="Calibri"/>
              </a:rPr>
              <a:t>Инференс-фреймворк </a:t>
            </a:r>
            <a:r>
              <a:rPr b="1" lang="en-US" sz="1400" spc="-1" strike="noStrike">
                <a:solidFill>
                  <a:srgbClr val="000000"/>
                </a:solidFill>
                <a:latin typeface="Calibri"/>
              </a:rPr>
              <a:t>MNN (Alibaba)</a:t>
            </a:r>
            <a:endParaRPr b="0" lang="en-US" sz="1400" spc="-1" strike="noStrike">
              <a:latin typeface="Arial"/>
            </a:endParaRPr>
          </a:p>
          <a:p>
            <a:pPr algn="just">
              <a:lnSpc>
                <a:spcPct val="100000"/>
              </a:lnSpc>
              <a:buNone/>
            </a:pPr>
            <a:r>
              <a:rPr b="0" lang="ru-RU" sz="1400" spc="-1" strike="noStrike">
                <a:solidFill>
                  <a:srgbClr val="000000"/>
                </a:solidFill>
                <a:latin typeface="Calibri"/>
              </a:rPr>
              <a:t>MNN (Mobile Neural Network) — это высокоэффективный и легкий фреймворк для инференса и глубокого обучения. Он поддерживает инференс и обучение моделей, и имеет одну из лучших в отрасли производительность для инференса и обучения на устройстве. В настоящее время MNN интегрирован в более чем 20 приложений Alibaba Inc, таких как Taobao, Tmall, Youku, Dingtalk, Xianyu и т. д., Охватывая более 70 сценариев использования, таких как прямая трансляция, захват короткого видео, рекомендации по поиску, поиск продуктов по изображению, интерактивный маркетинг, распределение капитала, контроль безопасности. Кроме того, MNN также используется на встроенных устройствах, таких как IoT.</a:t>
            </a:r>
            <a:endParaRPr b="0" lang="en-US" sz="1400" spc="-1" strike="noStrike">
              <a:latin typeface="Arial"/>
            </a:endParaRPr>
          </a:p>
        </p:txBody>
      </p:sp>
      <p:sp>
        <p:nvSpPr>
          <p:cNvPr id="108" name="Прямоугольник 3"/>
          <p:cNvSpPr/>
          <p:nvPr/>
        </p:nvSpPr>
        <p:spPr>
          <a:xfrm>
            <a:off x="274320" y="2731680"/>
            <a:ext cx="4118400" cy="26470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400" spc="-1" strike="noStrike">
                <a:solidFill>
                  <a:srgbClr val="000000"/>
                </a:solidFill>
                <a:latin typeface="Calibri"/>
              </a:rPr>
              <a:t>Достоинства:</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Удобная сборка и конвертация графа сети в IR. Полностью «работает из коробки». </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Гибкая оптимизация сети на этапе загрузки сети в рантайме, настройка скорости инференса к потреблению оперативной памяти. </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Для GPU поддерживаются несколько бэкендов: </a:t>
            </a:r>
            <a:endParaRPr b="0" lang="en-US" sz="1400" spc="-1" strike="noStrike">
              <a:latin typeface="Arial"/>
            </a:endParaRPr>
          </a:p>
          <a:p>
            <a:pPr>
              <a:lnSpc>
                <a:spcPct val="100000"/>
              </a:lnSpc>
              <a:buNone/>
            </a:pPr>
            <a:r>
              <a:rPr b="0" lang="ru-RU" sz="1400" spc="-1" strike="noStrike">
                <a:solidFill>
                  <a:srgbClr val="000000"/>
                </a:solidFill>
                <a:latin typeface="Calibri"/>
              </a:rPr>
              <a:t>      • </a:t>
            </a:r>
            <a:r>
              <a:rPr b="0" lang="ru-RU" sz="1400" spc="-1" strike="noStrike">
                <a:solidFill>
                  <a:srgbClr val="000000"/>
                </a:solidFill>
                <a:latin typeface="Calibri"/>
              </a:rPr>
              <a:t>Android: OpenCL, Vulkan и OpenGL. </a:t>
            </a:r>
            <a:endParaRPr b="0" lang="en-US" sz="1400" spc="-1" strike="noStrike">
              <a:latin typeface="Arial"/>
            </a:endParaRPr>
          </a:p>
          <a:p>
            <a:pPr>
              <a:lnSpc>
                <a:spcPct val="100000"/>
              </a:lnSpc>
              <a:buNone/>
            </a:pPr>
            <a:r>
              <a:rPr b="0" lang="ru-RU" sz="1400" spc="-1" strike="noStrike">
                <a:solidFill>
                  <a:srgbClr val="000000"/>
                </a:solidFill>
                <a:latin typeface="Calibri"/>
              </a:rPr>
              <a:t>      • </a:t>
            </a:r>
            <a:r>
              <a:rPr b="0" lang="ru-RU" sz="1400" spc="-1" strike="noStrike">
                <a:solidFill>
                  <a:srgbClr val="000000"/>
                </a:solidFill>
                <a:latin typeface="Calibri"/>
              </a:rPr>
              <a:t>IOS: Metal.</a:t>
            </a:r>
            <a:endParaRPr b="0" lang="en-US" sz="1400" spc="-1" strike="noStrike">
              <a:latin typeface="Arial"/>
            </a:endParaRPr>
          </a:p>
        </p:txBody>
      </p:sp>
      <p:sp>
        <p:nvSpPr>
          <p:cNvPr id="109" name="Прямоугольник 4"/>
          <p:cNvSpPr/>
          <p:nvPr/>
        </p:nvSpPr>
        <p:spPr>
          <a:xfrm>
            <a:off x="4750920" y="2731680"/>
            <a:ext cx="4118400" cy="7290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ru-RU" sz="1400" spc="-1" strike="noStrike">
                <a:solidFill>
                  <a:srgbClr val="000000"/>
                </a:solidFill>
                <a:latin typeface="Calibri"/>
              </a:rPr>
              <a:t>Недостатки:</a:t>
            </a:r>
            <a:endParaRPr b="0" lang="en-US" sz="1400" spc="-1" strike="noStrike">
              <a:latin typeface="Arial"/>
            </a:endParaRPr>
          </a:p>
          <a:p>
            <a:pPr marL="285840" indent="-285840">
              <a:lnSpc>
                <a:spcPct val="100000"/>
              </a:lnSpc>
              <a:buClr>
                <a:srgbClr val="000000"/>
              </a:buClr>
              <a:buFont typeface="Arial"/>
              <a:buChar char="•"/>
            </a:pPr>
            <a:r>
              <a:rPr b="0" lang="ru-RU" sz="1400" spc="-1" strike="noStrike">
                <a:solidFill>
                  <a:srgbClr val="000000"/>
                </a:solidFill>
                <a:latin typeface="Calibri"/>
              </a:rPr>
              <a:t>Англоязычная документация отстает от китайской.</a:t>
            </a:r>
            <a:endParaRPr b="0" lang="en-US" sz="1400" spc="-1" strike="noStrike">
              <a:latin typeface="Arial"/>
            </a:endParaRPr>
          </a:p>
        </p:txBody>
      </p:sp>
      <p:pic>
        <p:nvPicPr>
          <p:cNvPr id="110" name="Picture 2" descr="Mobile Neural Network Benchmark - OpenBenchmarking.org"/>
          <p:cNvPicPr/>
          <p:nvPr/>
        </p:nvPicPr>
        <p:blipFill>
          <a:blip r:embed="rId1"/>
          <a:stretch/>
        </p:blipFill>
        <p:spPr>
          <a:xfrm>
            <a:off x="382680" y="123480"/>
            <a:ext cx="2206080" cy="676440"/>
          </a:xfrm>
          <a:prstGeom prst="rect">
            <a:avLst/>
          </a:prstGeom>
          <a:ln w="0">
            <a:noFill/>
          </a:ln>
        </p:spPr>
      </p:pic>
      <p:sp>
        <p:nvSpPr>
          <p:cNvPr id="111" name="TextBox 5"/>
          <p:cNvSpPr/>
          <p:nvPr/>
        </p:nvSpPr>
        <p:spPr>
          <a:xfrm>
            <a:off x="2107080" y="133920"/>
            <a:ext cx="4571640" cy="3027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buNone/>
            </a:pPr>
            <a:r>
              <a:rPr b="1" lang="ru-RU" sz="1400" spc="-1" strike="noStrike">
                <a:solidFill>
                  <a:srgbClr val="000000"/>
                </a:solidFill>
                <a:latin typeface="Calibri"/>
              </a:rPr>
              <a:t>Аппаратная платформа </a:t>
            </a:r>
            <a:r>
              <a:rPr b="1" lang="en-US" sz="1400" spc="-1" strike="noStrike">
                <a:solidFill>
                  <a:srgbClr val="000000"/>
                </a:solidFill>
                <a:latin typeface="Calibri"/>
              </a:rPr>
              <a:t>ARM</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22595</TotalTime>
  <Application>LibreOffice/7.3.7.2$Linux_X86_64 LibreOffice_project/30$Build-2</Application>
  <AppVersion>15.0000</AppVersion>
  <Words>2993</Words>
  <Paragraphs>402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2020-01-07T01:07:54Z</dcterms:created>
  <dc:creator>Khanzhin-ARM</dc:creator>
  <dc:description/>
  <dc:language>en-US</dc:language>
  <cp:lastModifiedBy/>
  <cp:lastPrinted>2021-04-28T09:57:23Z</cp:lastPrinted>
  <dcterms:modified xsi:type="dcterms:W3CDTF">2026-01-06T22:59:26Z</dcterms:modified>
  <cp:revision>1248</cp:revision>
  <dc:subject/>
  <dc:title>Презентация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8</vt:i4>
  </property>
  <property fmtid="{D5CDD505-2E9C-101B-9397-08002B2CF9AE}" pid="3" name="PresentationFormat">
    <vt:lpwstr>Экран (16:9)</vt:lpwstr>
  </property>
  <property fmtid="{D5CDD505-2E9C-101B-9397-08002B2CF9AE}" pid="4" name="Slides">
    <vt:i4>26</vt:i4>
  </property>
</Properties>
</file>